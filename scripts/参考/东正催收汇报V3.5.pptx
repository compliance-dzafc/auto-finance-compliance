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315" r:id="rId3"/>
    <p:sldId id="257" r:id="rId4"/>
    <p:sldId id="308" r:id="rId5"/>
    <p:sldId id="314" r:id="rId6"/>
    <p:sldId id="292" r:id="rId7"/>
    <p:sldId id="279" r:id="rId8"/>
    <p:sldId id="294" r:id="rId9"/>
    <p:sldId id="307" r:id="rId10"/>
    <p:sldId id="309" r:id="rId11"/>
    <p:sldId id="320" r:id="rId12"/>
    <p:sldId id="317" r:id="rId13"/>
    <p:sldId id="318" r:id="rId14"/>
    <p:sldId id="319" r:id="rId15"/>
    <p:sldId id="264" r:id="rId16"/>
  </p:sldIdLst>
  <p:sldSz cx="12192000" cy="6858000"/>
  <p:notesSz cx="9947275" cy="6858000"/>
  <p:defaultTextStyle>
    <a:lvl1pPr marL="0" lvl="0" indent="0" algn="l" defTabSz="914400">
      <a:lnSpc>
        <a:spcPct val="100000"/>
      </a:lnSpc>
      <a:spcBef>
        <a:spcPct val="0"/>
      </a:spcBef>
      <a:spcAft>
        <a:spcPct val="0"/>
      </a:spcAft>
      <a:buNone/>
      <a:defRPr sz="1800" b="0" i="0" u="none" baseline="0">
        <a:solidFill>
          <a:srgbClr val="000000"/>
        </a:solidFill>
        <a:latin typeface="Arial"/>
        <a:ea typeface="Arial"/>
      </a:defRPr>
    </a:lvl1pPr>
    <a:lvl2pPr marL="457200" lvl="1" indent="0" algn="l" defTabSz="914400">
      <a:lnSpc>
        <a:spcPct val="100000"/>
      </a:lnSpc>
      <a:spcBef>
        <a:spcPct val="0"/>
      </a:spcBef>
      <a:spcAft>
        <a:spcPct val="0"/>
      </a:spcAft>
      <a:buNone/>
      <a:defRPr sz="1800" b="0" i="0" u="none" baseline="0">
        <a:solidFill>
          <a:srgbClr val="000000"/>
        </a:solidFill>
        <a:latin typeface="Arial"/>
        <a:ea typeface="Arial"/>
      </a:defRPr>
    </a:lvl2pPr>
    <a:lvl3pPr marL="914400" lvl="2" indent="0" algn="l" defTabSz="914400">
      <a:lnSpc>
        <a:spcPct val="100000"/>
      </a:lnSpc>
      <a:spcBef>
        <a:spcPct val="0"/>
      </a:spcBef>
      <a:spcAft>
        <a:spcPct val="0"/>
      </a:spcAft>
      <a:buNone/>
      <a:defRPr sz="1800" b="0" i="0" u="none" baseline="0">
        <a:solidFill>
          <a:srgbClr val="000000"/>
        </a:solidFill>
        <a:latin typeface="Arial"/>
        <a:ea typeface="Arial"/>
      </a:defRPr>
    </a:lvl3pPr>
    <a:lvl4pPr marL="1371600" lvl="3" indent="0" algn="l" defTabSz="914400">
      <a:lnSpc>
        <a:spcPct val="100000"/>
      </a:lnSpc>
      <a:spcBef>
        <a:spcPct val="0"/>
      </a:spcBef>
      <a:spcAft>
        <a:spcPct val="0"/>
      </a:spcAft>
      <a:buNone/>
      <a:defRPr sz="1800" b="0" i="0" u="none" baseline="0">
        <a:solidFill>
          <a:srgbClr val="000000"/>
        </a:solidFill>
        <a:latin typeface="Arial"/>
        <a:ea typeface="Arial"/>
      </a:defRPr>
    </a:lvl4pPr>
    <a:lvl5pPr marL="1828800" lvl="4" indent="0" algn="l" defTabSz="914400">
      <a:lnSpc>
        <a:spcPct val="100000"/>
      </a:lnSpc>
      <a:spcBef>
        <a:spcPct val="0"/>
      </a:spcBef>
      <a:spcAft>
        <a:spcPct val="0"/>
      </a:spcAft>
      <a:buNone/>
      <a:defRPr sz="1800" b="0" i="0" u="none" baseline="0">
        <a:solidFill>
          <a:srgbClr val="000000"/>
        </a:solidFill>
        <a:latin typeface="Arial"/>
        <a:ea typeface="Arial"/>
      </a:defRPr>
    </a:lvl5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C2A7F"/>
    <a:srgbClr val="C15820"/>
    <a:srgbClr val="FFCD1C"/>
    <a:srgbClr val="ED7D31"/>
    <a:srgbClr val="E3D7EA"/>
    <a:srgbClr val="6931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35"/>
    <p:restoredTop sz="94722"/>
  </p:normalViewPr>
  <p:slideViewPr>
    <p:cSldViewPr snapToGrid="0">
      <p:cViewPr>
        <p:scale>
          <a:sx n="93" d="100"/>
          <a:sy n="93" d="100"/>
        </p:scale>
        <p:origin x="1264" y="6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peng/Library/Containers/com.tencent.WeWorkMac/Data/Documents/Profiles/F4287D0C9466E7013E648BA408534380/Caches/Files/2026-06/0512baa8f4e1c662d26482e15bf94a3c/&#9314;&#19981;&#33391;&#29575;&#36880;&#26376;&#23545;&#27604;%20(16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1264313148301995E-2"/>
          <c:y val="0.19809296077153599"/>
          <c:w val="0.90349447103639291"/>
          <c:h val="0.61676774752052799"/>
        </c:manualLayout>
      </c:layout>
      <c:lineChart>
        <c:grouping val="standard"/>
        <c:varyColors val="0"/>
        <c:ser>
          <c:idx val="0"/>
          <c:order val="0"/>
          <c:tx>
            <c:strRef>
              <c:f>Sheet1!$J$1</c:f>
              <c:strCache>
                <c:ptCount val="1"/>
                <c:pt idx="0">
                  <c:v>不良率</c:v>
                </c:pt>
              </c:strCache>
            </c:strRef>
          </c:tx>
          <c:spPr>
            <a:ln w="60325" cap="rnd">
              <a:solidFill>
                <a:srgbClr val="7030A0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rgbClr val="5C2A7F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Sheet1!$I$2:$I$31</c:f>
              <c:strCache>
                <c:ptCount val="30"/>
                <c:pt idx="0">
                  <c:v>2023-12</c:v>
                </c:pt>
                <c:pt idx="1">
                  <c:v>2024-01</c:v>
                </c:pt>
                <c:pt idx="2">
                  <c:v>2024-02</c:v>
                </c:pt>
                <c:pt idx="3">
                  <c:v>2024-03</c:v>
                </c:pt>
                <c:pt idx="4">
                  <c:v>2024-04</c:v>
                </c:pt>
                <c:pt idx="5">
                  <c:v>2024-05</c:v>
                </c:pt>
                <c:pt idx="6">
                  <c:v>2024-06</c:v>
                </c:pt>
                <c:pt idx="7">
                  <c:v>2024-07</c:v>
                </c:pt>
                <c:pt idx="8">
                  <c:v>2024-08</c:v>
                </c:pt>
                <c:pt idx="9">
                  <c:v>2024-09</c:v>
                </c:pt>
                <c:pt idx="10">
                  <c:v>2024-10</c:v>
                </c:pt>
                <c:pt idx="11">
                  <c:v>2024-11</c:v>
                </c:pt>
                <c:pt idx="12">
                  <c:v>2024-12</c:v>
                </c:pt>
                <c:pt idx="13">
                  <c:v>2025-01</c:v>
                </c:pt>
                <c:pt idx="14">
                  <c:v>2025-02</c:v>
                </c:pt>
                <c:pt idx="15">
                  <c:v>2025-03</c:v>
                </c:pt>
                <c:pt idx="16">
                  <c:v>2025-04</c:v>
                </c:pt>
                <c:pt idx="17">
                  <c:v>2025-05</c:v>
                </c:pt>
                <c:pt idx="18">
                  <c:v>2025-06</c:v>
                </c:pt>
                <c:pt idx="19">
                  <c:v>2025-07</c:v>
                </c:pt>
                <c:pt idx="20">
                  <c:v>2025-08</c:v>
                </c:pt>
                <c:pt idx="21">
                  <c:v>2025-09</c:v>
                </c:pt>
                <c:pt idx="22">
                  <c:v>2025-10</c:v>
                </c:pt>
                <c:pt idx="23">
                  <c:v>2025-11</c:v>
                </c:pt>
                <c:pt idx="24">
                  <c:v>2025-12</c:v>
                </c:pt>
                <c:pt idx="25">
                  <c:v>2026-01</c:v>
                </c:pt>
                <c:pt idx="26">
                  <c:v>2026-02</c:v>
                </c:pt>
                <c:pt idx="27">
                  <c:v>2026-03</c:v>
                </c:pt>
                <c:pt idx="28">
                  <c:v>2026-04</c:v>
                </c:pt>
                <c:pt idx="29">
                  <c:v>2026-05</c:v>
                </c:pt>
              </c:strCache>
            </c:strRef>
          </c:cat>
          <c:val>
            <c:numRef>
              <c:f>Sheet1!$J$2:$J$31</c:f>
              <c:numCache>
                <c:formatCode>###,###,###,###,###,##0.00%</c:formatCode>
                <c:ptCount val="30"/>
                <c:pt idx="0">
                  <c:v>5.5304245407459401E-3</c:v>
                </c:pt>
                <c:pt idx="1">
                  <c:v>5.7507875826901403E-3</c:v>
                </c:pt>
                <c:pt idx="2">
                  <c:v>6.7229839626116103E-3</c:v>
                </c:pt>
                <c:pt idx="3">
                  <c:v>7.5337935090009902E-3</c:v>
                </c:pt>
                <c:pt idx="4">
                  <c:v>7.3724036776019004E-3</c:v>
                </c:pt>
                <c:pt idx="5">
                  <c:v>7.6840641402406802E-3</c:v>
                </c:pt>
                <c:pt idx="6">
                  <c:v>8.2761570162982103E-3</c:v>
                </c:pt>
                <c:pt idx="7">
                  <c:v>9.1904251610320595E-3</c:v>
                </c:pt>
                <c:pt idx="8">
                  <c:v>9.4240886773802896E-3</c:v>
                </c:pt>
                <c:pt idx="9">
                  <c:v>9.6761212877080598E-3</c:v>
                </c:pt>
                <c:pt idx="10">
                  <c:v>1.07293883586749E-2</c:v>
                </c:pt>
                <c:pt idx="11">
                  <c:v>1.09473629504033E-2</c:v>
                </c:pt>
                <c:pt idx="12">
                  <c:v>1.16603685825547E-2</c:v>
                </c:pt>
                <c:pt idx="13">
                  <c:v>1.39470096660199E-2</c:v>
                </c:pt>
                <c:pt idx="14">
                  <c:v>1.5247938928866301E-2</c:v>
                </c:pt>
                <c:pt idx="15">
                  <c:v>1.6724847615578999E-2</c:v>
                </c:pt>
                <c:pt idx="16">
                  <c:v>1.7035099421129199E-2</c:v>
                </c:pt>
                <c:pt idx="17">
                  <c:v>1.6598797590284299E-2</c:v>
                </c:pt>
                <c:pt idx="18">
                  <c:v>1.25806544193744E-2</c:v>
                </c:pt>
                <c:pt idx="19">
                  <c:v>1.21103399184506E-2</c:v>
                </c:pt>
                <c:pt idx="20">
                  <c:v>1.1694957007039999E-2</c:v>
                </c:pt>
                <c:pt idx="21">
                  <c:v>1.10278075456933E-2</c:v>
                </c:pt>
                <c:pt idx="22">
                  <c:v>1.0583046856027199E-2</c:v>
                </c:pt>
                <c:pt idx="23">
                  <c:v>1.00372747107708E-2</c:v>
                </c:pt>
                <c:pt idx="24">
                  <c:v>9.2423392147357904E-3</c:v>
                </c:pt>
                <c:pt idx="25">
                  <c:v>9.1438726277785695E-3</c:v>
                </c:pt>
                <c:pt idx="26">
                  <c:v>9.1590048732144002E-3</c:v>
                </c:pt>
                <c:pt idx="27">
                  <c:v>9.0067502817206008E-3</c:v>
                </c:pt>
                <c:pt idx="28">
                  <c:v>8.9944576594535603E-3</c:v>
                </c:pt>
                <c:pt idx="29">
                  <c:v>9.0196478134289809E-3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F4ED-6F4A-B02F-69DC30E80F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43353087"/>
        <c:axId val="1342471039"/>
      </c:lineChart>
      <c:catAx>
        <c:axId val="13433530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eaVert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342471039"/>
        <c:crosses val="autoZero"/>
        <c:auto val="1"/>
        <c:lblAlgn val="ctr"/>
        <c:lblOffset val="100"/>
        <c:noMultiLvlLbl val="0"/>
      </c:catAx>
      <c:valAx>
        <c:axId val="1342471039"/>
        <c:scaling>
          <c:orientation val="minMax"/>
          <c:min val="4.000000000000001E-3"/>
        </c:scaling>
        <c:delete val="0"/>
        <c:axPos val="l"/>
        <c:numFmt formatCode="###,###,###,###,###,##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34335308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10486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34487" y="1"/>
            <a:ext cx="4310486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F13B20-8BB8-B74B-ADB5-DA5707988F1E}" type="datetimeFigureOut">
              <a:t>2026/6/9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916238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94728" y="3300412"/>
            <a:ext cx="795782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4310486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34487" y="6513910"/>
            <a:ext cx="4310486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28674F-E567-AA4B-8C16-788D7CE21C4F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14228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28674F-E567-AA4B-8C16-788D7CE21C4F}" type="slidenum">
              <a:rPr lang="en-US" altLang="zh-CN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570555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 vert="horz" wrap="square" lIns="91440" tIns="45720" rIns="91440" bIns="45720" anchor="t" anchorCtr="0"/>
          <a:lstStyle>
            <a:lvl1pPr marL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zh-CN" sz="1800" b="0" i="0" u="none" baseline="0">
                <a:solidFill>
                  <a:srgbClr val="000000"/>
                </a:solidFill>
                <a:latin typeface="Helvetica Neue"/>
                <a:ea typeface="Helvetica Neue"/>
              </a:defRPr>
            </a:lvl1pPr>
            <a:lvl2pPr marL="0" lvl="1" indent="22860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zh-CN" sz="1800" b="0" i="0" u="none" baseline="0">
                <a:solidFill>
                  <a:srgbClr val="000000"/>
                </a:solidFill>
                <a:latin typeface="Helvetica Neue"/>
                <a:ea typeface="Helvetica Neue"/>
              </a:defRPr>
            </a:lvl2pPr>
            <a:lvl3pPr marL="0" lvl="2" indent="45720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zh-CN" sz="1800" b="0" i="0" u="none" baseline="0">
                <a:solidFill>
                  <a:srgbClr val="000000"/>
                </a:solidFill>
                <a:latin typeface="Helvetica Neue"/>
                <a:ea typeface="Helvetica Neue"/>
              </a:defRPr>
            </a:lvl3pPr>
            <a:lvl4pPr marL="0" lvl="3" indent="68580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zh-CN" sz="1800" b="0" i="0" u="none" baseline="0">
                <a:solidFill>
                  <a:srgbClr val="000000"/>
                </a:solidFill>
                <a:latin typeface="Helvetica Neue"/>
                <a:ea typeface="Helvetica Neue"/>
              </a:defRPr>
            </a:lvl4pPr>
            <a:lvl5pPr marL="0" lvl="4" indent="91440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zh-CN" sz="1800" b="0" i="0" u="none" baseline="0">
                <a:solidFill>
                  <a:srgbClr val="000000"/>
                </a:solidFill>
                <a:latin typeface="Helvetica Neue"/>
                <a:ea typeface="Helvetica Neue"/>
              </a:defRPr>
            </a:lvl5pPr>
          </a:lstStyle>
          <a:p>
            <a:pPr marL="0" lvl="0" indent="0"/>
            <a:endParaRPr lang="zh-CN" dirty="0">
              <a:ea typeface="宋体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D6F1A-0E70-555C-0A86-28515FDC9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CF2971EF-41DA-BCB3-F8FF-52E220683C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wrap="square" lIns="91440" tIns="45720" rIns="91440" bIns="45720" anchor="t" anchorCtr="0"/>
          <a:lstStyle>
            <a:lvl1pPr marL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zh-CN" sz="1800" b="0" i="0" u="none" baseline="0">
                <a:solidFill>
                  <a:srgbClr val="000000"/>
                </a:solidFill>
                <a:latin typeface="Helvetica Neue"/>
                <a:ea typeface="Helvetica Neue"/>
              </a:defRPr>
            </a:lvl1pPr>
            <a:lvl2pPr marL="0" lvl="1" indent="22860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zh-CN" sz="1800" b="0" i="0" u="none" baseline="0">
                <a:solidFill>
                  <a:srgbClr val="000000"/>
                </a:solidFill>
                <a:latin typeface="Helvetica Neue"/>
                <a:ea typeface="Helvetica Neue"/>
              </a:defRPr>
            </a:lvl2pPr>
            <a:lvl3pPr marL="0" lvl="2" indent="45720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zh-CN" sz="1800" b="0" i="0" u="none" baseline="0">
                <a:solidFill>
                  <a:srgbClr val="000000"/>
                </a:solidFill>
                <a:latin typeface="Helvetica Neue"/>
                <a:ea typeface="Helvetica Neue"/>
              </a:defRPr>
            </a:lvl3pPr>
            <a:lvl4pPr marL="0" lvl="3" indent="68580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zh-CN" sz="1800" b="0" i="0" u="none" baseline="0">
                <a:solidFill>
                  <a:srgbClr val="000000"/>
                </a:solidFill>
                <a:latin typeface="Helvetica Neue"/>
                <a:ea typeface="Helvetica Neue"/>
              </a:defRPr>
            </a:lvl4pPr>
            <a:lvl5pPr marL="0" lvl="4" indent="91440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zh-CN" sz="1800" b="0" i="0" u="none" baseline="0">
                <a:solidFill>
                  <a:srgbClr val="000000"/>
                </a:solidFill>
                <a:latin typeface="Helvetica Neue"/>
                <a:ea typeface="Helvetica Neue"/>
              </a:defRPr>
            </a:lvl5pPr>
          </a:lstStyle>
          <a:p>
            <a:pPr marL="0" lvl="0" indent="0"/>
            <a:endParaRPr lang="zh-CN" dirty="0"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7660292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DEE17-7BC6-9E28-E60F-F2795320F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4ECBDD49-AC81-F995-017D-73D9712F34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wrap="square" lIns="91440" tIns="45720" rIns="91440" bIns="45720" anchor="t" anchorCtr="0"/>
          <a:lstStyle>
            <a:lvl1pPr marL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zh-CN" sz="1800" b="0" i="0" u="none" baseline="0">
                <a:solidFill>
                  <a:srgbClr val="000000"/>
                </a:solidFill>
                <a:latin typeface="Helvetica Neue"/>
                <a:ea typeface="Helvetica Neue"/>
              </a:defRPr>
            </a:lvl1pPr>
            <a:lvl2pPr marL="0" lvl="1" indent="22860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zh-CN" sz="1800" b="0" i="0" u="none" baseline="0">
                <a:solidFill>
                  <a:srgbClr val="000000"/>
                </a:solidFill>
                <a:latin typeface="Helvetica Neue"/>
                <a:ea typeface="Helvetica Neue"/>
              </a:defRPr>
            </a:lvl2pPr>
            <a:lvl3pPr marL="0" lvl="2" indent="45720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zh-CN" sz="1800" b="0" i="0" u="none" baseline="0">
                <a:solidFill>
                  <a:srgbClr val="000000"/>
                </a:solidFill>
                <a:latin typeface="Helvetica Neue"/>
                <a:ea typeface="Helvetica Neue"/>
              </a:defRPr>
            </a:lvl3pPr>
            <a:lvl4pPr marL="0" lvl="3" indent="68580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zh-CN" sz="1800" b="0" i="0" u="none" baseline="0">
                <a:solidFill>
                  <a:srgbClr val="000000"/>
                </a:solidFill>
                <a:latin typeface="Helvetica Neue"/>
                <a:ea typeface="Helvetica Neue"/>
              </a:defRPr>
            </a:lvl4pPr>
            <a:lvl5pPr marL="0" lvl="4" indent="91440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zh-CN" sz="1800" b="0" i="0" u="none" baseline="0">
                <a:solidFill>
                  <a:srgbClr val="000000"/>
                </a:solidFill>
                <a:latin typeface="Helvetica Neue"/>
                <a:ea typeface="Helvetica Neue"/>
              </a:defRPr>
            </a:lvl5pPr>
          </a:lstStyle>
          <a:p>
            <a:pPr marL="0" lvl="0" indent="0"/>
            <a:endParaRPr lang="zh-CN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910784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E885E-8586-CB43-7BA4-75F5417C0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F109DBDB-A2A3-5529-A5DE-CA6270D5A4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wrap="square" lIns="91440" tIns="45720" rIns="91440" bIns="45720" anchor="t" anchorCtr="0"/>
          <a:lstStyle>
            <a:lvl1pPr marL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zh-CN" sz="1800" b="0" i="0" u="none" baseline="0">
                <a:solidFill>
                  <a:srgbClr val="000000"/>
                </a:solidFill>
                <a:latin typeface="Helvetica Neue"/>
                <a:ea typeface="Helvetica Neue"/>
              </a:defRPr>
            </a:lvl1pPr>
            <a:lvl2pPr marL="0" lvl="1" indent="22860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zh-CN" sz="1800" b="0" i="0" u="none" baseline="0">
                <a:solidFill>
                  <a:srgbClr val="000000"/>
                </a:solidFill>
                <a:latin typeface="Helvetica Neue"/>
                <a:ea typeface="Helvetica Neue"/>
              </a:defRPr>
            </a:lvl2pPr>
            <a:lvl3pPr marL="0" lvl="2" indent="45720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zh-CN" sz="1800" b="0" i="0" u="none" baseline="0">
                <a:solidFill>
                  <a:srgbClr val="000000"/>
                </a:solidFill>
                <a:latin typeface="Helvetica Neue"/>
                <a:ea typeface="Helvetica Neue"/>
              </a:defRPr>
            </a:lvl3pPr>
            <a:lvl4pPr marL="0" lvl="3" indent="68580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zh-CN" sz="1800" b="0" i="0" u="none" baseline="0">
                <a:solidFill>
                  <a:srgbClr val="000000"/>
                </a:solidFill>
                <a:latin typeface="Helvetica Neue"/>
                <a:ea typeface="Helvetica Neue"/>
              </a:defRPr>
            </a:lvl4pPr>
            <a:lvl5pPr marL="0" lvl="4" indent="91440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zh-CN" sz="1800" b="0" i="0" u="none" baseline="0">
                <a:solidFill>
                  <a:srgbClr val="000000"/>
                </a:solidFill>
                <a:latin typeface="Helvetica Neue"/>
                <a:ea typeface="Helvetica Neue"/>
              </a:defRPr>
            </a:lvl5pPr>
          </a:lstStyle>
          <a:p>
            <a:pPr marL="0" lvl="0" indent="0"/>
            <a:endParaRPr lang="zh-CN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011054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89F90-2539-2485-A0EA-3227EADE3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FA52364C-73F1-A9BB-41F9-1CBA2663E0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wrap="square" lIns="91440" tIns="45720" rIns="91440" bIns="45720" anchor="t" anchorCtr="0"/>
          <a:lstStyle>
            <a:lvl1pPr marL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zh-CN" sz="1800" b="0" i="0" u="none" baseline="0">
                <a:solidFill>
                  <a:srgbClr val="000000"/>
                </a:solidFill>
                <a:latin typeface="Helvetica Neue"/>
                <a:ea typeface="Helvetica Neue"/>
              </a:defRPr>
            </a:lvl1pPr>
            <a:lvl2pPr marL="0" lvl="1" indent="22860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zh-CN" sz="1800" b="0" i="0" u="none" baseline="0">
                <a:solidFill>
                  <a:srgbClr val="000000"/>
                </a:solidFill>
                <a:latin typeface="Helvetica Neue"/>
                <a:ea typeface="Helvetica Neue"/>
              </a:defRPr>
            </a:lvl2pPr>
            <a:lvl3pPr marL="0" lvl="2" indent="45720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zh-CN" sz="1800" b="0" i="0" u="none" baseline="0">
                <a:solidFill>
                  <a:srgbClr val="000000"/>
                </a:solidFill>
                <a:latin typeface="Helvetica Neue"/>
                <a:ea typeface="Helvetica Neue"/>
              </a:defRPr>
            </a:lvl3pPr>
            <a:lvl4pPr marL="0" lvl="3" indent="68580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zh-CN" sz="1800" b="0" i="0" u="none" baseline="0">
                <a:solidFill>
                  <a:srgbClr val="000000"/>
                </a:solidFill>
                <a:latin typeface="Helvetica Neue"/>
                <a:ea typeface="Helvetica Neue"/>
              </a:defRPr>
            </a:lvl4pPr>
            <a:lvl5pPr marL="0" lvl="4" indent="91440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zh-CN" sz="1800" b="0" i="0" u="none" baseline="0">
                <a:solidFill>
                  <a:srgbClr val="000000"/>
                </a:solidFill>
                <a:latin typeface="Helvetica Neue"/>
                <a:ea typeface="Helvetica Neue"/>
              </a:defRPr>
            </a:lvl5pPr>
          </a:lstStyle>
          <a:p>
            <a:pPr marL="0" lvl="0" indent="0"/>
            <a:endParaRPr lang="zh-CN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889049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75420-77B2-646D-4C39-B20D2BFF6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8AC40260-60A5-4D37-6208-21C8A1EB91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wrap="square" lIns="91440" tIns="45720" rIns="91440" bIns="45720" anchor="t" anchorCtr="0"/>
          <a:lstStyle>
            <a:lvl1pPr marL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zh-CN" sz="1800" b="0" i="0" u="none" baseline="0">
                <a:solidFill>
                  <a:srgbClr val="000000"/>
                </a:solidFill>
                <a:latin typeface="Helvetica Neue"/>
                <a:ea typeface="Helvetica Neue"/>
              </a:defRPr>
            </a:lvl1pPr>
            <a:lvl2pPr marL="0" lvl="1" indent="22860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zh-CN" sz="1800" b="0" i="0" u="none" baseline="0">
                <a:solidFill>
                  <a:srgbClr val="000000"/>
                </a:solidFill>
                <a:latin typeface="Helvetica Neue"/>
                <a:ea typeface="Helvetica Neue"/>
              </a:defRPr>
            </a:lvl2pPr>
            <a:lvl3pPr marL="0" lvl="2" indent="45720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zh-CN" sz="1800" b="0" i="0" u="none" baseline="0">
                <a:solidFill>
                  <a:srgbClr val="000000"/>
                </a:solidFill>
                <a:latin typeface="Helvetica Neue"/>
                <a:ea typeface="Helvetica Neue"/>
              </a:defRPr>
            </a:lvl3pPr>
            <a:lvl4pPr marL="0" lvl="3" indent="68580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zh-CN" sz="1800" b="0" i="0" u="none" baseline="0">
                <a:solidFill>
                  <a:srgbClr val="000000"/>
                </a:solidFill>
                <a:latin typeface="Helvetica Neue"/>
                <a:ea typeface="Helvetica Neue"/>
              </a:defRPr>
            </a:lvl4pPr>
            <a:lvl5pPr marL="0" lvl="4" indent="91440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zh-CN" sz="1800" b="0" i="0" u="none" baseline="0">
                <a:solidFill>
                  <a:srgbClr val="000000"/>
                </a:solidFill>
                <a:latin typeface="Helvetica Neue"/>
                <a:ea typeface="Helvetica Neue"/>
              </a:defRPr>
            </a:lvl5pPr>
          </a:lstStyle>
          <a:p>
            <a:pPr marL="0" lvl="0" indent="0"/>
            <a:endParaRPr lang="zh-CN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754350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A94CD-12CE-EDBA-5765-953AFD0A0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454325A7-EE71-8A8E-B276-2FCF7A3684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wrap="square" lIns="91440" tIns="45720" rIns="91440" bIns="45720" anchor="t" anchorCtr="0"/>
          <a:lstStyle>
            <a:lvl1pPr marL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zh-CN" sz="1800" b="0" i="0" u="none" baseline="0">
                <a:solidFill>
                  <a:srgbClr val="000000"/>
                </a:solidFill>
                <a:latin typeface="Helvetica Neue"/>
                <a:ea typeface="Helvetica Neue"/>
              </a:defRPr>
            </a:lvl1pPr>
            <a:lvl2pPr marL="0" lvl="1" indent="22860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zh-CN" sz="1800" b="0" i="0" u="none" baseline="0">
                <a:solidFill>
                  <a:srgbClr val="000000"/>
                </a:solidFill>
                <a:latin typeface="Helvetica Neue"/>
                <a:ea typeface="Helvetica Neue"/>
              </a:defRPr>
            </a:lvl2pPr>
            <a:lvl3pPr marL="0" lvl="2" indent="45720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zh-CN" sz="1800" b="0" i="0" u="none" baseline="0">
                <a:solidFill>
                  <a:srgbClr val="000000"/>
                </a:solidFill>
                <a:latin typeface="Helvetica Neue"/>
                <a:ea typeface="Helvetica Neue"/>
              </a:defRPr>
            </a:lvl3pPr>
            <a:lvl4pPr marL="0" lvl="3" indent="68580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zh-CN" sz="1800" b="0" i="0" u="none" baseline="0">
                <a:solidFill>
                  <a:srgbClr val="000000"/>
                </a:solidFill>
                <a:latin typeface="Helvetica Neue"/>
                <a:ea typeface="Helvetica Neue"/>
              </a:defRPr>
            </a:lvl4pPr>
            <a:lvl5pPr marL="0" lvl="4" indent="91440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zh-CN" sz="1800" b="0" i="0" u="none" baseline="0">
                <a:solidFill>
                  <a:srgbClr val="000000"/>
                </a:solidFill>
                <a:latin typeface="Helvetica Neue"/>
                <a:ea typeface="Helvetica Neue"/>
              </a:defRPr>
            </a:lvl5pPr>
          </a:lstStyle>
          <a:p>
            <a:pPr marL="0" lvl="0" indent="0"/>
            <a:endParaRPr lang="zh-CN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174570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D26AC-0807-A805-5081-A7EB58BA5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69BF1FAD-C24C-9863-89EA-75A8841C5E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wrap="square" lIns="91440" tIns="45720" rIns="91440" bIns="45720" anchor="t" anchorCtr="0"/>
          <a:lstStyle>
            <a:lvl1pPr marL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zh-CN" sz="1800" b="0" i="0" u="none" baseline="0">
                <a:solidFill>
                  <a:srgbClr val="000000"/>
                </a:solidFill>
                <a:latin typeface="Helvetica Neue"/>
                <a:ea typeface="Helvetica Neue"/>
              </a:defRPr>
            </a:lvl1pPr>
            <a:lvl2pPr marL="0" lvl="1" indent="22860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zh-CN" sz="1800" b="0" i="0" u="none" baseline="0">
                <a:solidFill>
                  <a:srgbClr val="000000"/>
                </a:solidFill>
                <a:latin typeface="Helvetica Neue"/>
                <a:ea typeface="Helvetica Neue"/>
              </a:defRPr>
            </a:lvl2pPr>
            <a:lvl3pPr marL="0" lvl="2" indent="45720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zh-CN" sz="1800" b="0" i="0" u="none" baseline="0">
                <a:solidFill>
                  <a:srgbClr val="000000"/>
                </a:solidFill>
                <a:latin typeface="Helvetica Neue"/>
                <a:ea typeface="Helvetica Neue"/>
              </a:defRPr>
            </a:lvl3pPr>
            <a:lvl4pPr marL="0" lvl="3" indent="68580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zh-CN" sz="1800" b="0" i="0" u="none" baseline="0">
                <a:solidFill>
                  <a:srgbClr val="000000"/>
                </a:solidFill>
                <a:latin typeface="Helvetica Neue"/>
                <a:ea typeface="Helvetica Neue"/>
              </a:defRPr>
            </a:lvl4pPr>
            <a:lvl5pPr marL="0" lvl="4" indent="91440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zh-CN" sz="1800" b="0" i="0" u="none" baseline="0">
                <a:solidFill>
                  <a:srgbClr val="000000"/>
                </a:solidFill>
                <a:latin typeface="Helvetica Neue"/>
                <a:ea typeface="Helvetica Neue"/>
              </a:defRPr>
            </a:lvl5pPr>
          </a:lstStyle>
          <a:p>
            <a:pPr marL="0" lvl="0" indent="0"/>
            <a:endParaRPr lang="zh-CN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283163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28674F-E567-AA4B-8C16-788D7CE21C4F}" type="slidenum">
              <a:rPr lang="en-US" altLang="zh-CN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695769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6747A-8180-A43C-3597-29B104AFC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DA2FC7A-089C-AC22-04FD-0F6ADF5BF1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CA0FD35-43C7-8FDD-B025-E72B7739A1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064B8CC-F83B-6B98-F3E3-1D47D94FFD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28674F-E567-AA4B-8C16-788D7CE21C4F}" type="slidenum">
              <a:rPr lang="en-US" altLang="zh-CN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470467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76BEB-20D5-C968-6354-5F04F597D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A2DA90BC-F247-041E-305E-8E7861A64B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wrap="square" lIns="91440" tIns="45720" rIns="91440" bIns="45720" anchor="t" anchorCtr="0"/>
          <a:lstStyle>
            <a:lvl1pPr marL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zh-CN" sz="1800" b="0" i="0" u="none" baseline="0">
                <a:solidFill>
                  <a:srgbClr val="000000"/>
                </a:solidFill>
                <a:latin typeface="Helvetica Neue"/>
                <a:ea typeface="Helvetica Neue"/>
              </a:defRPr>
            </a:lvl1pPr>
            <a:lvl2pPr marL="0" lvl="1" indent="22860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zh-CN" sz="1800" b="0" i="0" u="none" baseline="0">
                <a:solidFill>
                  <a:srgbClr val="000000"/>
                </a:solidFill>
                <a:latin typeface="Helvetica Neue"/>
                <a:ea typeface="Helvetica Neue"/>
              </a:defRPr>
            </a:lvl2pPr>
            <a:lvl3pPr marL="0" lvl="2" indent="45720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zh-CN" sz="1800" b="0" i="0" u="none" baseline="0">
                <a:solidFill>
                  <a:srgbClr val="000000"/>
                </a:solidFill>
                <a:latin typeface="Helvetica Neue"/>
                <a:ea typeface="Helvetica Neue"/>
              </a:defRPr>
            </a:lvl3pPr>
            <a:lvl4pPr marL="0" lvl="3" indent="68580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zh-CN" sz="1800" b="0" i="0" u="none" baseline="0">
                <a:solidFill>
                  <a:srgbClr val="000000"/>
                </a:solidFill>
                <a:latin typeface="Helvetica Neue"/>
                <a:ea typeface="Helvetica Neue"/>
              </a:defRPr>
            </a:lvl4pPr>
            <a:lvl5pPr marL="0" lvl="4" indent="91440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zh-CN" sz="1800" b="0" i="0" u="none" baseline="0">
                <a:solidFill>
                  <a:srgbClr val="000000"/>
                </a:solidFill>
                <a:latin typeface="Helvetica Neue"/>
                <a:ea typeface="Helvetica Neue"/>
              </a:defRPr>
            </a:lvl5pPr>
          </a:lstStyle>
          <a:p>
            <a:pPr marL="0" lvl="0" indent="0"/>
            <a:endParaRPr lang="zh-CN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121157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775FD-4EBA-7CEA-A58B-31F606784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1D71CE5E-EF18-926B-6ABD-C5456F10EC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wrap="square" lIns="91440" tIns="45720" rIns="91440" bIns="45720" anchor="t" anchorCtr="0"/>
          <a:lstStyle>
            <a:lvl1pPr marL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zh-CN" sz="1800" b="0" i="0" u="none" baseline="0">
                <a:solidFill>
                  <a:srgbClr val="000000"/>
                </a:solidFill>
                <a:latin typeface="Helvetica Neue"/>
                <a:ea typeface="Helvetica Neue"/>
              </a:defRPr>
            </a:lvl1pPr>
            <a:lvl2pPr marL="0" lvl="1" indent="22860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zh-CN" sz="1800" b="0" i="0" u="none" baseline="0">
                <a:solidFill>
                  <a:srgbClr val="000000"/>
                </a:solidFill>
                <a:latin typeface="Helvetica Neue"/>
                <a:ea typeface="Helvetica Neue"/>
              </a:defRPr>
            </a:lvl2pPr>
            <a:lvl3pPr marL="0" lvl="2" indent="45720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zh-CN" sz="1800" b="0" i="0" u="none" baseline="0">
                <a:solidFill>
                  <a:srgbClr val="000000"/>
                </a:solidFill>
                <a:latin typeface="Helvetica Neue"/>
                <a:ea typeface="Helvetica Neue"/>
              </a:defRPr>
            </a:lvl3pPr>
            <a:lvl4pPr marL="0" lvl="3" indent="68580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zh-CN" sz="1800" b="0" i="0" u="none" baseline="0">
                <a:solidFill>
                  <a:srgbClr val="000000"/>
                </a:solidFill>
                <a:latin typeface="Helvetica Neue"/>
                <a:ea typeface="Helvetica Neue"/>
              </a:defRPr>
            </a:lvl4pPr>
            <a:lvl5pPr marL="0" lvl="4" indent="91440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zh-CN" sz="1800" b="0" i="0" u="none" baseline="0">
                <a:solidFill>
                  <a:srgbClr val="000000"/>
                </a:solidFill>
                <a:latin typeface="Helvetica Neue"/>
                <a:ea typeface="Helvetica Neue"/>
              </a:defRPr>
            </a:lvl5pPr>
          </a:lstStyle>
          <a:p>
            <a:pPr marL="0" lvl="0" indent="0"/>
            <a:endParaRPr lang="zh-CN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78400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lvl="0" indent="0" algn="ctr">
              <a:buNone/>
            </a:lvl1pPr>
            <a:lvl2pPr marL="457200" lvl="1" indent="0" algn="ctr">
              <a:buNone/>
            </a:lvl2pPr>
            <a:lvl3pPr marL="914400" lvl="2" indent="0" algn="ctr">
              <a:buNone/>
            </a:lvl3pPr>
            <a:lvl4pPr marL="1371600" lvl="3" indent="0" algn="ctr">
              <a:buNone/>
            </a:lvl4pPr>
            <a:lvl5pPr marL="1828800" lvl="4" indent="0" algn="ctr">
              <a:buNone/>
            </a:lvl5pPr>
            <a:lvl6pPr marL="2286000" lvl="5" indent="0" algn="ctr">
              <a:buNone/>
            </a:lvl6pPr>
            <a:lvl7pPr marL="2743200" lvl="6" indent="0" algn="ctr">
              <a:buNone/>
            </a:lvl7pPr>
            <a:lvl8pPr marL="3200400" lvl="7" indent="0" algn="ctr">
              <a:buNone/>
            </a:lvl8pPr>
            <a:lvl9pPr marL="3657600" lvl="8" indent="0" algn="ctr">
              <a:buNone/>
            </a:lvl9pPr>
          </a:lstStyle>
          <a:p>
            <a:r>
              <a:rPr lang="zh-CN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lvl="0" algn="l">
              <a:defRPr sz="4000" b="1"/>
            </a:lvl1pPr>
          </a:lstStyle>
          <a:p>
            <a:r>
              <a:rPr lang="zh-CN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lvl="0" indent="0">
              <a:buNone/>
              <a:defRPr sz="2000"/>
            </a:lvl1pPr>
            <a:lvl2pPr marL="457200" lvl="1" indent="0">
              <a:buNone/>
              <a:defRPr sz="1800"/>
            </a:lvl2pPr>
            <a:lvl3pPr marL="914400" lvl="2" indent="0">
              <a:buNone/>
              <a:defRPr sz="1600"/>
            </a:lvl3pPr>
            <a:lvl4pPr marL="1371600" lvl="3" indent="0">
              <a:buNone/>
              <a:defRPr sz="1400"/>
            </a:lvl4pPr>
            <a:lvl5pPr marL="1828800" lvl="4" indent="0">
              <a:buNone/>
              <a:defRPr sz="1400"/>
            </a:lvl5pPr>
            <a:lvl6pPr marL="2286000" lvl="5" indent="0">
              <a:buNone/>
              <a:defRPr sz="1400"/>
            </a:lvl6pPr>
            <a:lvl7pPr marL="2743200" lvl="6" indent="0">
              <a:buNone/>
              <a:defRPr sz="1400"/>
            </a:lvl7pPr>
            <a:lvl8pPr marL="3200400" lvl="7" indent="0">
              <a:buNone/>
              <a:defRPr sz="1400"/>
            </a:lvl8pPr>
            <a:lvl9pPr marL="3657600" lvl="8" indent="0">
              <a:buNone/>
              <a:defRPr sz="1400"/>
            </a:lvl9pPr>
          </a:lstStyle>
          <a:p>
            <a:pPr lvl="0"/>
            <a:r>
              <a:rPr lang="zh-CN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5410200" cy="5257800"/>
          </a:xfrm>
        </p:spPr>
        <p:txBody>
          <a:bodyPr/>
          <a:lstStyle>
            <a:lvl1pPr lvl="0">
              <a:defRPr sz="2800"/>
            </a:lvl1pPr>
            <a:lvl2pPr lvl="1">
              <a:defRPr sz="2400"/>
            </a:lvl2pPr>
            <a:lvl3pPr lvl="2">
              <a:defRPr sz="2000"/>
            </a:lvl3pPr>
            <a:lvl4pPr lvl="3">
              <a:defRPr sz="1800"/>
            </a:lvl4pPr>
            <a:lvl5pPr lvl="4">
              <a:defRPr sz="1800"/>
            </a:lvl5pPr>
            <a:lvl6pPr lvl="5">
              <a:defRPr sz="1800"/>
            </a:lvl6pPr>
            <a:lvl7pPr lvl="6">
              <a:defRPr sz="1800"/>
            </a:lvl7pPr>
            <a:lvl8pPr lvl="7">
              <a:defRPr sz="1800"/>
            </a:lvl8pPr>
            <a:lvl9pPr lvl="8">
              <a:defRPr sz="1800"/>
            </a:lvl9pPr>
          </a:lstStyle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172200" y="1600200"/>
            <a:ext cx="5410200" cy="5257800"/>
          </a:xfrm>
        </p:spPr>
        <p:txBody>
          <a:bodyPr/>
          <a:lstStyle>
            <a:lvl1pPr lvl="0">
              <a:defRPr sz="2800"/>
            </a:lvl1pPr>
            <a:lvl2pPr lvl="1">
              <a:defRPr sz="2400"/>
            </a:lvl2pPr>
            <a:lvl3pPr lvl="2">
              <a:defRPr sz="2000"/>
            </a:lvl3pPr>
            <a:lvl4pPr lvl="3">
              <a:defRPr sz="1800"/>
            </a:lvl4pPr>
            <a:lvl5pPr lvl="4">
              <a:defRPr sz="1800"/>
            </a:lvl5pPr>
            <a:lvl6pPr lvl="5">
              <a:defRPr sz="1800"/>
            </a:lvl6pPr>
            <a:lvl7pPr lvl="6">
              <a:defRPr sz="1800"/>
            </a:lvl7pPr>
            <a:lvl8pPr lvl="7">
              <a:defRPr sz="1800"/>
            </a:lvl8pPr>
            <a:lvl9pPr lvl="8">
              <a:defRPr sz="1800"/>
            </a:lvl9pPr>
          </a:lstStyle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rPr lang="zh-CN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 lvl="0">
              <a:defRPr sz="2400"/>
            </a:lvl1pPr>
            <a:lvl2pPr lvl="1">
              <a:defRPr sz="2000"/>
            </a:lvl2pPr>
            <a:lvl3pPr lvl="2">
              <a:defRPr sz="1800"/>
            </a:lvl3pPr>
            <a:lvl4pPr lvl="3">
              <a:defRPr sz="1600"/>
            </a:lvl4pPr>
            <a:lvl5pPr lvl="4">
              <a:defRPr sz="1600"/>
            </a:lvl5pPr>
            <a:lvl6pPr lvl="5">
              <a:defRPr sz="1600"/>
            </a:lvl6pPr>
            <a:lvl7pPr lvl="6">
              <a:defRPr sz="1600"/>
            </a:lvl7pPr>
            <a:lvl8pPr lvl="7">
              <a:defRPr sz="1600"/>
            </a:lvl8pPr>
            <a:lvl9pPr lvl="8">
              <a:defRPr sz="1600"/>
            </a:lvl9pPr>
          </a:lstStyle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rPr lang="zh-CN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 lvl="0">
              <a:defRPr sz="2400"/>
            </a:lvl1pPr>
            <a:lvl2pPr lvl="1">
              <a:defRPr sz="2000"/>
            </a:lvl2pPr>
            <a:lvl3pPr lvl="2">
              <a:defRPr sz="1800"/>
            </a:lvl3pPr>
            <a:lvl4pPr lvl="3">
              <a:defRPr sz="1600"/>
            </a:lvl4pPr>
            <a:lvl5pPr lvl="4">
              <a:defRPr sz="1600"/>
            </a:lvl5pPr>
            <a:lvl6pPr lvl="5">
              <a:defRPr sz="1600"/>
            </a:lvl6pPr>
            <a:lvl7pPr lvl="6">
              <a:defRPr sz="1600"/>
            </a:lvl7pPr>
            <a:lvl8pPr lvl="7">
              <a:defRPr sz="1600"/>
            </a:lvl8pPr>
            <a:lvl9pPr lvl="8">
              <a:defRPr sz="1600"/>
            </a:lvl9pPr>
          </a:lstStyle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>
            <a:extLst>
              <a:ext uri="{FF2B5EF4-FFF2-40B4-BE49-F238E27FC236}">
                <a16:creationId xmlns:a16="http://schemas.microsoft.com/office/drawing/2014/main" id="{3AE904B2-A35D-2C75-F6BC-93FC66CA3566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0" y="4389438"/>
            <a:ext cx="12192000" cy="246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642226D-64A0-1FE6-7FC8-E934B233F6F4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0" y="0"/>
            <a:ext cx="12192000" cy="5380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Line 1">
            <a:extLst>
              <a:ext uri="{FF2B5EF4-FFF2-40B4-BE49-F238E27FC236}">
                <a16:creationId xmlns:a16="http://schemas.microsoft.com/office/drawing/2014/main" id="{F2ED3DFA-77E7-0FF9-E47F-68EDE8C5F5C0}"/>
              </a:ext>
            </a:extLst>
          </p:cNvPr>
          <p:cNvCxnSpPr>
            <a:cxnSpLocks/>
          </p:cNvCxnSpPr>
          <p:nvPr userDrawn="1"/>
        </p:nvCxnSpPr>
        <p:spPr>
          <a:xfrm>
            <a:off x="-4762" y="835025"/>
            <a:ext cx="12196762" cy="0"/>
          </a:xfrm>
          <a:prstGeom prst="line">
            <a:avLst/>
          </a:prstGeom>
          <a:noFill/>
          <a:ln w="19050">
            <a:solidFill>
              <a:srgbClr val="E7A769"/>
            </a:solidFill>
            <a:miter/>
          </a:ln>
        </p:spPr>
      </p:cxnSp>
      <p:pic>
        <p:nvPicPr>
          <p:cNvPr id="6" name="Picture 4">
            <a:extLst>
              <a:ext uri="{FF2B5EF4-FFF2-40B4-BE49-F238E27FC236}">
                <a16:creationId xmlns:a16="http://schemas.microsoft.com/office/drawing/2014/main" id="{CE796BA0-C401-A6C7-6054-EA767D20C977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-4762" y="6337299"/>
            <a:ext cx="12192000" cy="55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图片 8" descr="文本&#10;&#10;描述已自动生成">
            <a:extLst>
              <a:ext uri="{FF2B5EF4-FFF2-40B4-BE49-F238E27FC236}">
                <a16:creationId xmlns:a16="http://schemas.microsoft.com/office/drawing/2014/main" id="{BCC4B11D-6269-2FD1-6399-9C0DF54084F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7327" y="0"/>
            <a:ext cx="2460361" cy="88668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lvl="0" algn="l">
              <a:defRPr sz="2000" b="1"/>
            </a:lvl1pPr>
          </a:lstStyle>
          <a:p>
            <a:r>
              <a:rPr lang="zh-CN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 vert="horz" wrap="square" lIns="45720" tIns="45720" rIns="45720" bIns="45720" numCol="1" anchor="t" anchorCtr="0"/>
          <a:lstStyle>
            <a:lvl1pPr marL="0" lvl="0" indent="0">
              <a:buNone/>
              <a:defRPr sz="3200"/>
            </a:lvl1pPr>
            <a:lvl2pPr marL="457200" lvl="1" indent="0">
              <a:buNone/>
              <a:defRPr sz="2800"/>
            </a:lvl2pPr>
            <a:lvl3pPr marL="914400" lvl="2" indent="0">
              <a:buNone/>
              <a:defRPr sz="2400"/>
            </a:lvl3pPr>
            <a:lvl4pPr marL="1371600" lvl="3" indent="0">
              <a:buNone/>
              <a:defRPr sz="2000"/>
            </a:lvl4pPr>
            <a:lvl5pPr marL="1828800" lvl="4" indent="0">
              <a:buNone/>
              <a:defRPr sz="2000"/>
            </a:lvl5pPr>
            <a:lvl6pPr marL="2286000" lvl="5" indent="0">
              <a:buNone/>
              <a:defRPr sz="2000"/>
            </a:lvl6pPr>
            <a:lvl7pPr marL="2743200" lvl="6" indent="0">
              <a:buNone/>
              <a:defRPr sz="2000"/>
            </a:lvl7pPr>
            <a:lvl8pPr marL="3200400" lvl="7" indent="0">
              <a:buNone/>
              <a:defRPr sz="2000"/>
            </a:lvl8pPr>
            <a:lvl9pPr marL="3657600" lvl="8" indent="0">
              <a:buNone/>
              <a:defRPr sz="2000"/>
            </a:lvl9pPr>
          </a:lstStyle>
          <a:p>
            <a:pPr marL="0" lvl="0" indent="0" algn="l" defTabSz="91440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None/>
            </a:pPr>
            <a:endParaRPr lang="zh-CN" sz="3200" b="0" i="0" u="none" strike="noStrike" kern="0" spc="0" baseline="0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lvl="0" indent="0">
              <a:buNone/>
              <a:defRPr sz="1400"/>
            </a:lvl1pPr>
            <a:lvl2pPr marL="457200" lvl="1" indent="0">
              <a:buNone/>
              <a:defRPr sz="1200"/>
            </a:lvl2pPr>
            <a:lvl3pPr marL="914400" lvl="2" indent="0">
              <a:buNone/>
              <a:defRPr sz="1000"/>
            </a:lvl3pPr>
            <a:lvl4pPr marL="1371600" lvl="3" indent="0">
              <a:buNone/>
              <a:defRPr sz="900"/>
            </a:lvl4pPr>
            <a:lvl5pPr marL="1828800" lvl="4" indent="0">
              <a:buNone/>
              <a:defRPr sz="900"/>
            </a:lvl5pPr>
            <a:lvl6pPr marL="2286000" lvl="5" indent="0">
              <a:buNone/>
              <a:defRPr sz="900"/>
            </a:lvl6pPr>
            <a:lvl7pPr marL="2743200" lvl="6" indent="0">
              <a:buNone/>
              <a:defRPr sz="900"/>
            </a:lvl7pPr>
            <a:lvl8pPr marL="3200400" lvl="7" indent="0">
              <a:buNone/>
              <a:defRPr sz="900"/>
            </a:lvl8pPr>
            <a:lvl9pPr marL="3657600" lvl="8" indent="0">
              <a:buNone/>
              <a:defRPr sz="900"/>
            </a:lvl9pPr>
          </a:lstStyle>
          <a:p>
            <a:pPr lvl="0"/>
            <a:r>
              <a:rPr lang="zh-CN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/>
          </p:nvPr>
        </p:nvSpPr>
        <p:spPr>
          <a:xfrm>
            <a:off x="8839200" y="90488"/>
            <a:ext cx="2743200" cy="6767512"/>
          </a:xfrm>
        </p:spPr>
        <p:txBody>
          <a:bodyPr vert="eaVert"/>
          <a:lstStyle/>
          <a:p>
            <a:r>
              <a:rPr lang="zh-CN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609600" y="90488"/>
            <a:ext cx="8077200" cy="6767512"/>
          </a:xfrm>
        </p:spPr>
        <p:txBody>
          <a:bodyPr vert="eaVert"/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D8BEF3-7295-119C-F036-3A3CC95BD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0409218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Line 1"/>
          <p:cNvCxnSpPr/>
          <p:nvPr userDrawn="1"/>
        </p:nvCxnSpPr>
        <p:spPr>
          <a:xfrm>
            <a:off x="-4762" y="835025"/>
            <a:ext cx="12196762" cy="0"/>
          </a:xfrm>
          <a:prstGeom prst="line">
            <a:avLst/>
          </a:prstGeom>
          <a:noFill/>
          <a:ln w="19050">
            <a:solidFill>
              <a:srgbClr val="E7A769"/>
            </a:solidFill>
            <a:miter/>
          </a:ln>
        </p:spPr>
      </p:cxnSp>
      <p:pic>
        <p:nvPicPr>
          <p:cNvPr id="6" name="Picture 4"/>
          <p:cNvPicPr/>
          <p:nvPr userDrawn="1"/>
        </p:nvPicPr>
        <p:blipFill>
          <a:blip r:embed="rId5"/>
          <a:stretch>
            <a:fillRect/>
          </a:stretch>
        </p:blipFill>
        <p:spPr>
          <a:xfrm>
            <a:off x="-4762" y="6337299"/>
            <a:ext cx="12192000" cy="55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图片 8" descr="文本&#10;&#10;描述已自动生成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7327" y="0"/>
            <a:ext cx="2460361" cy="88668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330" y="180975"/>
            <a:ext cx="7042150" cy="705485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>
              <a:defRPr sz="2000"/>
            </a:lvl1pPr>
          </a:lstStyle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图片占位符 3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34438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34438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09591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/>
          </p:cNvSpPr>
          <p:nvPr>
            <p:ph type="title" idx="4294967295"/>
          </p:nvPr>
        </p:nvSpPr>
        <p:spPr>
          <a:xfrm>
            <a:off x="609600" y="90488"/>
            <a:ext cx="10972800" cy="1509712"/>
          </a:xfrm>
          <a:prstGeom prst="rect">
            <a:avLst/>
          </a:prstGeom>
          <a:noFill/>
          <a:ln>
            <a:noFill/>
          </a:ln>
        </p:spPr>
        <p:txBody>
          <a:bodyPr lIns="45720" rIns="45720" anchor="ctr" anchorCtr="0"/>
          <a:lstStyle>
            <a:lvl1pPr marL="0" lvl="0" indent="0" algn="l" defTabSz="91440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zh-CN" sz="4400" b="0" i="0" u="none" baseline="0">
                <a:solidFill>
                  <a:srgbClr val="000000"/>
                </a:solidFill>
                <a:latin typeface="Arial"/>
                <a:ea typeface="Arial"/>
              </a:defRPr>
            </a:lvl1pPr>
            <a:lvl2pPr lvl="1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2pPr>
            <a:lvl3pPr lvl="2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3pPr>
            <a:lvl4pPr lvl="3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4pPr>
            <a:lvl5pPr lvl="4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5pPr>
            <a:lvl6pPr marL="457200" lvl="5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6pPr>
            <a:lvl7pPr marL="914400" lvl="6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7pPr>
            <a:lvl8pPr marL="1371600" lvl="7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8pPr>
            <a:lvl9pPr marL="1828800" lvl="8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9pPr>
          </a:lstStyle>
          <a:p>
            <a:pPr lvl="0"/>
            <a:r>
              <a:t>Click to edit Master title style</a:t>
            </a:r>
          </a:p>
        </p:txBody>
      </p:sp>
      <p:sp>
        <p:nvSpPr>
          <p:cNvPr id="1027" name="Rectangle 2"/>
          <p:cNvSpPr>
            <a:spLocks noGrp="1"/>
          </p:cNvSpPr>
          <p:nvPr>
            <p:ph type="body" idx="4294967295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noFill/>
          <a:ln>
            <a:noFill/>
          </a:ln>
        </p:spPr>
        <p:txBody>
          <a:bodyPr lIns="45720" rIns="45720"/>
          <a:lstStyle>
            <a:lvl1pPr marL="228600" lvl="0" indent="-228600" algn="l" defTabSz="91440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•"/>
              <a:defRPr lang="zh-CN" sz="2800" b="0" i="0" u="none" baseline="0">
                <a:solidFill>
                  <a:srgbClr val="000000"/>
                </a:solidFill>
                <a:latin typeface="Arial"/>
                <a:ea typeface="Arial"/>
              </a:defRPr>
            </a:lvl1pPr>
            <a:lvl2pPr marL="723900" lvl="1" indent="-266700" algn="l" defTabSz="91440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•"/>
              <a:defRPr lang="zh-CN" sz="2800" b="0" i="0" u="none" baseline="0">
                <a:solidFill>
                  <a:srgbClr val="000000"/>
                </a:solidFill>
                <a:latin typeface="Arial"/>
              </a:defRPr>
            </a:lvl2pPr>
            <a:lvl3pPr marL="1233488" lvl="2" indent="-319088" algn="l" defTabSz="91440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•"/>
              <a:defRPr lang="zh-CN" sz="2800" b="0" i="0" u="none" baseline="0">
                <a:solidFill>
                  <a:srgbClr val="000000"/>
                </a:solidFill>
                <a:latin typeface="Arial"/>
              </a:defRPr>
            </a:lvl3pPr>
            <a:lvl4pPr marL="1727200" lvl="3" indent="-355600" algn="l" defTabSz="91440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•"/>
              <a:defRPr lang="zh-CN" sz="2800" b="0" i="0" u="none" baseline="0">
                <a:solidFill>
                  <a:srgbClr val="000000"/>
                </a:solidFill>
                <a:latin typeface="Arial"/>
              </a:defRPr>
            </a:lvl4pPr>
            <a:lvl5pPr marL="2184400" lvl="4" indent="-355600" algn="l" defTabSz="91440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•"/>
              <a:defRPr lang="zh-CN" sz="2800" b="0" i="0" u="none" baseline="0">
                <a:solidFill>
                  <a:srgbClr val="000000"/>
                </a:solidFill>
                <a:latin typeface="Arial"/>
              </a:defRPr>
            </a:lvl5pPr>
            <a:lvl6pPr marL="2641600" lvl="5" indent="-355600" algn="l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•"/>
              <a:defRPr lang="zh-CN" sz="2800">
                <a:solidFill>
                  <a:srgbClr val="000000"/>
                </a:solidFill>
                <a:latin typeface="Arial"/>
              </a:defRPr>
            </a:lvl6pPr>
            <a:lvl7pPr marL="3098800" lvl="6" indent="-355600" algn="l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•"/>
              <a:defRPr lang="zh-CN" sz="2800">
                <a:solidFill>
                  <a:srgbClr val="000000"/>
                </a:solidFill>
                <a:latin typeface="Arial"/>
              </a:defRPr>
            </a:lvl7pPr>
            <a:lvl8pPr marL="3556000" lvl="7" indent="-355600" algn="l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•"/>
              <a:defRPr lang="zh-CN" sz="2800">
                <a:solidFill>
                  <a:srgbClr val="000000"/>
                </a:solidFill>
                <a:latin typeface="Arial"/>
              </a:defRPr>
            </a:lvl8pPr>
            <a:lvl9pPr marL="4013200" lvl="8" indent="-355600" algn="l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•"/>
              <a:defRPr lang="zh-CN" sz="2800">
                <a:solidFill>
                  <a:srgbClr val="000000"/>
                </a:solidFill>
                <a:latin typeface="Arial"/>
              </a:defRPr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72" r:id="rId11"/>
    <p:sldLayoutId id="2147483673" r:id="rId12"/>
  </p:sldLayoutIdLst>
  <p:txStyles>
    <p:titleStyle>
      <a:lvl1pPr marL="0" lvl="0" indent="0" algn="l" defTabSz="914400">
        <a:lnSpc>
          <a:spcPct val="90000"/>
        </a:lnSpc>
        <a:spcBef>
          <a:spcPct val="0"/>
        </a:spcBef>
        <a:spcAft>
          <a:spcPct val="0"/>
        </a:spcAft>
        <a:buNone/>
        <a:defRPr sz="4400" b="0" i="0" u="none" baseline="0">
          <a:solidFill>
            <a:srgbClr val="000000"/>
          </a:solidFill>
          <a:latin typeface="Arial"/>
          <a:ea typeface="Arial"/>
        </a:defRPr>
      </a:lvl1pPr>
      <a:lvl2pPr lvl="1" algn="l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Arial"/>
        </a:defRPr>
      </a:lvl2pPr>
      <a:lvl3pPr lvl="2" algn="l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Arial"/>
        </a:defRPr>
      </a:lvl3pPr>
      <a:lvl4pPr lvl="3" algn="l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Arial"/>
        </a:defRPr>
      </a:lvl4pPr>
      <a:lvl5pPr lvl="4" algn="l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Arial"/>
        </a:defRPr>
      </a:lvl5pPr>
      <a:lvl6pPr marL="457200" lvl="5" algn="l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Arial"/>
        </a:defRPr>
      </a:lvl6pPr>
      <a:lvl7pPr marL="914400" lvl="6" algn="l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Arial"/>
        </a:defRPr>
      </a:lvl7pPr>
      <a:lvl8pPr marL="1371600" lvl="7" algn="l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Arial"/>
        </a:defRPr>
      </a:lvl8pPr>
      <a:lvl9pPr marL="1828800" lvl="8" algn="l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Arial"/>
        </a:defRPr>
      </a:lvl9pPr>
    </p:titleStyle>
    <p:bodyStyle>
      <a:lvl1pPr marL="228600" lvl="0" indent="-228600" algn="l" defTabSz="914400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b="0" i="0" u="none" baseline="0">
          <a:solidFill>
            <a:srgbClr val="000000"/>
          </a:solidFill>
          <a:latin typeface="Arial"/>
          <a:ea typeface="Arial"/>
        </a:defRPr>
      </a:lvl1pPr>
      <a:lvl2pPr marL="723900" lvl="1" indent="-266700" algn="l" defTabSz="914400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b="0" i="0" u="none" baseline="0">
          <a:solidFill>
            <a:srgbClr val="000000"/>
          </a:solidFill>
          <a:latin typeface="Arial"/>
        </a:defRPr>
      </a:lvl2pPr>
      <a:lvl3pPr marL="1233488" lvl="2" indent="-319088" algn="l" defTabSz="914400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b="0" i="0" u="none" baseline="0">
          <a:solidFill>
            <a:srgbClr val="000000"/>
          </a:solidFill>
          <a:latin typeface="Arial"/>
        </a:defRPr>
      </a:lvl3pPr>
      <a:lvl4pPr marL="1727200" lvl="3" indent="-355600" algn="l" defTabSz="914400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b="0" i="0" u="none" baseline="0">
          <a:solidFill>
            <a:srgbClr val="000000"/>
          </a:solidFill>
          <a:latin typeface="Arial"/>
        </a:defRPr>
      </a:lvl4pPr>
      <a:lvl5pPr marL="2184400" lvl="4" indent="-355600" algn="l" defTabSz="914400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b="0" i="0" u="none" baseline="0">
          <a:solidFill>
            <a:srgbClr val="000000"/>
          </a:solidFill>
          <a:latin typeface="Arial"/>
        </a:defRPr>
      </a:lvl5pPr>
      <a:lvl6pPr marL="2641600" lvl="5" indent="-355600" algn="l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>
          <a:solidFill>
            <a:srgbClr val="000000"/>
          </a:solidFill>
          <a:latin typeface="Arial"/>
        </a:defRPr>
      </a:lvl6pPr>
      <a:lvl7pPr marL="3098800" lvl="6" indent="-355600" algn="l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>
          <a:solidFill>
            <a:srgbClr val="000000"/>
          </a:solidFill>
          <a:latin typeface="Arial"/>
        </a:defRPr>
      </a:lvl7pPr>
      <a:lvl8pPr marL="3556000" lvl="7" indent="-355600" algn="l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>
          <a:solidFill>
            <a:srgbClr val="000000"/>
          </a:solidFill>
          <a:latin typeface="Arial"/>
        </a:defRPr>
      </a:lvl8pPr>
      <a:lvl9pPr marL="4013200" lvl="8" indent="-355600" algn="l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>
          <a:solidFill>
            <a:srgbClr val="000000"/>
          </a:solidFill>
          <a:latin typeface="Arial"/>
        </a:defRPr>
      </a:lvl9pPr>
    </p:bodyStyle>
    <p:otherStyle>
      <a:lvl1pPr marL="0" lvl="0" indent="0" algn="l" defTabSz="914400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Arial"/>
          <a:ea typeface="Arial"/>
        </a:defRPr>
      </a:lvl1pPr>
      <a:lvl2pPr marL="457200" lvl="1" indent="0" algn="l" defTabSz="914400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Arial"/>
          <a:ea typeface="Arial"/>
        </a:defRPr>
      </a:lvl2pPr>
      <a:lvl3pPr marL="914400" lvl="2" indent="0" algn="l" defTabSz="914400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Arial"/>
          <a:ea typeface="Arial"/>
        </a:defRPr>
      </a:lvl3pPr>
      <a:lvl4pPr marL="1371600" lvl="3" indent="0" algn="l" defTabSz="914400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Arial"/>
          <a:ea typeface="Arial"/>
        </a:defRPr>
      </a:lvl4pPr>
      <a:lvl5pPr marL="1828800" lvl="4" indent="0" algn="l" defTabSz="914400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Arial"/>
          <a:ea typeface="Arial"/>
        </a:defRPr>
      </a:lvl5pPr>
      <a:lvl6pPr marL="2286000" lvl="5" algn="l" defTabSz="914400">
        <a:defRPr sz="1800" kern="1200">
          <a:solidFill>
            <a:schemeClr val="tx1"/>
          </a:solidFill>
          <a:latin typeface="Arial"/>
          <a:ea typeface="Arial"/>
        </a:defRPr>
      </a:lvl6pPr>
      <a:lvl7pPr marL="2743200" lvl="6" algn="l" defTabSz="914400">
        <a:defRPr sz="1800" kern="1200">
          <a:solidFill>
            <a:schemeClr val="tx1"/>
          </a:solidFill>
          <a:latin typeface="Arial"/>
          <a:ea typeface="Arial"/>
        </a:defRPr>
      </a:lvl7pPr>
      <a:lvl8pPr marL="3200400" lvl="7" algn="l" defTabSz="914400">
        <a:defRPr sz="1800" kern="1200">
          <a:solidFill>
            <a:schemeClr val="tx1"/>
          </a:solidFill>
          <a:latin typeface="Arial"/>
          <a:ea typeface="Arial"/>
        </a:defRPr>
      </a:lvl8pPr>
      <a:lvl9pPr marL="3657600" lvl="8" algn="l" defTabSz="914400">
        <a:defRPr sz="1800" kern="1200">
          <a:solidFill>
            <a:schemeClr val="tx1"/>
          </a:solidFill>
          <a:latin typeface="Arial"/>
          <a:ea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sv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emf"/><Relationship Id="rId5" Type="http://schemas.openxmlformats.org/officeDocument/2006/relationships/image" Target="../media/image24.emf"/><Relationship Id="rId4" Type="http://schemas.openxmlformats.org/officeDocument/2006/relationships/image" Target="../media/image23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emf"/><Relationship Id="rId5" Type="http://schemas.openxmlformats.org/officeDocument/2006/relationships/image" Target="../media/image24.emf"/><Relationship Id="rId4" Type="http://schemas.openxmlformats.org/officeDocument/2006/relationships/image" Target="../media/image23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emf"/><Relationship Id="rId3" Type="http://schemas.openxmlformats.org/officeDocument/2006/relationships/image" Target="../media/image26.png"/><Relationship Id="rId7" Type="http://schemas.openxmlformats.org/officeDocument/2006/relationships/image" Target="../media/image23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emf"/><Relationship Id="rId5" Type="http://schemas.openxmlformats.org/officeDocument/2006/relationships/image" Target="../media/image28.png"/><Relationship Id="rId4" Type="http://schemas.openxmlformats.org/officeDocument/2006/relationships/image" Target="../media/image27.emf"/><Relationship Id="rId9" Type="http://schemas.openxmlformats.org/officeDocument/2006/relationships/image" Target="../media/image25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标题 7"/>
          <p:cNvSpPr>
            <a:spLocks noGrp="1"/>
          </p:cNvSpPr>
          <p:nvPr>
            <p:ph type="title" idx="4294967295"/>
          </p:nvPr>
        </p:nvSpPr>
        <p:spPr>
          <a:xfrm>
            <a:off x="785143" y="2031791"/>
            <a:ext cx="8431213" cy="647700"/>
          </a:xfrm>
          <a:prstGeom prst="rect">
            <a:avLst/>
          </a:prstGeom>
          <a:noFill/>
          <a:ln w="12700">
            <a:miter/>
          </a:ln>
        </p:spPr>
        <p:txBody>
          <a:bodyPr vert="horz" wrap="square" lIns="45720" tIns="45720" rIns="45720" bIns="45720" anchor="ctr" anchorCtr="0">
            <a:spAutoFit/>
          </a:bodyPr>
          <a:lstStyle>
            <a:lvl1pPr marL="0" lvl="0" indent="0" algn="l" defTabSz="91440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zh-CN" sz="4400" b="0" i="0" u="none" baseline="0">
                <a:solidFill>
                  <a:srgbClr val="000000"/>
                </a:solidFill>
                <a:latin typeface="Arial"/>
                <a:ea typeface="Arial"/>
              </a:defRPr>
            </a:lvl1pPr>
            <a:lvl2pPr lvl="1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2pPr>
            <a:lvl3pPr lvl="2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3pPr>
            <a:lvl4pPr lvl="3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4pPr>
            <a:lvl5pPr lvl="4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5pPr>
            <a:lvl6pPr marL="457200" lvl="5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6pPr>
            <a:lvl7pPr marL="914400" lvl="6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7pPr>
            <a:lvl8pPr marL="1371600" lvl="7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8pPr>
            <a:lvl9pPr marL="1828800" lvl="8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9pPr>
          </a:lstStyle>
          <a:p>
            <a:pPr lvl="0">
              <a:spcBef>
                <a:spcPts val="1200"/>
              </a:spcBef>
            </a:pPr>
            <a:r>
              <a:rPr lang="zh-CN" sz="40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东正</a:t>
            </a:r>
            <a:r>
              <a:rPr lang="zh-CN" altLang="en-US" sz="40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汽车</a:t>
            </a:r>
            <a:r>
              <a:rPr lang="zh-CN" sz="40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金融</a:t>
            </a:r>
            <a:r>
              <a:rPr lang="zh-CN" altLang="en-US" sz="40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催收业务工作汇报</a:t>
            </a:r>
            <a:endParaRPr 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 descr="文本&#10;&#10;描述已自动生成">
            <a:extLst>
              <a:ext uri="{FF2B5EF4-FFF2-40B4-BE49-F238E27FC236}">
                <a16:creationId xmlns:a16="http://schemas.microsoft.com/office/drawing/2014/main" id="{C0352605-04E4-F34A-96FD-B103EC0F7D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219" y="189169"/>
            <a:ext cx="2767132" cy="997246"/>
          </a:xfrm>
          <a:prstGeom prst="rect">
            <a:avLst/>
          </a:prstGeom>
        </p:spPr>
      </p:pic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517AB5D2-B76E-82AC-CDEF-EFA8379D0491}"/>
              </a:ext>
            </a:extLst>
          </p:cNvPr>
          <p:cNvCxnSpPr/>
          <p:nvPr/>
        </p:nvCxnSpPr>
        <p:spPr>
          <a:xfrm>
            <a:off x="785143" y="2931833"/>
            <a:ext cx="7528319" cy="0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D1DC9-691F-48FD-FBA3-34F624445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19">
            <a:extLst>
              <a:ext uri="{FF2B5EF4-FFF2-40B4-BE49-F238E27FC236}">
                <a16:creationId xmlns:a16="http://schemas.microsoft.com/office/drawing/2014/main" id="{EBDE3A61-96CC-3698-F143-20152BA35937}"/>
              </a:ext>
            </a:extLst>
          </p:cNvPr>
          <p:cNvSpPr txBox="1"/>
          <p:nvPr/>
        </p:nvSpPr>
        <p:spPr>
          <a:xfrm>
            <a:off x="574512" y="1896622"/>
            <a:ext cx="2843182" cy="119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5400" dirty="0">
                <a:solidFill>
                  <a:srgbClr val="7030A0"/>
                </a:solidFill>
                <a:effectLst>
                  <a:outerShdw blurRad="25400" dist="25400" dir="2700000" algn="tl">
                    <a:srgbClr val="000000">
                      <a:alpha val="25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en-US" altLang="zh-CN" sz="5400" dirty="0">
              <a:solidFill>
                <a:srgbClr val="7030A0"/>
              </a:solidFill>
              <a:effectLst>
                <a:outerShdw blurRad="25400" dist="25400" dir="2700000" algn="tl">
                  <a:srgbClr val="000000">
                    <a:alpha val="25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16">
            <a:extLst>
              <a:ext uri="{FF2B5EF4-FFF2-40B4-BE49-F238E27FC236}">
                <a16:creationId xmlns:a16="http://schemas.microsoft.com/office/drawing/2014/main" id="{7E613272-92B9-D35A-2FDE-BA62BA68D7FD}"/>
              </a:ext>
            </a:extLst>
          </p:cNvPr>
          <p:cNvSpPr txBox="1"/>
          <p:nvPr/>
        </p:nvSpPr>
        <p:spPr>
          <a:xfrm>
            <a:off x="6217787" y="1382900"/>
            <a:ext cx="4512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7030A0"/>
                </a:solidFill>
                <a:effectLst>
                  <a:outerShdw blurRad="25400" dist="25400" dir="2700000" algn="tl">
                    <a:srgbClr val="000000">
                      <a:alpha val="25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东正催收的业绩回顾</a:t>
            </a:r>
          </a:p>
        </p:txBody>
      </p:sp>
      <p:cxnSp>
        <p:nvCxnSpPr>
          <p:cNvPr id="6" name="直接连接符 7">
            <a:extLst>
              <a:ext uri="{FF2B5EF4-FFF2-40B4-BE49-F238E27FC236}">
                <a16:creationId xmlns:a16="http://schemas.microsoft.com/office/drawing/2014/main" id="{146F675A-E6E3-2171-2511-7CE6727E3D86}"/>
              </a:ext>
            </a:extLst>
          </p:cNvPr>
          <p:cNvCxnSpPr/>
          <p:nvPr/>
        </p:nvCxnSpPr>
        <p:spPr>
          <a:xfrm>
            <a:off x="4226621" y="1916364"/>
            <a:ext cx="6695513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43">
            <a:extLst>
              <a:ext uri="{FF2B5EF4-FFF2-40B4-BE49-F238E27FC236}">
                <a16:creationId xmlns:a16="http://schemas.microsoft.com/office/drawing/2014/main" id="{880223B7-B19F-DFB6-2A35-C0543B735968}"/>
              </a:ext>
            </a:extLst>
          </p:cNvPr>
          <p:cNvSpPr txBox="1"/>
          <p:nvPr/>
        </p:nvSpPr>
        <p:spPr>
          <a:xfrm>
            <a:off x="6226873" y="2299770"/>
            <a:ext cx="4512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7030A0"/>
                </a:solidFill>
                <a:effectLst>
                  <a:outerShdw blurRad="25400" dist="25400" dir="2700000" algn="tl">
                    <a:srgbClr val="000000">
                      <a:alpha val="25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东正催收的历史演变</a:t>
            </a:r>
          </a:p>
        </p:txBody>
      </p:sp>
      <p:sp>
        <p:nvSpPr>
          <p:cNvPr id="9" name="圆角矩形 68">
            <a:extLst>
              <a:ext uri="{FF2B5EF4-FFF2-40B4-BE49-F238E27FC236}">
                <a16:creationId xmlns:a16="http://schemas.microsoft.com/office/drawing/2014/main" id="{FBA92769-1FE9-1ECC-C3AD-E1BB8B1553DD}"/>
              </a:ext>
            </a:extLst>
          </p:cNvPr>
          <p:cNvSpPr/>
          <p:nvPr/>
        </p:nvSpPr>
        <p:spPr>
          <a:xfrm>
            <a:off x="4316715" y="2396189"/>
            <a:ext cx="1520856" cy="31427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第二部分</a:t>
            </a:r>
          </a:p>
        </p:txBody>
      </p:sp>
      <p:sp>
        <p:nvSpPr>
          <p:cNvPr id="10" name="圆角矩形 68">
            <a:extLst>
              <a:ext uri="{FF2B5EF4-FFF2-40B4-BE49-F238E27FC236}">
                <a16:creationId xmlns:a16="http://schemas.microsoft.com/office/drawing/2014/main" id="{67023C48-E888-6A73-58A6-184DB2E42429}"/>
              </a:ext>
            </a:extLst>
          </p:cNvPr>
          <p:cNvSpPr/>
          <p:nvPr/>
        </p:nvSpPr>
        <p:spPr>
          <a:xfrm>
            <a:off x="4316715" y="1535100"/>
            <a:ext cx="1520856" cy="31427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第一部分</a:t>
            </a:r>
          </a:p>
        </p:txBody>
      </p:sp>
      <p:cxnSp>
        <p:nvCxnSpPr>
          <p:cNvPr id="11" name="直接连接符 17">
            <a:extLst>
              <a:ext uri="{FF2B5EF4-FFF2-40B4-BE49-F238E27FC236}">
                <a16:creationId xmlns:a16="http://schemas.microsoft.com/office/drawing/2014/main" id="{B15EF990-53B2-B6C8-D22B-DA6B2719FF97}"/>
              </a:ext>
            </a:extLst>
          </p:cNvPr>
          <p:cNvCxnSpPr/>
          <p:nvPr/>
        </p:nvCxnSpPr>
        <p:spPr>
          <a:xfrm>
            <a:off x="4247470" y="2833234"/>
            <a:ext cx="6695513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43">
            <a:extLst>
              <a:ext uri="{FF2B5EF4-FFF2-40B4-BE49-F238E27FC236}">
                <a16:creationId xmlns:a16="http://schemas.microsoft.com/office/drawing/2014/main" id="{D0DD3C5F-1989-D60A-BE25-504405EB6074}"/>
              </a:ext>
            </a:extLst>
          </p:cNvPr>
          <p:cNvSpPr txBox="1"/>
          <p:nvPr/>
        </p:nvSpPr>
        <p:spPr>
          <a:xfrm>
            <a:off x="6226873" y="3305017"/>
            <a:ext cx="4512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7030A0"/>
                </a:solidFill>
                <a:effectLst>
                  <a:outerShdw blurRad="25400" dist="25400" dir="2700000" algn="tl">
                    <a:srgbClr val="000000">
                      <a:alpha val="25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东正催收的能力提升</a:t>
            </a:r>
          </a:p>
        </p:txBody>
      </p:sp>
      <p:sp>
        <p:nvSpPr>
          <p:cNvPr id="13" name="圆角矩形 68">
            <a:extLst>
              <a:ext uri="{FF2B5EF4-FFF2-40B4-BE49-F238E27FC236}">
                <a16:creationId xmlns:a16="http://schemas.microsoft.com/office/drawing/2014/main" id="{E0A4DDE7-1A51-51C8-B77D-6DC120448965}"/>
              </a:ext>
            </a:extLst>
          </p:cNvPr>
          <p:cNvSpPr/>
          <p:nvPr/>
        </p:nvSpPr>
        <p:spPr>
          <a:xfrm>
            <a:off x="4316715" y="3429000"/>
            <a:ext cx="1520856" cy="31427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第三部分</a:t>
            </a:r>
          </a:p>
        </p:txBody>
      </p:sp>
      <p:cxnSp>
        <p:nvCxnSpPr>
          <p:cNvPr id="14" name="直接连接符 17">
            <a:extLst>
              <a:ext uri="{FF2B5EF4-FFF2-40B4-BE49-F238E27FC236}">
                <a16:creationId xmlns:a16="http://schemas.microsoft.com/office/drawing/2014/main" id="{C7F6FB51-D4B4-19EE-A64C-84C956678C3B}"/>
              </a:ext>
            </a:extLst>
          </p:cNvPr>
          <p:cNvCxnSpPr/>
          <p:nvPr/>
        </p:nvCxnSpPr>
        <p:spPr>
          <a:xfrm>
            <a:off x="4247470" y="3828237"/>
            <a:ext cx="6695513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1926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8" name="Rectangle 6"/>
          <p:cNvSpPr>
            <a:spLocks noGrp="1"/>
          </p:cNvSpPr>
          <p:nvPr>
            <p:ph type="title" idx="4294967295"/>
          </p:nvPr>
        </p:nvSpPr>
        <p:spPr>
          <a:xfrm>
            <a:off x="442912" y="200959"/>
            <a:ext cx="5653088" cy="598487"/>
          </a:xfrm>
          <a:prstGeom prst="rect">
            <a:avLst/>
          </a:prstGeom>
          <a:noFill/>
          <a:ln w="12700">
            <a:miter/>
          </a:ln>
        </p:spPr>
        <p:txBody>
          <a:bodyPr vert="horz" wrap="square" lIns="45720" tIns="45720" rIns="45720" bIns="45720" anchor="ctr" anchorCtr="0"/>
          <a:lstStyle>
            <a:lvl1pPr marL="0" lvl="0" indent="0" algn="l" defTabSz="91440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zh-CN" sz="4400" b="0" i="0" u="none" baseline="0">
                <a:solidFill>
                  <a:srgbClr val="000000"/>
                </a:solidFill>
                <a:latin typeface="Arial"/>
                <a:ea typeface="Arial"/>
              </a:defRPr>
            </a:lvl1pPr>
            <a:lvl2pPr lvl="1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2pPr>
            <a:lvl3pPr lvl="2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3pPr>
            <a:lvl4pPr lvl="3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4pPr>
            <a:lvl5pPr lvl="4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5pPr>
            <a:lvl6pPr marL="457200" lvl="5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6pPr>
            <a:lvl7pPr marL="914400" lvl="6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7pPr>
            <a:lvl8pPr marL="1371600" lvl="7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8pPr>
            <a:lvl9pPr marL="1828800" lvl="8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9pPr>
          </a:lstStyle>
          <a:p>
            <a:pPr lvl="0"/>
            <a:r>
              <a:rPr lang="zh-CN" altLang="en-US" sz="2800" dirty="0">
                <a:solidFill>
                  <a:srgbClr val="6931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不良率的压降</a:t>
            </a:r>
            <a:r>
              <a:rPr lang="en-US" altLang="zh-CN" sz="2800" dirty="0">
                <a:solidFill>
                  <a:srgbClr val="6931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dirty="0">
                <a:solidFill>
                  <a:srgbClr val="6931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</a:t>
            </a:r>
            <a:r>
              <a:rPr lang="en-US" altLang="zh-CN" sz="2800" dirty="0">
                <a:solidFill>
                  <a:srgbClr val="6931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1.7%</a:t>
            </a:r>
            <a:r>
              <a:rPr lang="zh-CN" altLang="en-US" sz="2800" dirty="0">
                <a:solidFill>
                  <a:srgbClr val="6931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sz="2800" dirty="0">
                <a:solidFill>
                  <a:srgbClr val="6931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0.9%</a:t>
            </a:r>
            <a:endParaRPr lang="zh-CN" sz="2800" dirty="0">
              <a:solidFill>
                <a:srgbClr val="69318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" name="图表 3">
            <a:extLst>
              <a:ext uri="{FF2B5EF4-FFF2-40B4-BE49-F238E27FC236}">
                <a16:creationId xmlns:a16="http://schemas.microsoft.com/office/drawing/2014/main" id="{376D000D-8155-15CD-419E-A72E6EA2A4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54145572"/>
              </p:ext>
            </p:extLst>
          </p:nvPr>
        </p:nvGraphicFramePr>
        <p:xfrm>
          <a:off x="940513" y="997112"/>
          <a:ext cx="10310974" cy="55135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圆角矩形 4">
            <a:extLst>
              <a:ext uri="{FF2B5EF4-FFF2-40B4-BE49-F238E27FC236}">
                <a16:creationId xmlns:a16="http://schemas.microsoft.com/office/drawing/2014/main" id="{E17E6775-B8CB-DE8E-EEB8-DD84CCFF4952}"/>
              </a:ext>
            </a:extLst>
          </p:cNvPr>
          <p:cNvSpPr/>
          <p:nvPr/>
        </p:nvSpPr>
        <p:spPr>
          <a:xfrm>
            <a:off x="4057650" y="997113"/>
            <a:ext cx="2661803" cy="4529044"/>
          </a:xfrm>
          <a:prstGeom prst="roundRect">
            <a:avLst>
              <a:gd name="adj" fmla="val 1626"/>
            </a:avLst>
          </a:prstGeom>
          <a:noFill/>
          <a:ln w="31750">
            <a:solidFill>
              <a:srgbClr val="5C2A7F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995DB6B7-07DE-0437-8730-D2F4C44198A3}"/>
              </a:ext>
            </a:extLst>
          </p:cNvPr>
          <p:cNvSpPr/>
          <p:nvPr/>
        </p:nvSpPr>
        <p:spPr>
          <a:xfrm>
            <a:off x="7412180" y="997111"/>
            <a:ext cx="3449784" cy="4529044"/>
          </a:xfrm>
          <a:prstGeom prst="roundRect">
            <a:avLst>
              <a:gd name="adj" fmla="val 1626"/>
            </a:avLst>
          </a:prstGeom>
          <a:noFill/>
          <a:ln w="31750">
            <a:solidFill>
              <a:srgbClr val="5C2A7F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7FC77C6-0E08-59FD-7D24-6915EF2E003B}"/>
              </a:ext>
            </a:extLst>
          </p:cNvPr>
          <p:cNvSpPr txBox="1"/>
          <p:nvPr/>
        </p:nvSpPr>
        <p:spPr>
          <a:xfrm>
            <a:off x="4488304" y="1122218"/>
            <a:ext cx="18004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5C2A7F"/>
                </a:solidFill>
              </a:rPr>
              <a:t>资产进入表现期</a:t>
            </a:r>
            <a:endParaRPr kumimoji="1" lang="en-US" altLang="zh-CN" dirty="0">
              <a:solidFill>
                <a:srgbClr val="5C2A7F"/>
              </a:solidFill>
            </a:endParaRPr>
          </a:p>
          <a:p>
            <a:r>
              <a:rPr kumimoji="1" lang="zh-CN" altLang="en-US" dirty="0">
                <a:solidFill>
                  <a:srgbClr val="5C2A7F"/>
                </a:solidFill>
              </a:rPr>
              <a:t>不良率快速爬升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BC0138F-3ADB-2423-85BF-3762DEDC2B23}"/>
              </a:ext>
            </a:extLst>
          </p:cNvPr>
          <p:cNvSpPr txBox="1"/>
          <p:nvPr/>
        </p:nvSpPr>
        <p:spPr>
          <a:xfrm>
            <a:off x="8121409" y="1122218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5C2A7F"/>
                </a:solidFill>
              </a:rPr>
              <a:t>资产表现稳定向好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C1FE1-D562-DD84-9593-357092816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8" name="Rectangle 6">
            <a:extLst>
              <a:ext uri="{FF2B5EF4-FFF2-40B4-BE49-F238E27FC236}">
                <a16:creationId xmlns:a16="http://schemas.microsoft.com/office/drawing/2014/main" id="{664F87B4-6B39-C800-5E5E-510202631C2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42911" y="200959"/>
            <a:ext cx="3475945" cy="598487"/>
          </a:xfrm>
          <a:prstGeom prst="rect">
            <a:avLst/>
          </a:prstGeom>
          <a:noFill/>
          <a:ln w="12700">
            <a:miter/>
          </a:ln>
        </p:spPr>
        <p:txBody>
          <a:bodyPr vert="horz" wrap="square" lIns="45720" tIns="45720" rIns="45720" bIns="45720" anchor="ctr" anchorCtr="0"/>
          <a:lstStyle>
            <a:lvl1pPr marL="0" lvl="0" indent="0" algn="l" defTabSz="91440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zh-CN" sz="4400" b="0" i="0" u="none" baseline="0">
                <a:solidFill>
                  <a:srgbClr val="000000"/>
                </a:solidFill>
                <a:latin typeface="Arial"/>
                <a:ea typeface="Arial"/>
              </a:defRPr>
            </a:lvl1pPr>
            <a:lvl2pPr lvl="1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2pPr>
            <a:lvl3pPr lvl="2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3pPr>
            <a:lvl4pPr lvl="3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4pPr>
            <a:lvl5pPr lvl="4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5pPr>
            <a:lvl6pPr marL="457200" lvl="5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6pPr>
            <a:lvl7pPr marL="914400" lvl="6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7pPr>
            <a:lvl8pPr marL="1371600" lvl="7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8pPr>
            <a:lvl9pPr marL="1828800" lvl="8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9pPr>
          </a:lstStyle>
          <a:p>
            <a:pPr lvl="0"/>
            <a:r>
              <a:rPr lang="zh-CN" altLang="en-US" sz="2800" dirty="0">
                <a:solidFill>
                  <a:srgbClr val="6931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东正催收的历史演变</a:t>
            </a:r>
            <a:endParaRPr lang="zh-CN" sz="2800" dirty="0">
              <a:solidFill>
                <a:srgbClr val="69318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493423C-A810-8ECB-6D90-7FB1E62CFE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8768" y="934613"/>
            <a:ext cx="1435100" cy="14351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01696D5-5949-4EA6-8944-CE9AAE1FC39B}"/>
              </a:ext>
            </a:extLst>
          </p:cNvPr>
          <p:cNvSpPr txBox="1"/>
          <p:nvPr/>
        </p:nvSpPr>
        <p:spPr>
          <a:xfrm>
            <a:off x="2808432" y="2363661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>
                <a:solidFill>
                  <a:srgbClr val="5C2A7F"/>
                </a:solidFill>
              </a:rPr>
              <a:t>全权委托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3BD2193F-6981-543E-767A-7A6701CF052F}"/>
              </a:ext>
            </a:extLst>
          </p:cNvPr>
          <p:cNvGrpSpPr/>
          <p:nvPr/>
        </p:nvGrpSpPr>
        <p:grpSpPr>
          <a:xfrm>
            <a:off x="5798163" y="1652163"/>
            <a:ext cx="607779" cy="325984"/>
            <a:chOff x="5466725" y="1945256"/>
            <a:chExt cx="607779" cy="325984"/>
          </a:xfrm>
        </p:grpSpPr>
        <p:sp>
          <p:nvSpPr>
            <p:cNvPr id="9" name="燕尾形 8">
              <a:extLst>
                <a:ext uri="{FF2B5EF4-FFF2-40B4-BE49-F238E27FC236}">
                  <a16:creationId xmlns:a16="http://schemas.microsoft.com/office/drawing/2014/main" id="{BD8701A6-447D-9316-7E3A-E27937742D9D}"/>
                </a:ext>
              </a:extLst>
            </p:cNvPr>
            <p:cNvSpPr/>
            <p:nvPr/>
          </p:nvSpPr>
          <p:spPr>
            <a:xfrm>
              <a:off x="5466725" y="1945257"/>
              <a:ext cx="325983" cy="325983"/>
            </a:xfrm>
            <a:prstGeom prst="chevron">
              <a:avLst/>
            </a:prstGeom>
            <a:solidFill>
              <a:srgbClr val="69318F">
                <a:alpha val="8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" name="燕尾形 9">
              <a:extLst>
                <a:ext uri="{FF2B5EF4-FFF2-40B4-BE49-F238E27FC236}">
                  <a16:creationId xmlns:a16="http://schemas.microsoft.com/office/drawing/2014/main" id="{088F16CB-C2F8-FDEF-1725-C22A87BD777A}"/>
                </a:ext>
              </a:extLst>
            </p:cNvPr>
            <p:cNvSpPr/>
            <p:nvPr/>
          </p:nvSpPr>
          <p:spPr>
            <a:xfrm>
              <a:off x="5748521" y="1945256"/>
              <a:ext cx="325983" cy="325983"/>
            </a:xfrm>
            <a:prstGeom prst="chevron">
              <a:avLst/>
            </a:prstGeom>
            <a:solidFill>
              <a:srgbClr val="69318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11" name="图片 10" descr="图标&#10;&#10;AI 生成的内容可能不正确。">
            <a:extLst>
              <a:ext uri="{FF2B5EF4-FFF2-40B4-BE49-F238E27FC236}">
                <a16:creationId xmlns:a16="http://schemas.microsoft.com/office/drawing/2014/main" id="{D3D66594-4B54-4B20-CBA8-B3F9C7AB57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0236" y="940665"/>
            <a:ext cx="1422996" cy="1422996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2F283C4C-1F07-2BC4-C779-B654F3F1FE5E}"/>
              </a:ext>
            </a:extLst>
          </p:cNvPr>
          <p:cNvSpPr txBox="1"/>
          <p:nvPr/>
        </p:nvSpPr>
        <p:spPr>
          <a:xfrm>
            <a:off x="7977460" y="2363661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>
                <a:solidFill>
                  <a:srgbClr val="5C2A7F"/>
                </a:solidFill>
              </a:rPr>
              <a:t>自主催收</a:t>
            </a:r>
          </a:p>
        </p:txBody>
      </p:sp>
      <p:pic>
        <p:nvPicPr>
          <p:cNvPr id="4" name="图形 3" descr="共享 纯色填充">
            <a:extLst>
              <a:ext uri="{FF2B5EF4-FFF2-40B4-BE49-F238E27FC236}">
                <a16:creationId xmlns:a16="http://schemas.microsoft.com/office/drawing/2014/main" id="{0D13CB68-2AAF-01AC-1A80-42656A9F16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39622" y="5273174"/>
            <a:ext cx="1107996" cy="110799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5AA29FDB-3081-BB38-AC6E-3B82469843BD}"/>
              </a:ext>
            </a:extLst>
          </p:cNvPr>
          <p:cNvSpPr txBox="1"/>
          <p:nvPr/>
        </p:nvSpPr>
        <p:spPr>
          <a:xfrm>
            <a:off x="2847618" y="5565562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b="1" dirty="0">
                <a:solidFill>
                  <a:srgbClr val="C00000"/>
                </a:solidFill>
              </a:rPr>
              <a:t>混业经营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DBFC2D8-1F5B-BD9C-B9D7-A7D06C44D53F}"/>
              </a:ext>
            </a:extLst>
          </p:cNvPr>
          <p:cNvSpPr txBox="1"/>
          <p:nvPr/>
        </p:nvSpPr>
        <p:spPr>
          <a:xfrm>
            <a:off x="2591138" y="3107495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>
                <a:solidFill>
                  <a:srgbClr val="5C2A7F"/>
                </a:solidFill>
              </a:rPr>
              <a:t>供应商不透明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551C30D-CD67-B6F0-8DE6-9850D1C88061}"/>
              </a:ext>
            </a:extLst>
          </p:cNvPr>
          <p:cNvSpPr txBox="1"/>
          <p:nvPr/>
        </p:nvSpPr>
        <p:spPr>
          <a:xfrm>
            <a:off x="2346767" y="3719406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>
                <a:solidFill>
                  <a:srgbClr val="5C2A7F"/>
                </a:solidFill>
              </a:rPr>
              <a:t>业绩走势不确定</a:t>
            </a:r>
          </a:p>
        </p:txBody>
      </p:sp>
      <p:sp>
        <p:nvSpPr>
          <p:cNvPr id="16" name="燕尾形 15">
            <a:extLst>
              <a:ext uri="{FF2B5EF4-FFF2-40B4-BE49-F238E27FC236}">
                <a16:creationId xmlns:a16="http://schemas.microsoft.com/office/drawing/2014/main" id="{003EB2E9-F139-3CF2-CA8A-91CE5811133C}"/>
              </a:ext>
            </a:extLst>
          </p:cNvPr>
          <p:cNvSpPr/>
          <p:nvPr/>
        </p:nvSpPr>
        <p:spPr>
          <a:xfrm rot="5400000">
            <a:off x="3443808" y="4969852"/>
            <a:ext cx="325983" cy="325983"/>
          </a:xfrm>
          <a:prstGeom prst="chevron">
            <a:avLst/>
          </a:prstGeom>
          <a:solidFill>
            <a:srgbClr val="69318F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bg2">
                  <a:lumMod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8762AAB-7258-F569-676D-76EC4EEF6D4E}"/>
              </a:ext>
            </a:extLst>
          </p:cNvPr>
          <p:cNvSpPr txBox="1"/>
          <p:nvPr/>
        </p:nvSpPr>
        <p:spPr>
          <a:xfrm>
            <a:off x="7699229" y="3107495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>
                <a:solidFill>
                  <a:srgbClr val="5C2A7F"/>
                </a:solidFill>
              </a:rPr>
              <a:t>自建催收团队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CADD8DC-F9B4-4087-5327-C7D29E9FD51E}"/>
              </a:ext>
            </a:extLst>
          </p:cNvPr>
          <p:cNvSpPr txBox="1"/>
          <p:nvPr/>
        </p:nvSpPr>
        <p:spPr>
          <a:xfrm>
            <a:off x="7699229" y="3719406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>
                <a:solidFill>
                  <a:srgbClr val="5C2A7F"/>
                </a:solidFill>
              </a:rPr>
              <a:t>自定催收策略</a:t>
            </a:r>
          </a:p>
        </p:txBody>
      </p:sp>
      <p:pic>
        <p:nvPicPr>
          <p:cNvPr id="21" name="图形 20" descr="眼睛 纯色填充">
            <a:extLst>
              <a:ext uri="{FF2B5EF4-FFF2-40B4-BE49-F238E27FC236}">
                <a16:creationId xmlns:a16="http://schemas.microsoft.com/office/drawing/2014/main" id="{D6891ECE-94C4-A69B-47DF-0A275B2392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00089" y="5363919"/>
            <a:ext cx="914400" cy="914400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047E369D-219E-EBF2-A8CC-232D6A00038F}"/>
              </a:ext>
            </a:extLst>
          </p:cNvPr>
          <p:cNvSpPr txBox="1"/>
          <p:nvPr/>
        </p:nvSpPr>
        <p:spPr>
          <a:xfrm>
            <a:off x="7092778" y="5584465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>
                <a:solidFill>
                  <a:srgbClr val="5C2A7F"/>
                </a:solidFill>
              </a:rPr>
              <a:t>作业流程全阶段透明可控</a:t>
            </a:r>
          </a:p>
        </p:txBody>
      </p:sp>
      <p:sp>
        <p:nvSpPr>
          <p:cNvPr id="23" name="燕尾形 22">
            <a:extLst>
              <a:ext uri="{FF2B5EF4-FFF2-40B4-BE49-F238E27FC236}">
                <a16:creationId xmlns:a16="http://schemas.microsoft.com/office/drawing/2014/main" id="{210D9DE4-6A8F-8A37-52C9-15DA1DBA1354}"/>
              </a:ext>
            </a:extLst>
          </p:cNvPr>
          <p:cNvSpPr/>
          <p:nvPr/>
        </p:nvSpPr>
        <p:spPr>
          <a:xfrm rot="5400000">
            <a:off x="8551899" y="4969852"/>
            <a:ext cx="325983" cy="325983"/>
          </a:xfrm>
          <a:prstGeom prst="chevron">
            <a:avLst/>
          </a:prstGeom>
          <a:solidFill>
            <a:srgbClr val="69318F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bg2">
                  <a:lumMod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8332B20-02C8-F104-BD18-DF04FF275D9F}"/>
              </a:ext>
            </a:extLst>
          </p:cNvPr>
          <p:cNvSpPr txBox="1"/>
          <p:nvPr/>
        </p:nvSpPr>
        <p:spPr>
          <a:xfrm>
            <a:off x="2437249" y="4331317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>
                <a:solidFill>
                  <a:srgbClr val="5C2A7F"/>
                </a:solidFill>
              </a:rPr>
              <a:t>佣金结算不准确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4B27340-A991-8C56-6B38-4AA8DEA12D16}"/>
              </a:ext>
            </a:extLst>
          </p:cNvPr>
          <p:cNvSpPr txBox="1"/>
          <p:nvPr/>
        </p:nvSpPr>
        <p:spPr>
          <a:xfrm>
            <a:off x="7699229" y="4331317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>
                <a:solidFill>
                  <a:srgbClr val="5C2A7F"/>
                </a:solidFill>
              </a:rPr>
              <a:t>自动计算佣金</a:t>
            </a:r>
          </a:p>
        </p:txBody>
      </p:sp>
    </p:spTree>
    <p:extLst>
      <p:ext uri="{BB962C8B-B14F-4D97-AF65-F5344CB8AC3E}">
        <p14:creationId xmlns:p14="http://schemas.microsoft.com/office/powerpoint/2010/main" val="1854478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8FA79-20DB-7F01-D7C3-4593A448A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8">
            <a:extLst>
              <a:ext uri="{FF2B5EF4-FFF2-40B4-BE49-F238E27FC236}">
                <a16:creationId xmlns:a16="http://schemas.microsoft.com/office/drawing/2014/main" id="{AEFF44D4-8650-486E-C299-E115FCFEA3F3}"/>
              </a:ext>
            </a:extLst>
          </p:cNvPr>
          <p:cNvSpPr txBox="1"/>
          <p:nvPr/>
        </p:nvSpPr>
        <p:spPr>
          <a:xfrm>
            <a:off x="8163899" y="4677831"/>
            <a:ext cx="22343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400" b="1" dirty="0">
                <a:solidFill>
                  <a:srgbClr val="5C2A7F"/>
                </a:solidFill>
                <a:latin typeface="+mj-ea"/>
                <a:ea typeface="+mj-ea"/>
              </a:rPr>
              <a:t>组织建设的优化</a:t>
            </a:r>
          </a:p>
        </p:txBody>
      </p:sp>
      <p:sp>
        <p:nvSpPr>
          <p:cNvPr id="5" name="TextBox 20">
            <a:extLst>
              <a:ext uri="{FF2B5EF4-FFF2-40B4-BE49-F238E27FC236}">
                <a16:creationId xmlns:a16="http://schemas.microsoft.com/office/drawing/2014/main" id="{2E01055B-98BE-3332-927C-0362AACF2CDC}"/>
              </a:ext>
            </a:extLst>
          </p:cNvPr>
          <p:cNvSpPr txBox="1"/>
          <p:nvPr/>
        </p:nvSpPr>
        <p:spPr>
          <a:xfrm>
            <a:off x="8163898" y="3445730"/>
            <a:ext cx="238798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400" b="1" dirty="0">
                <a:solidFill>
                  <a:srgbClr val="5C2A7F"/>
                </a:solidFill>
                <a:latin typeface="+mj-ea"/>
                <a:ea typeface="+mj-ea"/>
              </a:rPr>
              <a:t>风控能力的提升</a:t>
            </a:r>
          </a:p>
        </p:txBody>
      </p:sp>
      <p:sp>
        <p:nvSpPr>
          <p:cNvPr id="6" name="TextBox 22">
            <a:extLst>
              <a:ext uri="{FF2B5EF4-FFF2-40B4-BE49-F238E27FC236}">
                <a16:creationId xmlns:a16="http://schemas.microsoft.com/office/drawing/2014/main" id="{1BA58974-6792-3AFB-7C17-4EA39AEE04A0}"/>
              </a:ext>
            </a:extLst>
          </p:cNvPr>
          <p:cNvSpPr txBox="1"/>
          <p:nvPr/>
        </p:nvSpPr>
        <p:spPr>
          <a:xfrm>
            <a:off x="8163899" y="2125704"/>
            <a:ext cx="272393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400" b="1" dirty="0">
                <a:solidFill>
                  <a:srgbClr val="5C2A7F"/>
                </a:solidFill>
                <a:latin typeface="+mj-ea"/>
                <a:ea typeface="+mj-ea"/>
              </a:rPr>
              <a:t>业务能力的提升</a:t>
            </a:r>
            <a:endParaRPr lang="en-US" altLang="zh-CN" sz="2400" b="1" dirty="0">
              <a:solidFill>
                <a:srgbClr val="5C2A7F"/>
              </a:solidFill>
              <a:latin typeface="+mj-ea"/>
              <a:ea typeface="+mj-ea"/>
            </a:endParaRPr>
          </a:p>
        </p:txBody>
      </p:sp>
      <p:sp>
        <p:nvSpPr>
          <p:cNvPr id="10" name="燕尾形 9">
            <a:extLst>
              <a:ext uri="{FF2B5EF4-FFF2-40B4-BE49-F238E27FC236}">
                <a16:creationId xmlns:a16="http://schemas.microsoft.com/office/drawing/2014/main" id="{9E97801B-EE50-E812-078B-BB0AE2F24E3B}"/>
              </a:ext>
            </a:extLst>
          </p:cNvPr>
          <p:cNvSpPr/>
          <p:nvPr/>
        </p:nvSpPr>
        <p:spPr>
          <a:xfrm>
            <a:off x="5006645" y="3330430"/>
            <a:ext cx="484632" cy="484632"/>
          </a:xfrm>
          <a:prstGeom prst="chevron">
            <a:avLst/>
          </a:prstGeom>
          <a:solidFill>
            <a:srgbClr val="5C2A7F">
              <a:alpha val="6466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2" name="燕尾形 11">
            <a:extLst>
              <a:ext uri="{FF2B5EF4-FFF2-40B4-BE49-F238E27FC236}">
                <a16:creationId xmlns:a16="http://schemas.microsoft.com/office/drawing/2014/main" id="{6FBED830-46CC-73BB-7B2C-5D3F2F43A6A5}"/>
              </a:ext>
            </a:extLst>
          </p:cNvPr>
          <p:cNvSpPr/>
          <p:nvPr/>
        </p:nvSpPr>
        <p:spPr>
          <a:xfrm>
            <a:off x="5414417" y="3330430"/>
            <a:ext cx="484632" cy="484632"/>
          </a:xfrm>
          <a:prstGeom prst="chevron">
            <a:avLst/>
          </a:prstGeom>
          <a:solidFill>
            <a:srgbClr val="5C2A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EDB999B-917D-0582-606B-9C4C75546CC6}"/>
              </a:ext>
            </a:extLst>
          </p:cNvPr>
          <p:cNvSpPr txBox="1"/>
          <p:nvPr/>
        </p:nvSpPr>
        <p:spPr>
          <a:xfrm>
            <a:off x="2186510" y="3311136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b="1" dirty="0">
                <a:solidFill>
                  <a:srgbClr val="5C2A7F"/>
                </a:solidFill>
              </a:rPr>
              <a:t>自主催收体系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4B7C093-1679-F9D1-AD30-D61C13EFD8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6821" y="2941550"/>
            <a:ext cx="1285360" cy="128536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48FADFA8-7135-3DC6-64F7-006A3ECC15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2905" y="4354316"/>
            <a:ext cx="1053193" cy="1053193"/>
          </a:xfrm>
          <a:prstGeom prst="rect">
            <a:avLst/>
          </a:prstGeom>
        </p:spPr>
      </p:pic>
      <p:pic>
        <p:nvPicPr>
          <p:cNvPr id="20" name="图形 19" descr="上升趋势条形图 纯色填充">
            <a:extLst>
              <a:ext uri="{FF2B5EF4-FFF2-40B4-BE49-F238E27FC236}">
                <a16:creationId xmlns:a16="http://schemas.microsoft.com/office/drawing/2014/main" id="{903D3637-CB44-A10F-4623-988CB31D90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22905" y="1714264"/>
            <a:ext cx="1099880" cy="1099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225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E1083-DF4E-B20F-CADF-3069DA35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FB4F69A-0097-4325-1AA1-E5293150AE4C}"/>
              </a:ext>
            </a:extLst>
          </p:cNvPr>
          <p:cNvSpPr/>
          <p:nvPr/>
        </p:nvSpPr>
        <p:spPr>
          <a:xfrm>
            <a:off x="4511471" y="1180537"/>
            <a:ext cx="7680529" cy="2853091"/>
          </a:xfrm>
          <a:prstGeom prst="rect">
            <a:avLst/>
          </a:prstGeom>
          <a:solidFill>
            <a:srgbClr val="68318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7CAF5B1-8121-26F5-58D7-EF8DDC097B06}"/>
              </a:ext>
            </a:extLst>
          </p:cNvPr>
          <p:cNvSpPr/>
          <p:nvPr/>
        </p:nvSpPr>
        <p:spPr>
          <a:xfrm>
            <a:off x="4511472" y="1180537"/>
            <a:ext cx="7680528" cy="2853091"/>
          </a:xfrm>
          <a:prstGeom prst="rect">
            <a:avLst/>
          </a:prstGeom>
          <a:solidFill>
            <a:srgbClr val="68318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73147EE-B6FE-4367-F6EF-E971BCF540C9}"/>
              </a:ext>
            </a:extLst>
          </p:cNvPr>
          <p:cNvSpPr/>
          <p:nvPr/>
        </p:nvSpPr>
        <p:spPr>
          <a:xfrm>
            <a:off x="4511473" y="1180537"/>
            <a:ext cx="7680528" cy="2853091"/>
          </a:xfrm>
          <a:prstGeom prst="rect">
            <a:avLst/>
          </a:prstGeom>
          <a:solidFill>
            <a:srgbClr val="68318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054307E2-850E-63C1-4E40-F00C04C62F1B}"/>
              </a:ext>
            </a:extLst>
          </p:cNvPr>
          <p:cNvSpPr/>
          <p:nvPr/>
        </p:nvSpPr>
        <p:spPr>
          <a:xfrm>
            <a:off x="0" y="1180539"/>
            <a:ext cx="12192000" cy="2853090"/>
          </a:xfrm>
          <a:prstGeom prst="rect">
            <a:avLst/>
          </a:prstGeom>
          <a:solidFill>
            <a:srgbClr val="68318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5558C24-13B1-6605-3638-BD6224CA406D}"/>
              </a:ext>
            </a:extLst>
          </p:cNvPr>
          <p:cNvSpPr/>
          <p:nvPr/>
        </p:nvSpPr>
        <p:spPr>
          <a:xfrm>
            <a:off x="2612571" y="1180537"/>
            <a:ext cx="9579429" cy="2853091"/>
          </a:xfrm>
          <a:prstGeom prst="rect">
            <a:avLst/>
          </a:prstGeom>
          <a:solidFill>
            <a:srgbClr val="68318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CDD2050-2620-02F0-9859-2EB535707492}"/>
              </a:ext>
            </a:extLst>
          </p:cNvPr>
          <p:cNvSpPr txBox="1"/>
          <p:nvPr/>
        </p:nvSpPr>
        <p:spPr>
          <a:xfrm>
            <a:off x="723731" y="3113913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5C2A7F"/>
                </a:solidFill>
              </a:rPr>
              <a:t>粗放二分法</a:t>
            </a:r>
          </a:p>
        </p:txBody>
      </p:sp>
      <p:grpSp>
        <p:nvGrpSpPr>
          <p:cNvPr id="93" name="组合 92">
            <a:extLst>
              <a:ext uri="{FF2B5EF4-FFF2-40B4-BE49-F238E27FC236}">
                <a16:creationId xmlns:a16="http://schemas.microsoft.com/office/drawing/2014/main" id="{03D16AEA-A6A5-9A86-6D97-E69CFD2C236D}"/>
              </a:ext>
            </a:extLst>
          </p:cNvPr>
          <p:cNvGrpSpPr/>
          <p:nvPr/>
        </p:nvGrpSpPr>
        <p:grpSpPr>
          <a:xfrm>
            <a:off x="2264578" y="2375249"/>
            <a:ext cx="9800422" cy="1167400"/>
            <a:chOff x="2264578" y="1656973"/>
            <a:chExt cx="9800422" cy="1167400"/>
          </a:xfrm>
        </p:grpSpPr>
        <p:cxnSp>
          <p:nvCxnSpPr>
            <p:cNvPr id="5" name="直线箭头连接符 4">
              <a:extLst>
                <a:ext uri="{FF2B5EF4-FFF2-40B4-BE49-F238E27FC236}">
                  <a16:creationId xmlns:a16="http://schemas.microsoft.com/office/drawing/2014/main" id="{F7E6DFB1-EB59-CBCD-9906-F76AE11B71E2}"/>
                </a:ext>
              </a:extLst>
            </p:cNvPr>
            <p:cNvCxnSpPr>
              <a:cxnSpLocks/>
            </p:cNvCxnSpPr>
            <p:nvPr/>
          </p:nvCxnSpPr>
          <p:spPr>
            <a:xfrm>
              <a:off x="2612571" y="2608930"/>
              <a:ext cx="9452429" cy="0"/>
            </a:xfrm>
            <a:prstGeom prst="straightConnector1">
              <a:avLst/>
            </a:prstGeom>
            <a:ln w="31750">
              <a:solidFill>
                <a:srgbClr val="68318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线连接符 5">
              <a:extLst>
                <a:ext uri="{FF2B5EF4-FFF2-40B4-BE49-F238E27FC236}">
                  <a16:creationId xmlns:a16="http://schemas.microsoft.com/office/drawing/2014/main" id="{FC3FA474-947D-4EC1-2BF9-CB3C795D68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12571" y="2086415"/>
              <a:ext cx="0" cy="522515"/>
            </a:xfrm>
            <a:prstGeom prst="line">
              <a:avLst/>
            </a:prstGeom>
            <a:ln w="31750">
              <a:solidFill>
                <a:srgbClr val="68318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线连接符 6">
              <a:extLst>
                <a:ext uri="{FF2B5EF4-FFF2-40B4-BE49-F238E27FC236}">
                  <a16:creationId xmlns:a16="http://schemas.microsoft.com/office/drawing/2014/main" id="{0145C37A-010F-370D-526A-E93D2A7E74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11475" y="2086415"/>
              <a:ext cx="0" cy="522515"/>
            </a:xfrm>
            <a:prstGeom prst="line">
              <a:avLst/>
            </a:prstGeom>
            <a:ln w="31750">
              <a:solidFill>
                <a:srgbClr val="68318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线连接符 7">
              <a:extLst>
                <a:ext uri="{FF2B5EF4-FFF2-40B4-BE49-F238E27FC236}">
                  <a16:creationId xmlns:a16="http://schemas.microsoft.com/office/drawing/2014/main" id="{A2F649DC-BC2F-5509-ECAF-2AE95129A35A}"/>
                </a:ext>
              </a:extLst>
            </p:cNvPr>
            <p:cNvCxnSpPr/>
            <p:nvPr/>
          </p:nvCxnSpPr>
          <p:spPr>
            <a:xfrm flipV="1">
              <a:off x="2798064" y="2293110"/>
              <a:ext cx="0" cy="315820"/>
            </a:xfrm>
            <a:prstGeom prst="line">
              <a:avLst/>
            </a:prstGeom>
            <a:ln>
              <a:solidFill>
                <a:srgbClr val="68318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线连接符 8">
              <a:extLst>
                <a:ext uri="{FF2B5EF4-FFF2-40B4-BE49-F238E27FC236}">
                  <a16:creationId xmlns:a16="http://schemas.microsoft.com/office/drawing/2014/main" id="{7AD21EBD-9D71-4AF2-334E-22E45DFC0966}"/>
                </a:ext>
              </a:extLst>
            </p:cNvPr>
            <p:cNvCxnSpPr/>
            <p:nvPr/>
          </p:nvCxnSpPr>
          <p:spPr>
            <a:xfrm flipV="1">
              <a:off x="3270504" y="2293110"/>
              <a:ext cx="0" cy="315820"/>
            </a:xfrm>
            <a:prstGeom prst="line">
              <a:avLst/>
            </a:prstGeom>
            <a:ln>
              <a:solidFill>
                <a:srgbClr val="68318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F1BEF093-E5EB-6164-495C-9A627310500B}"/>
                </a:ext>
              </a:extLst>
            </p:cNvPr>
            <p:cNvSpPr txBox="1"/>
            <p:nvPr/>
          </p:nvSpPr>
          <p:spPr>
            <a:xfrm>
              <a:off x="2264578" y="2608929"/>
              <a:ext cx="47000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800" dirty="0">
                  <a:solidFill>
                    <a:srgbClr val="68318F"/>
                  </a:solidFill>
                </a:rPr>
                <a:t>DPD1</a:t>
              </a:r>
              <a:endParaRPr kumimoji="1" lang="zh-CN" altLang="en-US" sz="800" dirty="0">
                <a:solidFill>
                  <a:srgbClr val="68318F"/>
                </a:solidFill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500C6029-A707-A55F-381B-A6AB12BB325B}"/>
                </a:ext>
              </a:extLst>
            </p:cNvPr>
            <p:cNvSpPr txBox="1"/>
            <p:nvPr/>
          </p:nvSpPr>
          <p:spPr>
            <a:xfrm>
              <a:off x="2672869" y="2608929"/>
              <a:ext cx="25039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800" dirty="0">
                  <a:solidFill>
                    <a:srgbClr val="68318F"/>
                  </a:solidFill>
                </a:rPr>
                <a:t>4</a:t>
              </a:r>
              <a:endParaRPr kumimoji="1" lang="zh-CN" altLang="en-US" sz="800" dirty="0">
                <a:solidFill>
                  <a:srgbClr val="68318F"/>
                </a:solidFill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1E9B586E-9F64-DBA4-8F30-95228C617396}"/>
                </a:ext>
              </a:extLst>
            </p:cNvPr>
            <p:cNvSpPr txBox="1"/>
            <p:nvPr/>
          </p:nvSpPr>
          <p:spPr>
            <a:xfrm>
              <a:off x="3116767" y="2608929"/>
              <a:ext cx="31611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800" dirty="0">
                  <a:solidFill>
                    <a:srgbClr val="68318F"/>
                  </a:solidFill>
                </a:rPr>
                <a:t>10</a:t>
              </a:r>
              <a:endParaRPr kumimoji="1" lang="zh-CN" altLang="en-US" sz="800" dirty="0">
                <a:solidFill>
                  <a:srgbClr val="68318F"/>
                </a:solidFill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221E93C4-B3B3-4208-31C4-0AEFEF23158C}"/>
                </a:ext>
              </a:extLst>
            </p:cNvPr>
            <p:cNvSpPr txBox="1"/>
            <p:nvPr/>
          </p:nvSpPr>
          <p:spPr>
            <a:xfrm>
              <a:off x="4353419" y="2608929"/>
              <a:ext cx="31611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800" dirty="0">
                  <a:solidFill>
                    <a:srgbClr val="68318F"/>
                  </a:solidFill>
                </a:rPr>
                <a:t>31</a:t>
              </a:r>
              <a:endParaRPr kumimoji="1" lang="zh-CN" altLang="en-US" sz="800" dirty="0">
                <a:solidFill>
                  <a:srgbClr val="68318F"/>
                </a:solidFill>
              </a:endParaRP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FE368807-E858-B3E3-5F92-F4F4B10025E9}"/>
                </a:ext>
              </a:extLst>
            </p:cNvPr>
            <p:cNvSpPr txBox="1"/>
            <p:nvPr/>
          </p:nvSpPr>
          <p:spPr>
            <a:xfrm>
              <a:off x="3270504" y="1656973"/>
              <a:ext cx="5180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>
                  <a:solidFill>
                    <a:srgbClr val="68318F"/>
                  </a:solidFill>
                </a:rPr>
                <a:t>30-</a:t>
              </a:r>
              <a:endParaRPr kumimoji="1" lang="zh-CN" altLang="en-US" dirty="0">
                <a:solidFill>
                  <a:srgbClr val="68318F"/>
                </a:solidFill>
              </a:endParaRP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CAFAF2DF-A659-D799-06FE-555E24FDC90B}"/>
                </a:ext>
              </a:extLst>
            </p:cNvPr>
            <p:cNvSpPr txBox="1"/>
            <p:nvPr/>
          </p:nvSpPr>
          <p:spPr>
            <a:xfrm>
              <a:off x="6524807" y="1656973"/>
              <a:ext cx="5757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>
                  <a:solidFill>
                    <a:srgbClr val="68318F"/>
                  </a:solidFill>
                </a:rPr>
                <a:t>30+</a:t>
              </a:r>
              <a:endParaRPr kumimoji="1" lang="zh-CN" altLang="en-US" dirty="0">
                <a:solidFill>
                  <a:srgbClr val="68318F"/>
                </a:solidFill>
              </a:endParaRPr>
            </a:p>
          </p:txBody>
        </p:sp>
      </p:grpSp>
      <p:sp>
        <p:nvSpPr>
          <p:cNvPr id="43" name="Rectangle 6">
            <a:extLst>
              <a:ext uri="{FF2B5EF4-FFF2-40B4-BE49-F238E27FC236}">
                <a16:creationId xmlns:a16="http://schemas.microsoft.com/office/drawing/2014/main" id="{C156FABD-BD4A-CBB3-5074-846F1E01A011}"/>
              </a:ext>
            </a:extLst>
          </p:cNvPr>
          <p:cNvSpPr txBox="1">
            <a:spLocks/>
          </p:cNvSpPr>
          <p:nvPr/>
        </p:nvSpPr>
        <p:spPr>
          <a:xfrm>
            <a:off x="442911" y="200959"/>
            <a:ext cx="6081895" cy="598487"/>
          </a:xfrm>
          <a:prstGeom prst="rect">
            <a:avLst/>
          </a:prstGeom>
          <a:noFill/>
          <a:ln w="12700">
            <a:noFill/>
            <a:miter/>
          </a:ln>
        </p:spPr>
        <p:txBody>
          <a:bodyPr vert="horz" wrap="square" lIns="45720" tIns="45720" rIns="45720" bIns="45720" anchor="ctr" anchorCtr="0"/>
          <a:lstStyle>
            <a:lvl1pPr marL="0" lvl="0" indent="0" algn="l" defTabSz="91440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zh-CN" sz="4400" b="0" i="0" u="none" baseline="0">
                <a:solidFill>
                  <a:srgbClr val="000000"/>
                </a:solidFill>
                <a:latin typeface="Arial"/>
                <a:ea typeface="Arial"/>
              </a:defRPr>
            </a:lvl1pPr>
            <a:lvl2pPr lvl="1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2pPr>
            <a:lvl3pPr lvl="2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3pPr>
            <a:lvl4pPr lvl="3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4pPr>
            <a:lvl5pPr lvl="4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5pPr>
            <a:lvl6pPr marL="457200" lvl="5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6pPr>
            <a:lvl7pPr marL="914400" lvl="6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7pPr>
            <a:lvl8pPr marL="1371600" lvl="7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8pPr>
            <a:lvl9pPr marL="1828800" lvl="8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9pPr>
          </a:lstStyle>
          <a:p>
            <a:r>
              <a:rPr lang="zh-CN" altLang="en-US" sz="2800" dirty="0">
                <a:solidFill>
                  <a:srgbClr val="6931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业务能力的提升</a:t>
            </a:r>
            <a:r>
              <a:rPr lang="en-US" altLang="zh-CN" sz="2800" dirty="0">
                <a:solidFill>
                  <a:srgbClr val="6931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1——</a:t>
            </a:r>
            <a:r>
              <a:rPr lang="zh-CN" altLang="en-US" sz="2800" dirty="0">
                <a:solidFill>
                  <a:srgbClr val="6931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传统模式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7ECCA08-2B30-7817-B8D3-FC1DDB068642}"/>
              </a:ext>
            </a:extLst>
          </p:cNvPr>
          <p:cNvSpPr txBox="1"/>
          <p:nvPr/>
        </p:nvSpPr>
        <p:spPr>
          <a:xfrm>
            <a:off x="1069980" y="274458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68318F"/>
                </a:solidFill>
              </a:rPr>
              <a:t>之前</a:t>
            </a:r>
            <a:endParaRPr kumimoji="1" lang="en-US" altLang="zh-CN" dirty="0">
              <a:solidFill>
                <a:srgbClr val="68318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13101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4DCF1-89F9-8151-27C5-DE6E02A79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矩形 85">
            <a:extLst>
              <a:ext uri="{FF2B5EF4-FFF2-40B4-BE49-F238E27FC236}">
                <a16:creationId xmlns:a16="http://schemas.microsoft.com/office/drawing/2014/main" id="{142BB752-E9F3-C50E-AC15-A5EFA1765129}"/>
              </a:ext>
            </a:extLst>
          </p:cNvPr>
          <p:cNvSpPr/>
          <p:nvPr/>
        </p:nvSpPr>
        <p:spPr>
          <a:xfrm>
            <a:off x="0" y="1180539"/>
            <a:ext cx="12192000" cy="2665749"/>
          </a:xfrm>
          <a:prstGeom prst="rect">
            <a:avLst/>
          </a:prstGeom>
          <a:solidFill>
            <a:srgbClr val="68318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C964C3D-40FB-7504-238A-61CC62AE1ED0}"/>
              </a:ext>
            </a:extLst>
          </p:cNvPr>
          <p:cNvSpPr/>
          <p:nvPr/>
        </p:nvSpPr>
        <p:spPr>
          <a:xfrm>
            <a:off x="2612571" y="1180537"/>
            <a:ext cx="9579429" cy="2665749"/>
          </a:xfrm>
          <a:prstGeom prst="rect">
            <a:avLst/>
          </a:prstGeom>
          <a:solidFill>
            <a:srgbClr val="68318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EDB8C98-22C3-F7EF-8A6D-369B5947613B}"/>
              </a:ext>
            </a:extLst>
          </p:cNvPr>
          <p:cNvSpPr/>
          <p:nvPr/>
        </p:nvSpPr>
        <p:spPr>
          <a:xfrm>
            <a:off x="4511472" y="1185646"/>
            <a:ext cx="7680528" cy="2663147"/>
          </a:xfrm>
          <a:prstGeom prst="rect">
            <a:avLst/>
          </a:prstGeom>
          <a:solidFill>
            <a:srgbClr val="68318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E9DC026-620E-77DC-9F6E-E21A3C7685CC}"/>
              </a:ext>
            </a:extLst>
          </p:cNvPr>
          <p:cNvSpPr/>
          <p:nvPr/>
        </p:nvSpPr>
        <p:spPr>
          <a:xfrm>
            <a:off x="6362866" y="1190754"/>
            <a:ext cx="5829133" cy="2663147"/>
          </a:xfrm>
          <a:prstGeom prst="rect">
            <a:avLst/>
          </a:prstGeom>
          <a:solidFill>
            <a:srgbClr val="68318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5886434-F14F-9791-C87E-C929F4D8E604}"/>
              </a:ext>
            </a:extLst>
          </p:cNvPr>
          <p:cNvSpPr/>
          <p:nvPr/>
        </p:nvSpPr>
        <p:spPr>
          <a:xfrm>
            <a:off x="9101299" y="1190754"/>
            <a:ext cx="3090701" cy="2660547"/>
          </a:xfrm>
          <a:prstGeom prst="rect">
            <a:avLst/>
          </a:prstGeom>
          <a:solidFill>
            <a:srgbClr val="68318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93" name="组合 92">
            <a:extLst>
              <a:ext uri="{FF2B5EF4-FFF2-40B4-BE49-F238E27FC236}">
                <a16:creationId xmlns:a16="http://schemas.microsoft.com/office/drawing/2014/main" id="{9A11F7B7-8779-9387-2B44-81EBF55C71FB}"/>
              </a:ext>
            </a:extLst>
          </p:cNvPr>
          <p:cNvGrpSpPr/>
          <p:nvPr/>
        </p:nvGrpSpPr>
        <p:grpSpPr>
          <a:xfrm>
            <a:off x="2264578" y="2339661"/>
            <a:ext cx="9800422" cy="1167400"/>
            <a:chOff x="2264578" y="1656973"/>
            <a:chExt cx="9800422" cy="1167400"/>
          </a:xfrm>
        </p:grpSpPr>
        <p:cxnSp>
          <p:nvCxnSpPr>
            <p:cNvPr id="5" name="直线箭头连接符 4">
              <a:extLst>
                <a:ext uri="{FF2B5EF4-FFF2-40B4-BE49-F238E27FC236}">
                  <a16:creationId xmlns:a16="http://schemas.microsoft.com/office/drawing/2014/main" id="{F14F17FC-0456-894D-7080-F48C77CA7914}"/>
                </a:ext>
              </a:extLst>
            </p:cNvPr>
            <p:cNvCxnSpPr>
              <a:cxnSpLocks/>
            </p:cNvCxnSpPr>
            <p:nvPr/>
          </p:nvCxnSpPr>
          <p:spPr>
            <a:xfrm>
              <a:off x="2612571" y="2608930"/>
              <a:ext cx="9452429" cy="0"/>
            </a:xfrm>
            <a:prstGeom prst="straightConnector1">
              <a:avLst/>
            </a:prstGeom>
            <a:ln w="31750">
              <a:solidFill>
                <a:srgbClr val="68318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线连接符 5">
              <a:extLst>
                <a:ext uri="{FF2B5EF4-FFF2-40B4-BE49-F238E27FC236}">
                  <a16:creationId xmlns:a16="http://schemas.microsoft.com/office/drawing/2014/main" id="{8F25D3AD-9F15-1500-7271-BA0157A59C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12571" y="2086415"/>
              <a:ext cx="0" cy="522515"/>
            </a:xfrm>
            <a:prstGeom prst="line">
              <a:avLst/>
            </a:prstGeom>
            <a:ln w="31750">
              <a:solidFill>
                <a:srgbClr val="68318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线连接符 6">
              <a:extLst>
                <a:ext uri="{FF2B5EF4-FFF2-40B4-BE49-F238E27FC236}">
                  <a16:creationId xmlns:a16="http://schemas.microsoft.com/office/drawing/2014/main" id="{7F58E739-6A29-22D3-B1B9-C860E4E38A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11475" y="2086415"/>
              <a:ext cx="0" cy="522515"/>
            </a:xfrm>
            <a:prstGeom prst="line">
              <a:avLst/>
            </a:prstGeom>
            <a:ln w="31750">
              <a:solidFill>
                <a:srgbClr val="68318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线连接符 7">
              <a:extLst>
                <a:ext uri="{FF2B5EF4-FFF2-40B4-BE49-F238E27FC236}">
                  <a16:creationId xmlns:a16="http://schemas.microsoft.com/office/drawing/2014/main" id="{F7A84C7D-2C74-6BEA-0BE1-38DBBF8C5289}"/>
                </a:ext>
              </a:extLst>
            </p:cNvPr>
            <p:cNvCxnSpPr/>
            <p:nvPr/>
          </p:nvCxnSpPr>
          <p:spPr>
            <a:xfrm flipV="1">
              <a:off x="2798064" y="2293110"/>
              <a:ext cx="0" cy="315820"/>
            </a:xfrm>
            <a:prstGeom prst="line">
              <a:avLst/>
            </a:prstGeom>
            <a:ln>
              <a:solidFill>
                <a:srgbClr val="68318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线连接符 8">
              <a:extLst>
                <a:ext uri="{FF2B5EF4-FFF2-40B4-BE49-F238E27FC236}">
                  <a16:creationId xmlns:a16="http://schemas.microsoft.com/office/drawing/2014/main" id="{32250E04-1AB7-EA7C-90DD-96022C453BEC}"/>
                </a:ext>
              </a:extLst>
            </p:cNvPr>
            <p:cNvCxnSpPr/>
            <p:nvPr/>
          </p:nvCxnSpPr>
          <p:spPr>
            <a:xfrm flipV="1">
              <a:off x="3270504" y="2293110"/>
              <a:ext cx="0" cy="315820"/>
            </a:xfrm>
            <a:prstGeom prst="line">
              <a:avLst/>
            </a:prstGeom>
            <a:ln>
              <a:solidFill>
                <a:srgbClr val="68318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线连接符 9">
              <a:extLst>
                <a:ext uri="{FF2B5EF4-FFF2-40B4-BE49-F238E27FC236}">
                  <a16:creationId xmlns:a16="http://schemas.microsoft.com/office/drawing/2014/main" id="{64A413A0-022D-3530-5E5B-0F1D806E32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29440" y="2293110"/>
              <a:ext cx="0" cy="315820"/>
            </a:xfrm>
            <a:prstGeom prst="line">
              <a:avLst/>
            </a:prstGeom>
            <a:ln>
              <a:solidFill>
                <a:srgbClr val="68318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线连接符 10">
              <a:extLst>
                <a:ext uri="{FF2B5EF4-FFF2-40B4-BE49-F238E27FC236}">
                  <a16:creationId xmlns:a16="http://schemas.microsoft.com/office/drawing/2014/main" id="{AFB651C3-DF59-1204-161A-DE16246E90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47405" y="2293110"/>
              <a:ext cx="0" cy="315820"/>
            </a:xfrm>
            <a:prstGeom prst="line">
              <a:avLst/>
            </a:prstGeom>
            <a:ln>
              <a:solidFill>
                <a:srgbClr val="68318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线连接符 16">
              <a:extLst>
                <a:ext uri="{FF2B5EF4-FFF2-40B4-BE49-F238E27FC236}">
                  <a16:creationId xmlns:a16="http://schemas.microsoft.com/office/drawing/2014/main" id="{EFAFD2F9-0B8A-9C48-F908-B3793C5B9D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65370" y="2293110"/>
              <a:ext cx="0" cy="315820"/>
            </a:xfrm>
            <a:prstGeom prst="line">
              <a:avLst/>
            </a:prstGeom>
            <a:ln>
              <a:solidFill>
                <a:srgbClr val="68318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0BDD80BA-506D-92BC-1F6A-8B7C129ED83E}"/>
                </a:ext>
              </a:extLst>
            </p:cNvPr>
            <p:cNvSpPr txBox="1"/>
            <p:nvPr/>
          </p:nvSpPr>
          <p:spPr>
            <a:xfrm>
              <a:off x="2264578" y="2608929"/>
              <a:ext cx="47000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800" dirty="0">
                  <a:solidFill>
                    <a:srgbClr val="68318F"/>
                  </a:solidFill>
                </a:rPr>
                <a:t>DPD1</a:t>
              </a:r>
              <a:endParaRPr kumimoji="1" lang="zh-CN" altLang="en-US" sz="800" dirty="0">
                <a:solidFill>
                  <a:srgbClr val="68318F"/>
                </a:solidFill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930B3165-1505-1A55-2CD7-609848F8B987}"/>
                </a:ext>
              </a:extLst>
            </p:cNvPr>
            <p:cNvSpPr txBox="1"/>
            <p:nvPr/>
          </p:nvSpPr>
          <p:spPr>
            <a:xfrm>
              <a:off x="2672869" y="2608929"/>
              <a:ext cx="25039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800" dirty="0">
                  <a:solidFill>
                    <a:srgbClr val="68318F"/>
                  </a:solidFill>
                </a:rPr>
                <a:t>4</a:t>
              </a:r>
              <a:endParaRPr kumimoji="1" lang="zh-CN" altLang="en-US" sz="800" dirty="0">
                <a:solidFill>
                  <a:srgbClr val="68318F"/>
                </a:solidFill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719DFC03-0C16-DB6D-DA80-E79910051A59}"/>
                </a:ext>
              </a:extLst>
            </p:cNvPr>
            <p:cNvSpPr txBox="1"/>
            <p:nvPr/>
          </p:nvSpPr>
          <p:spPr>
            <a:xfrm>
              <a:off x="3116767" y="2608929"/>
              <a:ext cx="31611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800" dirty="0">
                  <a:solidFill>
                    <a:srgbClr val="68318F"/>
                  </a:solidFill>
                </a:rPr>
                <a:t>10</a:t>
              </a:r>
              <a:endParaRPr kumimoji="1" lang="zh-CN" altLang="en-US" sz="800" dirty="0">
                <a:solidFill>
                  <a:srgbClr val="68318F"/>
                </a:solidFill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5D988A21-6255-3B0D-0ADA-DBF45491EAFA}"/>
                </a:ext>
              </a:extLst>
            </p:cNvPr>
            <p:cNvSpPr txBox="1"/>
            <p:nvPr/>
          </p:nvSpPr>
          <p:spPr>
            <a:xfrm>
              <a:off x="4353419" y="2608929"/>
              <a:ext cx="31611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800" dirty="0">
                  <a:solidFill>
                    <a:srgbClr val="68318F"/>
                  </a:solidFill>
                </a:rPr>
                <a:t>31</a:t>
              </a:r>
              <a:endParaRPr kumimoji="1" lang="zh-CN" altLang="en-US" sz="800" dirty="0">
                <a:solidFill>
                  <a:srgbClr val="68318F"/>
                </a:solidFill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DFF60F0E-6344-9D2A-036D-605034AE45C7}"/>
                </a:ext>
              </a:extLst>
            </p:cNvPr>
            <p:cNvSpPr txBox="1"/>
            <p:nvPr/>
          </p:nvSpPr>
          <p:spPr>
            <a:xfrm>
              <a:off x="5271383" y="2608929"/>
              <a:ext cx="31611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800" dirty="0">
                  <a:solidFill>
                    <a:srgbClr val="68318F"/>
                  </a:solidFill>
                </a:rPr>
                <a:t>61</a:t>
              </a:r>
              <a:endParaRPr kumimoji="1" lang="zh-CN" altLang="en-US" sz="800" dirty="0">
                <a:solidFill>
                  <a:srgbClr val="68318F"/>
                </a:solidFill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993F316D-FDC6-C3A0-DCD4-B52398A9E1E4}"/>
                </a:ext>
              </a:extLst>
            </p:cNvPr>
            <p:cNvSpPr txBox="1"/>
            <p:nvPr/>
          </p:nvSpPr>
          <p:spPr>
            <a:xfrm>
              <a:off x="6186772" y="2608929"/>
              <a:ext cx="31611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800" dirty="0">
                  <a:solidFill>
                    <a:srgbClr val="68318F"/>
                  </a:solidFill>
                </a:rPr>
                <a:t>91</a:t>
              </a:r>
              <a:endParaRPr kumimoji="1" lang="zh-CN" altLang="en-US" sz="800" dirty="0">
                <a:solidFill>
                  <a:srgbClr val="68318F"/>
                </a:solidFill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C612A4ED-90D5-672F-271A-6164D37FE96B}"/>
                </a:ext>
              </a:extLst>
            </p:cNvPr>
            <p:cNvSpPr txBox="1"/>
            <p:nvPr/>
          </p:nvSpPr>
          <p:spPr>
            <a:xfrm>
              <a:off x="7071876" y="2608929"/>
              <a:ext cx="38183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800" dirty="0">
                  <a:solidFill>
                    <a:srgbClr val="68318F"/>
                  </a:solidFill>
                </a:rPr>
                <a:t>121</a:t>
              </a:r>
              <a:endParaRPr kumimoji="1" lang="zh-CN" altLang="en-US" sz="800" dirty="0">
                <a:solidFill>
                  <a:srgbClr val="68318F"/>
                </a:solidFill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250B7B1C-0EC0-A7F8-6039-4829DF3DA710}"/>
                </a:ext>
              </a:extLst>
            </p:cNvPr>
            <p:cNvSpPr txBox="1"/>
            <p:nvPr/>
          </p:nvSpPr>
          <p:spPr>
            <a:xfrm>
              <a:off x="8910381" y="2608929"/>
              <a:ext cx="38183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800" dirty="0">
                  <a:solidFill>
                    <a:srgbClr val="68318F"/>
                  </a:solidFill>
                </a:rPr>
                <a:t>181</a:t>
              </a:r>
              <a:endParaRPr kumimoji="1" lang="zh-CN" altLang="en-US" sz="800" dirty="0">
                <a:solidFill>
                  <a:srgbClr val="68318F"/>
                </a:solidFill>
              </a:endParaRPr>
            </a:p>
          </p:txBody>
        </p:sp>
        <p:cxnSp>
          <p:nvCxnSpPr>
            <p:cNvPr id="26" name="直线连接符 25">
              <a:extLst>
                <a:ext uri="{FF2B5EF4-FFF2-40B4-BE49-F238E27FC236}">
                  <a16:creationId xmlns:a16="http://schemas.microsoft.com/office/drawing/2014/main" id="{442C642D-F373-CA28-E989-19AC866E91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01299" y="2086415"/>
              <a:ext cx="0" cy="522515"/>
            </a:xfrm>
            <a:prstGeom prst="line">
              <a:avLst/>
            </a:prstGeom>
            <a:ln w="31750">
              <a:solidFill>
                <a:srgbClr val="68318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B286384E-7506-D6CE-C5EF-088A4ADB7E56}"/>
                </a:ext>
              </a:extLst>
            </p:cNvPr>
            <p:cNvSpPr txBox="1"/>
            <p:nvPr/>
          </p:nvSpPr>
          <p:spPr>
            <a:xfrm>
              <a:off x="3270504" y="1656973"/>
              <a:ext cx="5261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>
                  <a:solidFill>
                    <a:srgbClr val="68318F"/>
                  </a:solidFill>
                </a:rPr>
                <a:t>M1</a:t>
              </a:r>
              <a:endParaRPr kumimoji="1" lang="zh-CN" altLang="en-US" dirty="0">
                <a:solidFill>
                  <a:srgbClr val="68318F"/>
                </a:solidFill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5F9C827F-5EF6-6225-3827-1A13DC3DFD4E}"/>
                </a:ext>
              </a:extLst>
            </p:cNvPr>
            <p:cNvSpPr txBox="1"/>
            <p:nvPr/>
          </p:nvSpPr>
          <p:spPr>
            <a:xfrm>
              <a:off x="4669531" y="1656973"/>
              <a:ext cx="5261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>
                  <a:solidFill>
                    <a:srgbClr val="68318F"/>
                  </a:solidFill>
                </a:rPr>
                <a:t>M2</a:t>
              </a:r>
              <a:endParaRPr kumimoji="1" lang="zh-CN" altLang="en-US" dirty="0">
                <a:solidFill>
                  <a:srgbClr val="68318F"/>
                </a:solidFill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5919958C-28E8-26F8-BAEF-1B4D323C7C23}"/>
                </a:ext>
              </a:extLst>
            </p:cNvPr>
            <p:cNvSpPr txBox="1"/>
            <p:nvPr/>
          </p:nvSpPr>
          <p:spPr>
            <a:xfrm>
              <a:off x="5609419" y="1656973"/>
              <a:ext cx="5261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>
                  <a:solidFill>
                    <a:srgbClr val="68318F"/>
                  </a:solidFill>
                </a:rPr>
                <a:t>M3</a:t>
              </a:r>
              <a:endParaRPr kumimoji="1" lang="zh-CN" altLang="en-US" dirty="0">
                <a:solidFill>
                  <a:srgbClr val="68318F"/>
                </a:solidFill>
              </a:endParaRP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A0417826-C2B6-394E-39C5-F1174039FFDE}"/>
                </a:ext>
              </a:extLst>
            </p:cNvPr>
            <p:cNvSpPr txBox="1"/>
            <p:nvPr/>
          </p:nvSpPr>
          <p:spPr>
            <a:xfrm>
              <a:off x="6524807" y="1656973"/>
              <a:ext cx="5261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>
                  <a:solidFill>
                    <a:srgbClr val="68318F"/>
                  </a:solidFill>
                </a:rPr>
                <a:t>M4</a:t>
              </a:r>
              <a:endParaRPr kumimoji="1" lang="zh-CN" altLang="en-US" dirty="0">
                <a:solidFill>
                  <a:srgbClr val="68318F"/>
                </a:solidFill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3C85715D-AE3B-901B-F5AB-C757EE9B212E}"/>
                </a:ext>
              </a:extLst>
            </p:cNvPr>
            <p:cNvSpPr txBox="1"/>
            <p:nvPr/>
          </p:nvSpPr>
          <p:spPr>
            <a:xfrm>
              <a:off x="7895324" y="1656973"/>
              <a:ext cx="7777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>
                  <a:solidFill>
                    <a:srgbClr val="68318F"/>
                  </a:solidFill>
                </a:rPr>
                <a:t>M5-6</a:t>
              </a:r>
              <a:endParaRPr kumimoji="1" lang="zh-CN" altLang="en-US" dirty="0">
                <a:solidFill>
                  <a:srgbClr val="68318F"/>
                </a:solidFill>
              </a:endParaRP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E56853EF-B420-335F-E7EB-3633F7EA294B}"/>
                </a:ext>
              </a:extLst>
            </p:cNvPr>
            <p:cNvSpPr txBox="1"/>
            <p:nvPr/>
          </p:nvSpPr>
          <p:spPr>
            <a:xfrm>
              <a:off x="9381107" y="1656973"/>
              <a:ext cx="7152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>
                  <a:solidFill>
                    <a:srgbClr val="68318F"/>
                  </a:solidFill>
                </a:rPr>
                <a:t>M6+</a:t>
              </a:r>
              <a:endParaRPr kumimoji="1" lang="zh-CN" altLang="en-US" dirty="0">
                <a:solidFill>
                  <a:srgbClr val="68318F"/>
                </a:solidFill>
              </a:endParaRPr>
            </a:p>
          </p:txBody>
        </p:sp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DB05D5F8-DED9-E10D-4263-919E7658B949}"/>
              </a:ext>
            </a:extLst>
          </p:cNvPr>
          <p:cNvSpPr txBox="1"/>
          <p:nvPr/>
        </p:nvSpPr>
        <p:spPr>
          <a:xfrm>
            <a:off x="2730042" y="1588243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69318F"/>
                </a:solidFill>
              </a:rPr>
              <a:t>控流失，省成本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5514872C-5562-F14D-CD4D-693904339270}"/>
              </a:ext>
            </a:extLst>
          </p:cNvPr>
          <p:cNvSpPr txBox="1"/>
          <p:nvPr/>
        </p:nvSpPr>
        <p:spPr>
          <a:xfrm>
            <a:off x="4634196" y="1588243"/>
            <a:ext cx="1729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rgbClr val="69318F"/>
                </a:solidFill>
              </a:rPr>
              <a:t>90+</a:t>
            </a:r>
            <a:r>
              <a:rPr kumimoji="1" lang="zh-CN" altLang="en-US" b="1" dirty="0">
                <a:solidFill>
                  <a:srgbClr val="69318F"/>
                </a:solidFill>
              </a:rPr>
              <a:t>不良的防守</a:t>
            </a: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8D72F09E-ADD2-65E6-59DE-BB2F04B80A17}"/>
              </a:ext>
            </a:extLst>
          </p:cNvPr>
          <p:cNvSpPr txBox="1"/>
          <p:nvPr/>
        </p:nvSpPr>
        <p:spPr>
          <a:xfrm>
            <a:off x="6787860" y="1588243"/>
            <a:ext cx="1729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rgbClr val="69318F"/>
                </a:solidFill>
              </a:rPr>
              <a:t>90+</a:t>
            </a:r>
            <a:r>
              <a:rPr kumimoji="1" lang="zh-CN" altLang="en-US" b="1" dirty="0">
                <a:solidFill>
                  <a:srgbClr val="69318F"/>
                </a:solidFill>
              </a:rPr>
              <a:t>不良的压降</a:t>
            </a: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63CA7EFA-5207-8627-9D51-8E41206BBE10}"/>
              </a:ext>
            </a:extLst>
          </p:cNvPr>
          <p:cNvSpPr txBox="1"/>
          <p:nvPr/>
        </p:nvSpPr>
        <p:spPr>
          <a:xfrm>
            <a:off x="9101298" y="1588243"/>
            <a:ext cx="3114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rgbClr val="69318F"/>
                </a:solidFill>
              </a:rPr>
              <a:t>90+</a:t>
            </a:r>
            <a:r>
              <a:rPr kumimoji="1" lang="zh-CN" altLang="en-US" b="1" dirty="0">
                <a:solidFill>
                  <a:srgbClr val="69318F"/>
                </a:solidFill>
              </a:rPr>
              <a:t>不良的进一步压降、创利</a:t>
            </a: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65E956D5-6C86-AD2D-21D7-921DE70502B7}"/>
              </a:ext>
            </a:extLst>
          </p:cNvPr>
          <p:cNvSpPr txBox="1"/>
          <p:nvPr/>
        </p:nvSpPr>
        <p:spPr>
          <a:xfrm>
            <a:off x="413117" y="1628693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5C2A7F"/>
                </a:solidFill>
              </a:rPr>
              <a:t>明确各阶段使命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85AF0AF5-50D5-6891-71A3-0E24E3376B0C}"/>
              </a:ext>
            </a:extLst>
          </p:cNvPr>
          <p:cNvSpPr/>
          <p:nvPr/>
        </p:nvSpPr>
        <p:spPr>
          <a:xfrm>
            <a:off x="0" y="5830260"/>
            <a:ext cx="12192000" cy="557993"/>
          </a:xfrm>
          <a:prstGeom prst="rect">
            <a:avLst/>
          </a:prstGeom>
          <a:solidFill>
            <a:srgbClr val="5C2A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资产走势平稳向好</a:t>
            </a:r>
          </a:p>
        </p:txBody>
      </p:sp>
      <p:sp>
        <p:nvSpPr>
          <p:cNvPr id="82" name="Rectangle 6">
            <a:extLst>
              <a:ext uri="{FF2B5EF4-FFF2-40B4-BE49-F238E27FC236}">
                <a16:creationId xmlns:a16="http://schemas.microsoft.com/office/drawing/2014/main" id="{7020ED9C-2026-02F1-7DAA-D65A7C06F1BE}"/>
              </a:ext>
            </a:extLst>
          </p:cNvPr>
          <p:cNvSpPr txBox="1">
            <a:spLocks/>
          </p:cNvSpPr>
          <p:nvPr/>
        </p:nvSpPr>
        <p:spPr>
          <a:xfrm>
            <a:off x="442911" y="200959"/>
            <a:ext cx="7010801" cy="598487"/>
          </a:xfrm>
          <a:prstGeom prst="rect">
            <a:avLst/>
          </a:prstGeom>
          <a:noFill/>
          <a:ln w="12700">
            <a:noFill/>
            <a:miter/>
          </a:ln>
        </p:spPr>
        <p:txBody>
          <a:bodyPr vert="horz" wrap="square" lIns="45720" tIns="45720" rIns="45720" bIns="45720" anchor="ctr" anchorCtr="0"/>
          <a:lstStyle>
            <a:lvl1pPr marL="0" lvl="0" indent="0" algn="l" defTabSz="91440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zh-CN" sz="4400" b="0" i="0" u="none" baseline="0">
                <a:solidFill>
                  <a:srgbClr val="000000"/>
                </a:solidFill>
                <a:latin typeface="Arial"/>
                <a:ea typeface="Arial"/>
              </a:defRPr>
            </a:lvl1pPr>
            <a:lvl2pPr lvl="1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2pPr>
            <a:lvl3pPr lvl="2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3pPr>
            <a:lvl4pPr lvl="3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4pPr>
            <a:lvl5pPr lvl="4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5pPr>
            <a:lvl6pPr marL="457200" lvl="5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6pPr>
            <a:lvl7pPr marL="914400" lvl="6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7pPr>
            <a:lvl8pPr marL="1371600" lvl="7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8pPr>
            <a:lvl9pPr marL="1828800" lvl="8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9pPr>
          </a:lstStyle>
          <a:p>
            <a:r>
              <a:rPr lang="zh-CN" altLang="en-US" sz="2800" dirty="0">
                <a:solidFill>
                  <a:srgbClr val="6931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业务能力的提升</a:t>
            </a:r>
            <a:r>
              <a:rPr lang="en-US" altLang="zh-CN" sz="2800" dirty="0">
                <a:solidFill>
                  <a:srgbClr val="6931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1.0——</a:t>
            </a:r>
            <a:r>
              <a:rPr lang="zh-CN" altLang="en-US" sz="2800" dirty="0">
                <a:solidFill>
                  <a:srgbClr val="6931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传统模式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8C37C3D-E449-2A9A-5D8D-40A82281D533}"/>
              </a:ext>
            </a:extLst>
          </p:cNvPr>
          <p:cNvSpPr txBox="1"/>
          <p:nvPr/>
        </p:nvSpPr>
        <p:spPr>
          <a:xfrm>
            <a:off x="491133" y="3113913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5C2A7F"/>
                </a:solidFill>
              </a:rPr>
              <a:t>多阶段管理体系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C29735D-182D-9CE5-3D95-9C60B811CC16}"/>
              </a:ext>
            </a:extLst>
          </p:cNvPr>
          <p:cNvSpPr txBox="1"/>
          <p:nvPr/>
        </p:nvSpPr>
        <p:spPr>
          <a:xfrm>
            <a:off x="1069980" y="274458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68318F"/>
                </a:solidFill>
              </a:rPr>
              <a:t>目前</a:t>
            </a:r>
            <a:endParaRPr kumimoji="1" lang="en-US" altLang="zh-CN" dirty="0">
              <a:solidFill>
                <a:srgbClr val="68318F"/>
              </a:solidFill>
            </a:endParaRPr>
          </a:p>
        </p:txBody>
      </p:sp>
      <p:grpSp>
        <p:nvGrpSpPr>
          <p:cNvPr id="105" name="组合 104">
            <a:extLst>
              <a:ext uri="{FF2B5EF4-FFF2-40B4-BE49-F238E27FC236}">
                <a16:creationId xmlns:a16="http://schemas.microsoft.com/office/drawing/2014/main" id="{85DE55F9-0013-BCB1-72E4-E6E60920F143}"/>
              </a:ext>
            </a:extLst>
          </p:cNvPr>
          <p:cNvGrpSpPr/>
          <p:nvPr/>
        </p:nvGrpSpPr>
        <p:grpSpPr>
          <a:xfrm>
            <a:off x="1293185" y="4215618"/>
            <a:ext cx="9894476" cy="1311997"/>
            <a:chOff x="1293185" y="4215618"/>
            <a:chExt cx="9894476" cy="1311997"/>
          </a:xfrm>
        </p:grpSpPr>
        <p:cxnSp>
          <p:nvCxnSpPr>
            <p:cNvPr id="60" name="稿定-1">
              <a:extLst>
                <a:ext uri="{FF2B5EF4-FFF2-40B4-BE49-F238E27FC236}">
                  <a16:creationId xmlns:a16="http://schemas.microsoft.com/office/drawing/2014/main" id="{C2BFAA40-01D8-DE21-2688-2F7B669467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04808" y="4741855"/>
              <a:ext cx="0" cy="54000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稿定-3">
              <a:extLst>
                <a:ext uri="{FF2B5EF4-FFF2-40B4-BE49-F238E27FC236}">
                  <a16:creationId xmlns:a16="http://schemas.microsoft.com/office/drawing/2014/main" id="{E97680F9-878E-4833-6902-2826898443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01811" y="4741855"/>
              <a:ext cx="0" cy="54000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稿定-4">
              <a:extLst>
                <a:ext uri="{FF2B5EF4-FFF2-40B4-BE49-F238E27FC236}">
                  <a16:creationId xmlns:a16="http://schemas.microsoft.com/office/drawing/2014/main" id="{21ECF4F9-84D6-82CE-23B6-8BEA1BDA6D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05060" y="4741854"/>
              <a:ext cx="0" cy="310768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稿定-6">
              <a:extLst>
                <a:ext uri="{FF2B5EF4-FFF2-40B4-BE49-F238E27FC236}">
                  <a16:creationId xmlns:a16="http://schemas.microsoft.com/office/drawing/2014/main" id="{4CC61D06-F7E2-BA89-2C89-0AE07D83F2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95814" y="4741854"/>
              <a:ext cx="0" cy="310768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稿定-7">
              <a:extLst>
                <a:ext uri="{FF2B5EF4-FFF2-40B4-BE49-F238E27FC236}">
                  <a16:creationId xmlns:a16="http://schemas.microsoft.com/office/drawing/2014/main" id="{FF66E3C8-4B84-D121-EC62-2A565C2790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36148" y="4741854"/>
              <a:ext cx="0" cy="310768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稿定-8">
              <a:extLst>
                <a:ext uri="{FF2B5EF4-FFF2-40B4-BE49-F238E27FC236}">
                  <a16:creationId xmlns:a16="http://schemas.microsoft.com/office/drawing/2014/main" id="{3FA310EC-CB74-3794-8FC9-BDC7D1E2BF0C}"/>
                </a:ext>
              </a:extLst>
            </p:cNvPr>
            <p:cNvSpPr/>
            <p:nvPr/>
          </p:nvSpPr>
          <p:spPr bwMode="auto">
            <a:xfrm>
              <a:off x="1293185" y="4215618"/>
              <a:ext cx="9605630" cy="526235"/>
            </a:xfrm>
            <a:prstGeom prst="chevron">
              <a:avLst>
                <a:gd name="adj" fmla="val 49391"/>
              </a:avLst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600" b="1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83" name="稿定-9">
              <a:extLst>
                <a:ext uri="{FF2B5EF4-FFF2-40B4-BE49-F238E27FC236}">
                  <a16:creationId xmlns:a16="http://schemas.microsoft.com/office/drawing/2014/main" id="{BEE38F2F-113D-BE5B-EFB3-B6A4453DF740}"/>
                </a:ext>
              </a:extLst>
            </p:cNvPr>
            <p:cNvSpPr/>
            <p:nvPr/>
          </p:nvSpPr>
          <p:spPr>
            <a:xfrm flipH="1">
              <a:off x="1405058" y="4974871"/>
              <a:ext cx="1841098" cy="245760"/>
            </a:xfrm>
            <a:prstGeom prst="rect">
              <a:avLst/>
            </a:prstGeom>
          </p:spPr>
          <p:txBody>
            <a:bodyPr wrap="square" lIns="0" tIns="0" rIns="0" bIns="0" anchor="ctr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 b="1" dirty="0">
                  <a:solidFill>
                    <a:srgbClr val="5C2A7F"/>
                  </a:solidFill>
                  <a:cs typeface="+mn-ea"/>
                  <a:sym typeface="+mn-lt"/>
                </a:rPr>
                <a:t>了解并分析原有业务模式</a:t>
              </a:r>
              <a:endParaRPr lang="en-US" sz="1200" b="1" dirty="0">
                <a:solidFill>
                  <a:srgbClr val="5C2A7F"/>
                </a:solidFill>
                <a:cs typeface="+mn-ea"/>
                <a:sym typeface="+mn-lt"/>
              </a:endParaRPr>
            </a:p>
          </p:txBody>
        </p:sp>
        <p:sp>
          <p:nvSpPr>
            <p:cNvPr id="84" name="稿定-10">
              <a:extLst>
                <a:ext uri="{FF2B5EF4-FFF2-40B4-BE49-F238E27FC236}">
                  <a16:creationId xmlns:a16="http://schemas.microsoft.com/office/drawing/2014/main" id="{38057070-8B56-7CEA-0750-E9D1BF57BA22}"/>
                </a:ext>
              </a:extLst>
            </p:cNvPr>
            <p:cNvSpPr/>
            <p:nvPr/>
          </p:nvSpPr>
          <p:spPr>
            <a:xfrm flipH="1">
              <a:off x="3304806" y="5281855"/>
              <a:ext cx="1841098" cy="245760"/>
            </a:xfrm>
            <a:prstGeom prst="rect">
              <a:avLst/>
            </a:prstGeom>
          </p:spPr>
          <p:txBody>
            <a:bodyPr wrap="square" lIns="0" tIns="0" rIns="0" bIns="0" anchor="ctr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 b="1" dirty="0">
                  <a:solidFill>
                    <a:srgbClr val="5C2A7F"/>
                  </a:solidFill>
                  <a:cs typeface="+mn-ea"/>
                  <a:sym typeface="+mn-lt"/>
                </a:rPr>
                <a:t>调整原有业务模式</a:t>
              </a:r>
              <a:endParaRPr lang="en-US" sz="1200" b="1" dirty="0">
                <a:solidFill>
                  <a:srgbClr val="5C2A7F"/>
                </a:solidFill>
                <a:cs typeface="+mn-ea"/>
                <a:sym typeface="+mn-lt"/>
              </a:endParaRPr>
            </a:p>
          </p:txBody>
        </p:sp>
        <p:sp>
          <p:nvSpPr>
            <p:cNvPr id="85" name="稿定-11">
              <a:extLst>
                <a:ext uri="{FF2B5EF4-FFF2-40B4-BE49-F238E27FC236}">
                  <a16:creationId xmlns:a16="http://schemas.microsoft.com/office/drawing/2014/main" id="{C8B8F453-481E-070C-224C-8D76EDF54AD1}"/>
                </a:ext>
              </a:extLst>
            </p:cNvPr>
            <p:cNvSpPr/>
            <p:nvPr/>
          </p:nvSpPr>
          <p:spPr bwMode="auto">
            <a:xfrm>
              <a:off x="1405060" y="4215618"/>
              <a:ext cx="613941" cy="526235"/>
            </a:xfrm>
            <a:prstGeom prst="chevron">
              <a:avLst>
                <a:gd name="adj" fmla="val 49391"/>
              </a:avLst>
            </a:prstGeom>
            <a:gradFill>
              <a:gsLst>
                <a:gs pos="0">
                  <a:srgbClr val="5C2A7F"/>
                </a:gs>
                <a:gs pos="100000">
                  <a:srgbClr val="5C2A7F">
                    <a:lumMod val="60000"/>
                    <a:lumOff val="40000"/>
                  </a:srgbClr>
                </a:gs>
              </a:gsLst>
              <a:lin ang="13500000" scaled="1"/>
            </a:gradFill>
            <a:ln w="9525" cap="flat">
              <a:noFill/>
              <a:prstDash val="solid"/>
              <a:miter/>
            </a:ln>
            <a:effectLst>
              <a:outerShdw blurRad="228600" dist="127000" dir="5400000" algn="t" rotWithShape="0">
                <a:prstClr val="black">
                  <a:alpha val="19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  <a:sym typeface="+mn-lt"/>
              </a:endParaRPr>
            </a:p>
          </p:txBody>
        </p:sp>
        <p:sp>
          <p:nvSpPr>
            <p:cNvPr id="87" name="稿定-14">
              <a:extLst>
                <a:ext uri="{FF2B5EF4-FFF2-40B4-BE49-F238E27FC236}">
                  <a16:creationId xmlns:a16="http://schemas.microsoft.com/office/drawing/2014/main" id="{CBADD297-B2C2-3512-6DFC-F749D59B7F74}"/>
                </a:ext>
              </a:extLst>
            </p:cNvPr>
            <p:cNvSpPr/>
            <p:nvPr/>
          </p:nvSpPr>
          <p:spPr>
            <a:xfrm flipH="1">
              <a:off x="5195812" y="4974869"/>
              <a:ext cx="1841098" cy="245760"/>
            </a:xfrm>
            <a:prstGeom prst="rect">
              <a:avLst/>
            </a:prstGeom>
          </p:spPr>
          <p:txBody>
            <a:bodyPr wrap="square" lIns="0" tIns="0" rIns="0" bIns="0" anchor="ctr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 b="1" dirty="0">
                  <a:solidFill>
                    <a:srgbClr val="5C2A7F"/>
                  </a:solidFill>
                  <a:cs typeface="+mn-ea"/>
                  <a:sym typeface="+mn-lt"/>
                </a:rPr>
                <a:t>新引入</a:t>
              </a:r>
              <a:r>
                <a:rPr lang="en-US" altLang="zh-CN" sz="1200" b="1" dirty="0">
                  <a:solidFill>
                    <a:srgbClr val="5C2A7F"/>
                  </a:solidFill>
                  <a:cs typeface="+mn-ea"/>
                  <a:sym typeface="+mn-lt"/>
                </a:rPr>
                <a:t>10</a:t>
              </a:r>
              <a:r>
                <a:rPr lang="zh-CN" altLang="en-US" sz="1200" b="1" dirty="0">
                  <a:solidFill>
                    <a:srgbClr val="5C2A7F"/>
                  </a:solidFill>
                  <a:cs typeface="+mn-ea"/>
                  <a:sym typeface="+mn-lt"/>
                </a:rPr>
                <a:t>家供应商</a:t>
              </a:r>
              <a:endParaRPr lang="en-US" sz="1200" b="1" dirty="0">
                <a:solidFill>
                  <a:srgbClr val="5C2A7F"/>
                </a:solidFill>
                <a:cs typeface="+mn-ea"/>
                <a:sym typeface="+mn-lt"/>
              </a:endParaRPr>
            </a:p>
          </p:txBody>
        </p:sp>
        <p:sp>
          <p:nvSpPr>
            <p:cNvPr id="88" name="稿定-15">
              <a:extLst>
                <a:ext uri="{FF2B5EF4-FFF2-40B4-BE49-F238E27FC236}">
                  <a16:creationId xmlns:a16="http://schemas.microsoft.com/office/drawing/2014/main" id="{37E091B2-5793-73BC-4310-30C906A30340}"/>
                </a:ext>
              </a:extLst>
            </p:cNvPr>
            <p:cNvSpPr/>
            <p:nvPr/>
          </p:nvSpPr>
          <p:spPr>
            <a:xfrm flipH="1">
              <a:off x="7101809" y="5281855"/>
              <a:ext cx="1841098" cy="245760"/>
            </a:xfrm>
            <a:prstGeom prst="rect">
              <a:avLst/>
            </a:prstGeom>
          </p:spPr>
          <p:txBody>
            <a:bodyPr wrap="square" lIns="0" tIns="0" rIns="0" bIns="0" anchor="ctr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200" b="1" dirty="0" err="1">
                  <a:solidFill>
                    <a:srgbClr val="5C2A7F"/>
                  </a:solidFill>
                  <a:cs typeface="+mn-ea"/>
                  <a:sym typeface="+mn-lt"/>
                </a:rPr>
                <a:t>自定适合东正的商务政策</a:t>
              </a:r>
              <a:endParaRPr lang="en-US" sz="1200" b="1" dirty="0">
                <a:solidFill>
                  <a:srgbClr val="5C2A7F"/>
                </a:solidFill>
                <a:cs typeface="+mn-ea"/>
                <a:sym typeface="+mn-lt"/>
              </a:endParaRPr>
            </a:p>
          </p:txBody>
        </p:sp>
        <p:sp>
          <p:nvSpPr>
            <p:cNvPr id="89" name="稿定-16">
              <a:extLst>
                <a:ext uri="{FF2B5EF4-FFF2-40B4-BE49-F238E27FC236}">
                  <a16:creationId xmlns:a16="http://schemas.microsoft.com/office/drawing/2014/main" id="{7A3CBF71-1130-A955-9869-9D871AA669A7}"/>
                </a:ext>
              </a:extLst>
            </p:cNvPr>
            <p:cNvSpPr/>
            <p:nvPr/>
          </p:nvSpPr>
          <p:spPr>
            <a:xfrm flipH="1">
              <a:off x="9236147" y="4974869"/>
              <a:ext cx="1951514" cy="245760"/>
            </a:xfrm>
            <a:prstGeom prst="rect">
              <a:avLst/>
            </a:prstGeom>
          </p:spPr>
          <p:txBody>
            <a:bodyPr wrap="square" lIns="0" tIns="0" rIns="0" bIns="0" anchor="ctr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 b="1" dirty="0">
                  <a:solidFill>
                    <a:srgbClr val="5C2A7F"/>
                  </a:solidFill>
                  <a:cs typeface="+mn-ea"/>
                  <a:sym typeface="+mn-lt"/>
                </a:rPr>
                <a:t>不良率压力环节，关注年包</a:t>
              </a:r>
              <a:endParaRPr lang="en-US" sz="1200" b="1" dirty="0">
                <a:solidFill>
                  <a:srgbClr val="5C2A7F"/>
                </a:solidFill>
                <a:cs typeface="+mn-ea"/>
                <a:sym typeface="+mn-lt"/>
              </a:endParaRPr>
            </a:p>
          </p:txBody>
        </p:sp>
        <p:sp>
          <p:nvSpPr>
            <p:cNvPr id="90" name="稿定-18">
              <a:extLst>
                <a:ext uri="{FF2B5EF4-FFF2-40B4-BE49-F238E27FC236}">
                  <a16:creationId xmlns:a16="http://schemas.microsoft.com/office/drawing/2014/main" id="{8A36A9ED-B55C-3D9A-DF80-B4503AF9789A}"/>
                </a:ext>
              </a:extLst>
            </p:cNvPr>
            <p:cNvSpPr/>
            <p:nvPr/>
          </p:nvSpPr>
          <p:spPr bwMode="auto">
            <a:xfrm>
              <a:off x="3304241" y="4215618"/>
              <a:ext cx="613941" cy="526235"/>
            </a:xfrm>
            <a:prstGeom prst="chevron">
              <a:avLst>
                <a:gd name="adj" fmla="val 49391"/>
              </a:avLst>
            </a:prstGeom>
            <a:gradFill>
              <a:gsLst>
                <a:gs pos="0">
                  <a:srgbClr val="5C2A7F"/>
                </a:gs>
                <a:gs pos="99000">
                  <a:srgbClr val="5C2A7F">
                    <a:lumMod val="60000"/>
                    <a:lumOff val="40000"/>
                  </a:srgbClr>
                </a:gs>
              </a:gsLst>
              <a:lin ang="13500000" scaled="1"/>
            </a:gradFill>
            <a:ln w="9525" cap="flat">
              <a:noFill/>
              <a:prstDash val="solid"/>
              <a:miter/>
            </a:ln>
            <a:effectLst>
              <a:outerShdw blurRad="228600" dist="127000" dir="5400000" algn="t" rotWithShape="0">
                <a:prstClr val="black">
                  <a:alpha val="19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  <a:sym typeface="+mn-lt"/>
              </a:endParaRPr>
            </a:p>
          </p:txBody>
        </p:sp>
        <p:sp>
          <p:nvSpPr>
            <p:cNvPr id="91" name="稿定-19">
              <a:extLst>
                <a:ext uri="{FF2B5EF4-FFF2-40B4-BE49-F238E27FC236}">
                  <a16:creationId xmlns:a16="http://schemas.microsoft.com/office/drawing/2014/main" id="{ACAB79AD-0285-9DDD-EA56-63C01A86DB6B}"/>
                </a:ext>
              </a:extLst>
            </p:cNvPr>
            <p:cNvSpPr/>
            <p:nvPr/>
          </p:nvSpPr>
          <p:spPr bwMode="auto">
            <a:xfrm>
              <a:off x="5203422" y="4215618"/>
              <a:ext cx="613941" cy="526235"/>
            </a:xfrm>
            <a:prstGeom prst="chevron">
              <a:avLst>
                <a:gd name="adj" fmla="val 49391"/>
              </a:avLst>
            </a:prstGeom>
            <a:gradFill>
              <a:gsLst>
                <a:gs pos="0">
                  <a:srgbClr val="5C2A7F"/>
                </a:gs>
                <a:gs pos="99000">
                  <a:srgbClr val="5C2A7F">
                    <a:lumMod val="60000"/>
                    <a:lumOff val="40000"/>
                  </a:srgbClr>
                </a:gs>
              </a:gsLst>
              <a:lin ang="13500000" scaled="1"/>
            </a:gradFill>
            <a:ln w="9525" cap="flat">
              <a:noFill/>
              <a:prstDash val="solid"/>
              <a:miter/>
            </a:ln>
            <a:effectLst>
              <a:outerShdw blurRad="228600" dist="127000" dir="5400000" algn="t" rotWithShape="0">
                <a:prstClr val="black">
                  <a:alpha val="19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  <a:sym typeface="+mn-lt"/>
              </a:endParaRPr>
            </a:p>
          </p:txBody>
        </p:sp>
        <p:sp>
          <p:nvSpPr>
            <p:cNvPr id="92" name="稿定-21">
              <a:extLst>
                <a:ext uri="{FF2B5EF4-FFF2-40B4-BE49-F238E27FC236}">
                  <a16:creationId xmlns:a16="http://schemas.microsoft.com/office/drawing/2014/main" id="{CE913A82-7431-F848-2C48-E9EC9DF242B8}"/>
                </a:ext>
              </a:extLst>
            </p:cNvPr>
            <p:cNvSpPr/>
            <p:nvPr/>
          </p:nvSpPr>
          <p:spPr bwMode="auto">
            <a:xfrm>
              <a:off x="7102603" y="4215618"/>
              <a:ext cx="613941" cy="526235"/>
            </a:xfrm>
            <a:prstGeom prst="chevron">
              <a:avLst>
                <a:gd name="adj" fmla="val 49391"/>
              </a:avLst>
            </a:prstGeom>
            <a:gradFill>
              <a:gsLst>
                <a:gs pos="0">
                  <a:srgbClr val="5C2A7F"/>
                </a:gs>
                <a:gs pos="99000">
                  <a:srgbClr val="5C2A7F">
                    <a:lumMod val="60000"/>
                    <a:lumOff val="40000"/>
                  </a:srgbClr>
                </a:gs>
              </a:gsLst>
              <a:lin ang="13500000" scaled="1"/>
            </a:gradFill>
            <a:ln w="9525" cap="flat">
              <a:noFill/>
              <a:prstDash val="solid"/>
              <a:miter/>
            </a:ln>
            <a:effectLst>
              <a:outerShdw blurRad="228600" dist="127000" dir="5400000" algn="t" rotWithShape="0">
                <a:prstClr val="black">
                  <a:alpha val="19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  <a:sym typeface="+mn-lt"/>
              </a:endParaRPr>
            </a:p>
          </p:txBody>
        </p:sp>
        <p:sp>
          <p:nvSpPr>
            <p:cNvPr id="94" name="稿定-22">
              <a:extLst>
                <a:ext uri="{FF2B5EF4-FFF2-40B4-BE49-F238E27FC236}">
                  <a16:creationId xmlns:a16="http://schemas.microsoft.com/office/drawing/2014/main" id="{8C71BA03-4180-A76B-CCA2-A1312D671FA7}"/>
                </a:ext>
              </a:extLst>
            </p:cNvPr>
            <p:cNvSpPr/>
            <p:nvPr/>
          </p:nvSpPr>
          <p:spPr bwMode="auto">
            <a:xfrm>
              <a:off x="9236148" y="4215618"/>
              <a:ext cx="613941" cy="526235"/>
            </a:xfrm>
            <a:prstGeom prst="chevron">
              <a:avLst>
                <a:gd name="adj" fmla="val 49391"/>
              </a:avLst>
            </a:prstGeom>
            <a:gradFill>
              <a:gsLst>
                <a:gs pos="0">
                  <a:srgbClr val="5C2A7F"/>
                </a:gs>
                <a:gs pos="99000">
                  <a:srgbClr val="5C2A7F">
                    <a:lumMod val="60000"/>
                    <a:lumOff val="40000"/>
                  </a:srgbClr>
                </a:gs>
              </a:gsLst>
              <a:lin ang="13500000" scaled="1"/>
            </a:gradFill>
            <a:ln w="9525" cap="flat">
              <a:noFill/>
              <a:prstDash val="solid"/>
              <a:miter/>
            </a:ln>
            <a:effectLst>
              <a:outerShdw blurRad="228600" dist="127000" dir="5400000" algn="t" rotWithShape="0">
                <a:prstClr val="black">
                  <a:alpha val="19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  <a:sym typeface="+mn-lt"/>
              </a:endParaRPr>
            </a:p>
          </p:txBody>
        </p:sp>
        <p:sp>
          <p:nvSpPr>
            <p:cNvPr id="95" name="稿定-24">
              <a:extLst>
                <a:ext uri="{FF2B5EF4-FFF2-40B4-BE49-F238E27FC236}">
                  <a16:creationId xmlns:a16="http://schemas.microsoft.com/office/drawing/2014/main" id="{829AA5CF-B041-1505-2491-33D6812EF78D}"/>
                </a:ext>
              </a:extLst>
            </p:cNvPr>
            <p:cNvSpPr/>
            <p:nvPr/>
          </p:nvSpPr>
          <p:spPr>
            <a:xfrm flipH="1">
              <a:off x="1984709" y="4337534"/>
              <a:ext cx="1163234" cy="280909"/>
            </a:xfrm>
            <a:prstGeom prst="rect">
              <a:avLst/>
            </a:prstGeom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1600" b="1" dirty="0">
                  <a:solidFill>
                    <a:srgbClr val="5C2A7F"/>
                  </a:solidFill>
                  <a:cs typeface="+mn-ea"/>
                  <a:sym typeface="+mn-lt"/>
                </a:rPr>
                <a:t>25</a:t>
              </a:r>
              <a:r>
                <a:rPr lang="zh-CN" altLang="en-US" sz="1600" b="1" dirty="0">
                  <a:solidFill>
                    <a:srgbClr val="5C2A7F"/>
                  </a:solidFill>
                  <a:cs typeface="+mn-ea"/>
                  <a:sym typeface="+mn-lt"/>
                </a:rPr>
                <a:t>年</a:t>
              </a:r>
              <a:r>
                <a:rPr lang="en-US" altLang="zh-CN" sz="1600" b="1" dirty="0">
                  <a:solidFill>
                    <a:srgbClr val="5C2A7F"/>
                  </a:solidFill>
                  <a:cs typeface="+mn-ea"/>
                  <a:sym typeface="+mn-lt"/>
                </a:rPr>
                <a:t>5-6</a:t>
              </a:r>
              <a:r>
                <a:rPr lang="zh-CN" altLang="en-US" sz="1600" b="1" dirty="0">
                  <a:solidFill>
                    <a:srgbClr val="5C2A7F"/>
                  </a:solidFill>
                  <a:cs typeface="+mn-ea"/>
                  <a:sym typeface="+mn-lt"/>
                </a:rPr>
                <a:t>月</a:t>
              </a:r>
              <a:endParaRPr lang="en-US" sz="1600" b="1" dirty="0">
                <a:solidFill>
                  <a:srgbClr val="5C2A7F"/>
                </a:solidFill>
                <a:cs typeface="+mn-ea"/>
                <a:sym typeface="+mn-lt"/>
              </a:endParaRPr>
            </a:p>
          </p:txBody>
        </p:sp>
        <p:sp>
          <p:nvSpPr>
            <p:cNvPr id="96" name="稿定-26">
              <a:extLst>
                <a:ext uri="{FF2B5EF4-FFF2-40B4-BE49-F238E27FC236}">
                  <a16:creationId xmlns:a16="http://schemas.microsoft.com/office/drawing/2014/main" id="{427C0E3A-4582-8BF2-F5C2-7A3379E10AF1}"/>
                </a:ext>
              </a:extLst>
            </p:cNvPr>
            <p:cNvSpPr/>
            <p:nvPr/>
          </p:nvSpPr>
          <p:spPr>
            <a:xfrm flipH="1">
              <a:off x="4027025" y="4338282"/>
              <a:ext cx="1194619" cy="280909"/>
            </a:xfrm>
            <a:prstGeom prst="rect">
              <a:avLst/>
            </a:prstGeom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1600" b="1" dirty="0">
                  <a:solidFill>
                    <a:srgbClr val="5C2A7F"/>
                  </a:solidFill>
                  <a:cs typeface="+mn-ea"/>
                  <a:sym typeface="+mn-lt"/>
                </a:rPr>
                <a:t>25</a:t>
              </a:r>
              <a:r>
                <a:rPr lang="zh-CN" altLang="en-US" sz="1600" b="1" dirty="0">
                  <a:solidFill>
                    <a:srgbClr val="5C2A7F"/>
                  </a:solidFill>
                  <a:cs typeface="+mn-ea"/>
                  <a:sym typeface="+mn-lt"/>
                </a:rPr>
                <a:t>年</a:t>
              </a:r>
              <a:r>
                <a:rPr lang="en-US" altLang="zh-CN" sz="1600" b="1" dirty="0">
                  <a:solidFill>
                    <a:srgbClr val="5C2A7F"/>
                  </a:solidFill>
                  <a:cs typeface="+mn-ea"/>
                  <a:sym typeface="+mn-lt"/>
                </a:rPr>
                <a:t>7</a:t>
              </a:r>
              <a:r>
                <a:rPr lang="zh-CN" altLang="en-US" sz="1600" b="1" dirty="0">
                  <a:solidFill>
                    <a:srgbClr val="5C2A7F"/>
                  </a:solidFill>
                  <a:cs typeface="+mn-ea"/>
                  <a:sym typeface="+mn-lt"/>
                </a:rPr>
                <a:t>月</a:t>
              </a:r>
              <a:r>
                <a:rPr lang="en-US" altLang="zh-CN" sz="1600" b="1" dirty="0">
                  <a:solidFill>
                    <a:srgbClr val="5C2A7F"/>
                  </a:solidFill>
                  <a:cs typeface="+mn-ea"/>
                  <a:sym typeface="+mn-lt"/>
                </a:rPr>
                <a:t>-8</a:t>
              </a:r>
              <a:r>
                <a:rPr lang="zh-CN" altLang="en-US" sz="1600" b="1" dirty="0">
                  <a:solidFill>
                    <a:srgbClr val="5C2A7F"/>
                  </a:solidFill>
                  <a:cs typeface="+mn-ea"/>
                  <a:sym typeface="+mn-lt"/>
                </a:rPr>
                <a:t>月</a:t>
              </a:r>
              <a:endParaRPr lang="en-US" sz="1600" b="1" dirty="0">
                <a:solidFill>
                  <a:srgbClr val="5C2A7F"/>
                </a:solidFill>
                <a:cs typeface="+mn-ea"/>
                <a:sym typeface="+mn-lt"/>
              </a:endParaRPr>
            </a:p>
          </p:txBody>
        </p:sp>
        <p:sp>
          <p:nvSpPr>
            <p:cNvPr id="97" name="稿定-27">
              <a:extLst>
                <a:ext uri="{FF2B5EF4-FFF2-40B4-BE49-F238E27FC236}">
                  <a16:creationId xmlns:a16="http://schemas.microsoft.com/office/drawing/2014/main" id="{2A08A48C-8C8E-A062-29C2-57FB6AE3FBD1}"/>
                </a:ext>
              </a:extLst>
            </p:cNvPr>
            <p:cNvSpPr/>
            <p:nvPr/>
          </p:nvSpPr>
          <p:spPr>
            <a:xfrm flipH="1">
              <a:off x="5931442" y="4339029"/>
              <a:ext cx="873568" cy="279414"/>
            </a:xfrm>
            <a:prstGeom prst="rect">
              <a:avLst/>
            </a:prstGeom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1600" b="1" dirty="0">
                  <a:solidFill>
                    <a:srgbClr val="5C2A7F"/>
                  </a:solidFill>
                  <a:cs typeface="+mn-ea"/>
                  <a:sym typeface="+mn-lt"/>
                </a:rPr>
                <a:t>25</a:t>
              </a:r>
              <a:r>
                <a:rPr lang="zh-CN" altLang="en-US" sz="1600" b="1" dirty="0">
                  <a:solidFill>
                    <a:srgbClr val="5C2A7F"/>
                  </a:solidFill>
                  <a:cs typeface="+mn-ea"/>
                  <a:sym typeface="+mn-lt"/>
                </a:rPr>
                <a:t>年</a:t>
              </a:r>
              <a:r>
                <a:rPr lang="en-US" altLang="zh-CN" sz="1600" b="1" dirty="0">
                  <a:solidFill>
                    <a:srgbClr val="5C2A7F"/>
                  </a:solidFill>
                  <a:cs typeface="+mn-ea"/>
                  <a:sym typeface="+mn-lt"/>
                </a:rPr>
                <a:t>9</a:t>
              </a:r>
              <a:r>
                <a:rPr lang="zh-CN" altLang="en-US" sz="1600" b="1" dirty="0">
                  <a:solidFill>
                    <a:srgbClr val="5C2A7F"/>
                  </a:solidFill>
                  <a:cs typeface="+mn-ea"/>
                  <a:sym typeface="+mn-lt"/>
                </a:rPr>
                <a:t>月</a:t>
              </a:r>
              <a:endParaRPr lang="en-US" sz="1600" b="1" dirty="0">
                <a:solidFill>
                  <a:srgbClr val="5C2A7F"/>
                </a:solidFill>
                <a:cs typeface="+mn-ea"/>
                <a:sym typeface="+mn-lt"/>
              </a:endParaRPr>
            </a:p>
          </p:txBody>
        </p:sp>
        <p:sp>
          <p:nvSpPr>
            <p:cNvPr id="98" name="稿定-29">
              <a:extLst>
                <a:ext uri="{FF2B5EF4-FFF2-40B4-BE49-F238E27FC236}">
                  <a16:creationId xmlns:a16="http://schemas.microsoft.com/office/drawing/2014/main" id="{08790152-D6F2-F89A-7002-CE178619BC99}"/>
                </a:ext>
              </a:extLst>
            </p:cNvPr>
            <p:cNvSpPr/>
            <p:nvPr/>
          </p:nvSpPr>
          <p:spPr>
            <a:xfrm flipH="1">
              <a:off x="7719493" y="4338282"/>
              <a:ext cx="1516655" cy="280909"/>
            </a:xfrm>
            <a:prstGeom prst="rect">
              <a:avLst/>
            </a:prstGeom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600" b="1" dirty="0">
                  <a:solidFill>
                    <a:srgbClr val="5C2A7F"/>
                  </a:solidFill>
                  <a:cs typeface="+mn-ea"/>
                  <a:sym typeface="+mn-lt"/>
                </a:rPr>
                <a:t>25年</a:t>
              </a:r>
              <a:r>
                <a:rPr lang="en-US" altLang="zh-CN" sz="1600" b="1" dirty="0">
                  <a:solidFill>
                    <a:srgbClr val="5C2A7F"/>
                  </a:solidFill>
                  <a:cs typeface="+mn-ea"/>
                  <a:sym typeface="+mn-lt"/>
                </a:rPr>
                <a:t>11</a:t>
              </a:r>
              <a:r>
                <a:rPr lang="zh-CN" altLang="en-US" sz="1600" b="1" dirty="0">
                  <a:solidFill>
                    <a:srgbClr val="5C2A7F"/>
                  </a:solidFill>
                  <a:cs typeface="+mn-ea"/>
                  <a:sym typeface="+mn-lt"/>
                </a:rPr>
                <a:t>月</a:t>
              </a:r>
              <a:r>
                <a:rPr lang="en-US" altLang="zh-CN" sz="1600" b="1" dirty="0">
                  <a:solidFill>
                    <a:srgbClr val="5C2A7F"/>
                  </a:solidFill>
                  <a:cs typeface="+mn-ea"/>
                  <a:sym typeface="+mn-lt"/>
                </a:rPr>
                <a:t>-12</a:t>
              </a:r>
              <a:r>
                <a:rPr lang="zh-CN" altLang="en-US" sz="1600" b="1" dirty="0">
                  <a:solidFill>
                    <a:srgbClr val="5C2A7F"/>
                  </a:solidFill>
                  <a:cs typeface="+mn-ea"/>
                  <a:sym typeface="+mn-lt"/>
                </a:rPr>
                <a:t>月</a:t>
              </a:r>
              <a:endParaRPr lang="en-US" sz="1600" b="1" dirty="0">
                <a:solidFill>
                  <a:srgbClr val="5C2A7F"/>
                </a:solidFill>
                <a:cs typeface="+mn-ea"/>
                <a:sym typeface="+mn-lt"/>
              </a:endParaRPr>
            </a:p>
          </p:txBody>
        </p:sp>
        <p:sp>
          <p:nvSpPr>
            <p:cNvPr id="99" name="稿定-30">
              <a:extLst>
                <a:ext uri="{FF2B5EF4-FFF2-40B4-BE49-F238E27FC236}">
                  <a16:creationId xmlns:a16="http://schemas.microsoft.com/office/drawing/2014/main" id="{E904A0E7-31A0-CF8E-3484-0BE275037833}"/>
                </a:ext>
              </a:extLst>
            </p:cNvPr>
            <p:cNvSpPr/>
            <p:nvPr/>
          </p:nvSpPr>
          <p:spPr>
            <a:xfrm flipH="1">
              <a:off x="9671011" y="4338282"/>
              <a:ext cx="1492496" cy="280909"/>
            </a:xfrm>
            <a:prstGeom prst="rect">
              <a:avLst/>
            </a:prstGeom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600" b="1" dirty="0">
                  <a:solidFill>
                    <a:srgbClr val="5C2A7F"/>
                  </a:solidFill>
                  <a:cs typeface="+mn-ea"/>
                  <a:sym typeface="+mn-lt"/>
                </a:rPr>
                <a:t>26年</a:t>
              </a:r>
              <a:r>
                <a:rPr lang="en-US" altLang="zh-CN" sz="1600" b="1" dirty="0">
                  <a:solidFill>
                    <a:srgbClr val="5C2A7F"/>
                  </a:solidFill>
                  <a:cs typeface="+mn-ea"/>
                  <a:sym typeface="+mn-lt"/>
                </a:rPr>
                <a:t>1</a:t>
              </a:r>
              <a:r>
                <a:rPr lang="zh-CN" altLang="en-US" sz="1600" b="1" dirty="0">
                  <a:solidFill>
                    <a:srgbClr val="5C2A7F"/>
                  </a:solidFill>
                  <a:cs typeface="+mn-ea"/>
                  <a:sym typeface="+mn-lt"/>
                </a:rPr>
                <a:t>月</a:t>
              </a:r>
              <a:r>
                <a:rPr lang="en-US" altLang="zh-CN" sz="1600" b="1" dirty="0">
                  <a:solidFill>
                    <a:srgbClr val="5C2A7F"/>
                  </a:solidFill>
                  <a:cs typeface="+mn-ea"/>
                  <a:sym typeface="+mn-lt"/>
                </a:rPr>
                <a:t>-5</a:t>
              </a:r>
              <a:r>
                <a:rPr lang="zh-CN" altLang="en-US" sz="1600" b="1" dirty="0">
                  <a:solidFill>
                    <a:srgbClr val="5C2A7F"/>
                  </a:solidFill>
                  <a:cs typeface="+mn-ea"/>
                  <a:sym typeface="+mn-lt"/>
                </a:rPr>
                <a:t>月</a:t>
              </a:r>
              <a:endParaRPr lang="en-US" sz="1600" b="1" dirty="0">
                <a:solidFill>
                  <a:srgbClr val="5C2A7F"/>
                </a:solidFill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71859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64" grpId="0"/>
      <p:bldP spid="67" grpId="0"/>
      <p:bldP spid="7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1DF-4700-5859-4770-38A3288BC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>
            <a:extLst>
              <a:ext uri="{FF2B5EF4-FFF2-40B4-BE49-F238E27FC236}">
                <a16:creationId xmlns:a16="http://schemas.microsoft.com/office/drawing/2014/main" id="{CC20EAA5-A750-1AAB-BC78-C2695EFDABA2}"/>
              </a:ext>
            </a:extLst>
          </p:cNvPr>
          <p:cNvSpPr/>
          <p:nvPr/>
        </p:nvSpPr>
        <p:spPr>
          <a:xfrm>
            <a:off x="0" y="2841395"/>
            <a:ext cx="12192000" cy="1390647"/>
          </a:xfrm>
          <a:prstGeom prst="rect">
            <a:avLst/>
          </a:prstGeom>
          <a:solidFill>
            <a:srgbClr val="68318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F064C5C6-02FD-1CB5-EF1F-25B49218ADB6}"/>
              </a:ext>
            </a:extLst>
          </p:cNvPr>
          <p:cNvSpPr txBox="1">
            <a:spLocks/>
          </p:cNvSpPr>
          <p:nvPr/>
        </p:nvSpPr>
        <p:spPr>
          <a:xfrm>
            <a:off x="442910" y="200959"/>
            <a:ext cx="7271961" cy="598487"/>
          </a:xfrm>
          <a:prstGeom prst="rect">
            <a:avLst/>
          </a:prstGeom>
          <a:noFill/>
          <a:ln w="12700">
            <a:noFill/>
            <a:miter/>
          </a:ln>
        </p:spPr>
        <p:txBody>
          <a:bodyPr vert="horz" wrap="square" lIns="45720" tIns="45720" rIns="45720" bIns="45720" anchor="ctr" anchorCtr="0"/>
          <a:lstStyle>
            <a:lvl1pPr marL="0" lvl="0" indent="0" algn="l" defTabSz="91440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zh-CN" sz="4400" b="0" i="0" u="none" baseline="0">
                <a:solidFill>
                  <a:srgbClr val="000000"/>
                </a:solidFill>
                <a:latin typeface="Arial"/>
                <a:ea typeface="Arial"/>
              </a:defRPr>
            </a:lvl1pPr>
            <a:lvl2pPr lvl="1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2pPr>
            <a:lvl3pPr lvl="2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3pPr>
            <a:lvl4pPr lvl="3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4pPr>
            <a:lvl5pPr lvl="4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5pPr>
            <a:lvl6pPr marL="457200" lvl="5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6pPr>
            <a:lvl7pPr marL="914400" lvl="6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7pPr>
            <a:lvl8pPr marL="1371600" lvl="7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8pPr>
            <a:lvl9pPr marL="1828800" lvl="8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9pPr>
          </a:lstStyle>
          <a:p>
            <a:r>
              <a:rPr lang="zh-CN" altLang="en-US" sz="2800" dirty="0">
                <a:solidFill>
                  <a:srgbClr val="6931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业务能力的提升</a:t>
            </a:r>
            <a:r>
              <a:rPr lang="en-US" altLang="zh-CN" sz="2800" dirty="0">
                <a:solidFill>
                  <a:srgbClr val="6931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2.0——</a:t>
            </a:r>
            <a:r>
              <a:rPr lang="zh-CN" altLang="en-US" sz="2800" dirty="0">
                <a:solidFill>
                  <a:srgbClr val="6931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传统</a:t>
            </a:r>
            <a:r>
              <a:rPr lang="en-US" altLang="zh-CN" sz="2800" dirty="0">
                <a:solidFill>
                  <a:srgbClr val="6931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2800" dirty="0">
                <a:solidFill>
                  <a:srgbClr val="6931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创新</a:t>
            </a:r>
          </a:p>
        </p:txBody>
      </p:sp>
      <p:cxnSp>
        <p:nvCxnSpPr>
          <p:cNvPr id="28" name="直线连接符 27">
            <a:extLst>
              <a:ext uri="{FF2B5EF4-FFF2-40B4-BE49-F238E27FC236}">
                <a16:creationId xmlns:a16="http://schemas.microsoft.com/office/drawing/2014/main" id="{AF23D9F2-00F3-3D9A-655A-D8E3549C103F}"/>
              </a:ext>
            </a:extLst>
          </p:cNvPr>
          <p:cNvCxnSpPr>
            <a:cxnSpLocks/>
          </p:cNvCxnSpPr>
          <p:nvPr/>
        </p:nvCxnSpPr>
        <p:spPr>
          <a:xfrm flipV="1">
            <a:off x="6125027" y="957943"/>
            <a:ext cx="0" cy="5428343"/>
          </a:xfrm>
          <a:prstGeom prst="line">
            <a:avLst/>
          </a:prstGeom>
          <a:ln w="12700">
            <a:solidFill>
              <a:srgbClr val="6831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A8D2A5F3-7522-FFE4-062F-6944FDB9A2F4}"/>
              </a:ext>
            </a:extLst>
          </p:cNvPr>
          <p:cNvSpPr txBox="1"/>
          <p:nvPr/>
        </p:nvSpPr>
        <p:spPr>
          <a:xfrm>
            <a:off x="2775748" y="1368640"/>
            <a:ext cx="1632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solidFill>
                  <a:srgbClr val="68318F"/>
                </a:solidFill>
              </a:rPr>
              <a:t>逾期天数</a:t>
            </a:r>
            <a:r>
              <a:rPr kumimoji="1" lang="en-US" altLang="zh-CN" dirty="0">
                <a:solidFill>
                  <a:srgbClr val="68318F"/>
                </a:solidFill>
              </a:rPr>
              <a:t>180-</a:t>
            </a:r>
            <a:endParaRPr kumimoji="1" lang="zh-CN" altLang="en-US" dirty="0">
              <a:solidFill>
                <a:srgbClr val="68318F"/>
              </a:solidFill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5671A5F3-23D2-DB5E-8B9A-A357A1681ABC}"/>
              </a:ext>
            </a:extLst>
          </p:cNvPr>
          <p:cNvSpPr txBox="1"/>
          <p:nvPr/>
        </p:nvSpPr>
        <p:spPr>
          <a:xfrm>
            <a:off x="7841996" y="1368640"/>
            <a:ext cx="1627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68318F"/>
                </a:solidFill>
              </a:rPr>
              <a:t>逾期天数</a:t>
            </a:r>
            <a:r>
              <a:rPr kumimoji="1" lang="en-US" altLang="zh-CN" dirty="0">
                <a:solidFill>
                  <a:srgbClr val="68318F"/>
                </a:solidFill>
              </a:rPr>
              <a:t>180+</a:t>
            </a:r>
            <a:endParaRPr kumimoji="1" lang="zh-CN" altLang="en-US" dirty="0">
              <a:solidFill>
                <a:srgbClr val="68318F"/>
              </a:solidFill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2A000F79-1D59-DD4C-3EF7-C173B5F84854}"/>
              </a:ext>
            </a:extLst>
          </p:cNvPr>
          <p:cNvGrpSpPr/>
          <p:nvPr/>
        </p:nvGrpSpPr>
        <p:grpSpPr>
          <a:xfrm>
            <a:off x="0" y="2103438"/>
            <a:ext cx="11669486" cy="737958"/>
            <a:chOff x="2264578" y="2086415"/>
            <a:chExt cx="13024041" cy="737958"/>
          </a:xfrm>
        </p:grpSpPr>
        <p:cxnSp>
          <p:nvCxnSpPr>
            <p:cNvPr id="6" name="直线箭头连接符 5">
              <a:extLst>
                <a:ext uri="{FF2B5EF4-FFF2-40B4-BE49-F238E27FC236}">
                  <a16:creationId xmlns:a16="http://schemas.microsoft.com/office/drawing/2014/main" id="{FDD81314-CBE7-9029-15F6-18145732194C}"/>
                </a:ext>
              </a:extLst>
            </p:cNvPr>
            <p:cNvCxnSpPr>
              <a:cxnSpLocks/>
            </p:cNvCxnSpPr>
            <p:nvPr/>
          </p:nvCxnSpPr>
          <p:spPr>
            <a:xfrm>
              <a:off x="2612571" y="2608930"/>
              <a:ext cx="12676048" cy="0"/>
            </a:xfrm>
            <a:prstGeom prst="straightConnector1">
              <a:avLst/>
            </a:prstGeom>
            <a:ln w="31750">
              <a:solidFill>
                <a:srgbClr val="68318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线连接符 6">
              <a:extLst>
                <a:ext uri="{FF2B5EF4-FFF2-40B4-BE49-F238E27FC236}">
                  <a16:creationId xmlns:a16="http://schemas.microsoft.com/office/drawing/2014/main" id="{23E67BBC-64AA-553F-4CFB-32D9B61238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12571" y="2086415"/>
              <a:ext cx="0" cy="522515"/>
            </a:xfrm>
            <a:prstGeom prst="line">
              <a:avLst/>
            </a:prstGeom>
            <a:ln w="31750">
              <a:solidFill>
                <a:srgbClr val="68318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线连接符 7">
              <a:extLst>
                <a:ext uri="{FF2B5EF4-FFF2-40B4-BE49-F238E27FC236}">
                  <a16:creationId xmlns:a16="http://schemas.microsoft.com/office/drawing/2014/main" id="{DE517F6B-9046-65BE-321A-98BB04DC61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11475" y="2086415"/>
              <a:ext cx="0" cy="522515"/>
            </a:xfrm>
            <a:prstGeom prst="line">
              <a:avLst/>
            </a:prstGeom>
            <a:ln w="31750">
              <a:solidFill>
                <a:srgbClr val="68318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F311B3B9-6526-5828-924F-3C42449763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29440" y="2293110"/>
              <a:ext cx="0" cy="315820"/>
            </a:xfrm>
            <a:prstGeom prst="line">
              <a:avLst/>
            </a:prstGeom>
            <a:ln>
              <a:solidFill>
                <a:srgbClr val="68318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6B480225-9D08-4697-714E-99B29EE60B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47405" y="2293110"/>
              <a:ext cx="0" cy="315820"/>
            </a:xfrm>
            <a:prstGeom prst="line">
              <a:avLst/>
            </a:prstGeom>
            <a:ln>
              <a:solidFill>
                <a:srgbClr val="68318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线连接符 17">
              <a:extLst>
                <a:ext uri="{FF2B5EF4-FFF2-40B4-BE49-F238E27FC236}">
                  <a16:creationId xmlns:a16="http://schemas.microsoft.com/office/drawing/2014/main" id="{01B120D5-D875-8E09-B4E9-1A2B00B597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65370" y="2293110"/>
              <a:ext cx="0" cy="315820"/>
            </a:xfrm>
            <a:prstGeom prst="line">
              <a:avLst/>
            </a:prstGeom>
            <a:ln>
              <a:solidFill>
                <a:srgbClr val="68318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1312D24A-1254-440F-7C26-229BBEFE46CD}"/>
                </a:ext>
              </a:extLst>
            </p:cNvPr>
            <p:cNvSpPr txBox="1"/>
            <p:nvPr/>
          </p:nvSpPr>
          <p:spPr>
            <a:xfrm>
              <a:off x="2264578" y="2608929"/>
              <a:ext cx="47000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800" dirty="0">
                  <a:solidFill>
                    <a:srgbClr val="68318F"/>
                  </a:solidFill>
                </a:rPr>
                <a:t>DPD1</a:t>
              </a:r>
              <a:endParaRPr kumimoji="1" lang="zh-CN" altLang="en-US" sz="800" dirty="0">
                <a:solidFill>
                  <a:srgbClr val="68318F"/>
                </a:solidFill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4904FB62-6C60-F123-B19B-B28A7881F540}"/>
                </a:ext>
              </a:extLst>
            </p:cNvPr>
            <p:cNvSpPr txBox="1"/>
            <p:nvPr/>
          </p:nvSpPr>
          <p:spPr>
            <a:xfrm>
              <a:off x="4353419" y="2608929"/>
              <a:ext cx="31611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800" dirty="0">
                  <a:solidFill>
                    <a:srgbClr val="68318F"/>
                  </a:solidFill>
                </a:rPr>
                <a:t>31</a:t>
              </a:r>
              <a:endParaRPr kumimoji="1" lang="zh-CN" altLang="en-US" sz="800" dirty="0">
                <a:solidFill>
                  <a:srgbClr val="68318F"/>
                </a:solidFill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9F8FA198-68C9-A7F3-2A61-2427649A8606}"/>
                </a:ext>
              </a:extLst>
            </p:cNvPr>
            <p:cNvSpPr txBox="1"/>
            <p:nvPr/>
          </p:nvSpPr>
          <p:spPr>
            <a:xfrm>
              <a:off x="5271383" y="2608929"/>
              <a:ext cx="31611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800" dirty="0">
                  <a:solidFill>
                    <a:srgbClr val="68318F"/>
                  </a:solidFill>
                </a:rPr>
                <a:t>61</a:t>
              </a:r>
              <a:endParaRPr kumimoji="1" lang="zh-CN" altLang="en-US" sz="800" dirty="0">
                <a:solidFill>
                  <a:srgbClr val="68318F"/>
                </a:solidFill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C06C7FE3-ED6D-C251-F2C6-0D6026F2C17E}"/>
                </a:ext>
              </a:extLst>
            </p:cNvPr>
            <p:cNvSpPr txBox="1"/>
            <p:nvPr/>
          </p:nvSpPr>
          <p:spPr>
            <a:xfrm>
              <a:off x="6186772" y="2608929"/>
              <a:ext cx="31611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800" dirty="0">
                  <a:solidFill>
                    <a:srgbClr val="68318F"/>
                  </a:solidFill>
                </a:rPr>
                <a:t>91</a:t>
              </a:r>
              <a:endParaRPr kumimoji="1" lang="zh-CN" altLang="en-US" sz="800" dirty="0">
                <a:solidFill>
                  <a:srgbClr val="68318F"/>
                </a:solidFill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971A94DE-B162-63D8-9D84-BF91E8BBC854}"/>
                </a:ext>
              </a:extLst>
            </p:cNvPr>
            <p:cNvSpPr txBox="1"/>
            <p:nvPr/>
          </p:nvSpPr>
          <p:spPr>
            <a:xfrm>
              <a:off x="7071876" y="2608929"/>
              <a:ext cx="38183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800" dirty="0">
                  <a:solidFill>
                    <a:srgbClr val="68318F"/>
                  </a:solidFill>
                </a:rPr>
                <a:t>121</a:t>
              </a:r>
              <a:endParaRPr kumimoji="1" lang="zh-CN" altLang="en-US" sz="800" dirty="0">
                <a:solidFill>
                  <a:srgbClr val="68318F"/>
                </a:solidFill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EA4AB826-1C79-4032-5779-C0C8369EC063}"/>
                </a:ext>
              </a:extLst>
            </p:cNvPr>
            <p:cNvSpPr txBox="1"/>
            <p:nvPr/>
          </p:nvSpPr>
          <p:spPr>
            <a:xfrm>
              <a:off x="8910381" y="2608929"/>
              <a:ext cx="38183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800" dirty="0">
                  <a:solidFill>
                    <a:srgbClr val="68318F"/>
                  </a:solidFill>
                </a:rPr>
                <a:t>181</a:t>
              </a:r>
              <a:endParaRPr kumimoji="1" lang="zh-CN" altLang="en-US" sz="800" dirty="0">
                <a:solidFill>
                  <a:srgbClr val="68318F"/>
                </a:solidFill>
              </a:endParaRPr>
            </a:p>
          </p:txBody>
        </p:sp>
      </p:grpSp>
      <p:pic>
        <p:nvPicPr>
          <p:cNvPr id="42" name="图形 41" descr="免提电话 纯色填充">
            <a:extLst>
              <a:ext uri="{FF2B5EF4-FFF2-40B4-BE49-F238E27FC236}">
                <a16:creationId xmlns:a16="http://schemas.microsoft.com/office/drawing/2014/main" id="{4D2315EA-A457-89E3-6744-91F4842EFC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7320" y="3028746"/>
            <a:ext cx="914400" cy="914400"/>
          </a:xfrm>
          <a:prstGeom prst="rect">
            <a:avLst/>
          </a:prstGeom>
        </p:spPr>
      </p:pic>
      <p:pic>
        <p:nvPicPr>
          <p:cNvPr id="56" name="图形 55" descr="主页 纯色填充">
            <a:extLst>
              <a:ext uri="{FF2B5EF4-FFF2-40B4-BE49-F238E27FC236}">
                <a16:creationId xmlns:a16="http://schemas.microsoft.com/office/drawing/2014/main" id="{C489AD3C-F878-7C40-96DE-07E73738EE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59605" y="3028746"/>
            <a:ext cx="914400" cy="914400"/>
          </a:xfrm>
          <a:prstGeom prst="rect">
            <a:avLst/>
          </a:prstGeom>
        </p:spPr>
      </p:pic>
      <p:pic>
        <p:nvPicPr>
          <p:cNvPr id="58" name="图形 57" descr="免提电话 纯色填充">
            <a:extLst>
              <a:ext uri="{FF2B5EF4-FFF2-40B4-BE49-F238E27FC236}">
                <a16:creationId xmlns:a16="http://schemas.microsoft.com/office/drawing/2014/main" id="{3C668D28-543B-F913-4052-1EC45991EA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41280" y="3028746"/>
            <a:ext cx="914400" cy="914400"/>
          </a:xfrm>
          <a:prstGeom prst="rect">
            <a:avLst/>
          </a:prstGeom>
        </p:spPr>
      </p:pic>
      <p:sp>
        <p:nvSpPr>
          <p:cNvPr id="60" name="文本框 59">
            <a:extLst>
              <a:ext uri="{FF2B5EF4-FFF2-40B4-BE49-F238E27FC236}">
                <a16:creationId xmlns:a16="http://schemas.microsoft.com/office/drawing/2014/main" id="{4C50D859-AC60-258E-9E0A-1F12BACC0406}"/>
              </a:ext>
            </a:extLst>
          </p:cNvPr>
          <p:cNvSpPr txBox="1"/>
          <p:nvPr/>
        </p:nvSpPr>
        <p:spPr>
          <a:xfrm>
            <a:off x="580569" y="332108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5C2A7F"/>
                </a:solidFill>
              </a:rPr>
              <a:t>传统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7552296F-0D4C-7E7A-6D05-3B0D327AD687}"/>
              </a:ext>
            </a:extLst>
          </p:cNvPr>
          <p:cNvSpPr txBox="1"/>
          <p:nvPr/>
        </p:nvSpPr>
        <p:spPr>
          <a:xfrm>
            <a:off x="590175" y="489695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5C2A7F"/>
                </a:solidFill>
              </a:rPr>
              <a:t>创新</a:t>
            </a:r>
          </a:p>
        </p:txBody>
      </p: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FD88E304-6DA7-DA87-3A37-EB29A3BE0F25}"/>
              </a:ext>
            </a:extLst>
          </p:cNvPr>
          <p:cNvGrpSpPr/>
          <p:nvPr/>
        </p:nvGrpSpPr>
        <p:grpSpPr>
          <a:xfrm>
            <a:off x="2489042" y="4728303"/>
            <a:ext cx="1082348" cy="907603"/>
            <a:chOff x="1580191" y="4945769"/>
            <a:chExt cx="1082348" cy="907603"/>
          </a:xfrm>
        </p:grpSpPr>
        <p:pic>
          <p:nvPicPr>
            <p:cNvPr id="63" name="图片 62">
              <a:extLst>
                <a:ext uri="{FF2B5EF4-FFF2-40B4-BE49-F238E27FC236}">
                  <a16:creationId xmlns:a16="http://schemas.microsoft.com/office/drawing/2014/main" id="{DEE28FE3-EE1A-2FA4-585D-DA137928F8C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5175" y="4945769"/>
              <a:ext cx="672380" cy="549671"/>
            </a:xfrm>
            <a:prstGeom prst="rect">
              <a:avLst/>
            </a:prstGeom>
          </p:spPr>
        </p:pic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91C3E16E-EE4D-C1AC-864E-B603DC77F221}"/>
                </a:ext>
              </a:extLst>
            </p:cNvPr>
            <p:cNvSpPr txBox="1"/>
            <p:nvPr/>
          </p:nvSpPr>
          <p:spPr>
            <a:xfrm>
              <a:off x="1580191" y="5545595"/>
              <a:ext cx="10823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400" dirty="0">
                  <a:solidFill>
                    <a:srgbClr val="5C2A7F"/>
                  </a:solidFill>
                </a:rPr>
                <a:t>二维码收款</a:t>
              </a:r>
            </a:p>
          </p:txBody>
        </p:sp>
      </p:grp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6E404138-6EF6-8DB4-81B1-E6C3B477A3C1}"/>
              </a:ext>
            </a:extLst>
          </p:cNvPr>
          <p:cNvGrpSpPr/>
          <p:nvPr/>
        </p:nvGrpSpPr>
        <p:grpSpPr>
          <a:xfrm>
            <a:off x="3653857" y="4553138"/>
            <a:ext cx="902811" cy="1082768"/>
            <a:chOff x="2732629" y="4770604"/>
            <a:chExt cx="902811" cy="1082768"/>
          </a:xfrm>
        </p:grpSpPr>
        <p:pic>
          <p:nvPicPr>
            <p:cNvPr id="67" name="图片 66">
              <a:extLst>
                <a:ext uri="{FF2B5EF4-FFF2-40B4-BE49-F238E27FC236}">
                  <a16:creationId xmlns:a16="http://schemas.microsoft.com/office/drawing/2014/main" id="{1328EBF2-D882-4765-7137-BBCEA1291B9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34034" y="4770604"/>
              <a:ext cx="900000" cy="900000"/>
            </a:xfrm>
            <a:prstGeom prst="rect">
              <a:avLst/>
            </a:prstGeom>
          </p:spPr>
        </p:pic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3792CCA9-21D7-E8CF-A81B-40E52E326BBB}"/>
                </a:ext>
              </a:extLst>
            </p:cNvPr>
            <p:cNvSpPr txBox="1"/>
            <p:nvPr/>
          </p:nvSpPr>
          <p:spPr>
            <a:xfrm>
              <a:off x="2732629" y="5545595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400" dirty="0">
                  <a:solidFill>
                    <a:srgbClr val="5C2A7F"/>
                  </a:solidFill>
                </a:rPr>
                <a:t>诉讼调解</a:t>
              </a:r>
            </a:p>
          </p:txBody>
        </p:sp>
      </p:grp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D26E62A8-1105-0D61-E7D9-17A640AD9981}"/>
              </a:ext>
            </a:extLst>
          </p:cNvPr>
          <p:cNvGrpSpPr/>
          <p:nvPr/>
        </p:nvGrpSpPr>
        <p:grpSpPr>
          <a:xfrm>
            <a:off x="4643625" y="4548588"/>
            <a:ext cx="1184161" cy="1111647"/>
            <a:chOff x="3711375" y="4741725"/>
            <a:chExt cx="1184161" cy="1111647"/>
          </a:xfrm>
        </p:grpSpPr>
        <p:pic>
          <p:nvPicPr>
            <p:cNvPr id="72" name="图片 71">
              <a:extLst>
                <a:ext uri="{FF2B5EF4-FFF2-40B4-BE49-F238E27FC236}">
                  <a16:creationId xmlns:a16="http://schemas.microsoft.com/office/drawing/2014/main" id="{FB275DB0-AD74-216A-D3B1-849215AC782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11375" y="4741725"/>
              <a:ext cx="1184161" cy="957759"/>
            </a:xfrm>
            <a:prstGeom prst="rect">
              <a:avLst/>
            </a:prstGeom>
          </p:spPr>
        </p:pic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B466E4C8-5F90-ECED-3477-61E3C6949257}"/>
                </a:ext>
              </a:extLst>
            </p:cNvPr>
            <p:cNvSpPr txBox="1"/>
            <p:nvPr/>
          </p:nvSpPr>
          <p:spPr>
            <a:xfrm>
              <a:off x="3941818" y="5545595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400" dirty="0">
                  <a:solidFill>
                    <a:srgbClr val="5C2A7F"/>
                  </a:solidFill>
                </a:rPr>
                <a:t>律师函</a:t>
              </a:r>
            </a:p>
          </p:txBody>
        </p:sp>
      </p:grpSp>
      <p:grpSp>
        <p:nvGrpSpPr>
          <p:cNvPr id="89" name="组合 88">
            <a:extLst>
              <a:ext uri="{FF2B5EF4-FFF2-40B4-BE49-F238E27FC236}">
                <a16:creationId xmlns:a16="http://schemas.microsoft.com/office/drawing/2014/main" id="{92685DFD-64FE-9759-A804-359189FE45F0}"/>
              </a:ext>
            </a:extLst>
          </p:cNvPr>
          <p:cNvGrpSpPr/>
          <p:nvPr/>
        </p:nvGrpSpPr>
        <p:grpSpPr>
          <a:xfrm>
            <a:off x="8157672" y="4696159"/>
            <a:ext cx="902811" cy="935569"/>
            <a:chOff x="7736951" y="4696159"/>
            <a:chExt cx="902811" cy="935569"/>
          </a:xfrm>
        </p:grpSpPr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853B5AE4-9E70-5BBA-6CA7-7C6886C08C94}"/>
                </a:ext>
              </a:extLst>
            </p:cNvPr>
            <p:cNvSpPr txBox="1"/>
            <p:nvPr/>
          </p:nvSpPr>
          <p:spPr>
            <a:xfrm>
              <a:off x="7736951" y="5323951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400" dirty="0">
                  <a:solidFill>
                    <a:srgbClr val="5C2A7F"/>
                  </a:solidFill>
                </a:rPr>
                <a:t>差额分期</a:t>
              </a:r>
            </a:p>
          </p:txBody>
        </p:sp>
        <p:pic>
          <p:nvPicPr>
            <p:cNvPr id="78" name="图片 77">
              <a:extLst>
                <a:ext uri="{FF2B5EF4-FFF2-40B4-BE49-F238E27FC236}">
                  <a16:creationId xmlns:a16="http://schemas.microsoft.com/office/drawing/2014/main" id="{83BF02F7-CC31-ED1E-F6C6-30E2A626381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52718" y="4696159"/>
              <a:ext cx="671277" cy="617492"/>
            </a:xfrm>
            <a:prstGeom prst="rect">
              <a:avLst/>
            </a:prstGeom>
          </p:spPr>
        </p:pic>
      </p:grp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8B93C109-2A36-9436-993C-04B4C367D129}"/>
              </a:ext>
            </a:extLst>
          </p:cNvPr>
          <p:cNvGrpSpPr/>
          <p:nvPr/>
        </p:nvGrpSpPr>
        <p:grpSpPr>
          <a:xfrm>
            <a:off x="9331283" y="4688023"/>
            <a:ext cx="902811" cy="943705"/>
            <a:chOff x="8707108" y="4688023"/>
            <a:chExt cx="902811" cy="943705"/>
          </a:xfrm>
        </p:grpSpPr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F500B5C3-09AD-F394-FBDC-04D52BF44727}"/>
                </a:ext>
              </a:extLst>
            </p:cNvPr>
            <p:cNvSpPr txBox="1"/>
            <p:nvPr/>
          </p:nvSpPr>
          <p:spPr>
            <a:xfrm>
              <a:off x="8707108" y="5323951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400" dirty="0">
                  <a:solidFill>
                    <a:srgbClr val="5C2A7F"/>
                  </a:solidFill>
                </a:rPr>
                <a:t>物权担保</a:t>
              </a:r>
            </a:p>
          </p:txBody>
        </p:sp>
        <p:pic>
          <p:nvPicPr>
            <p:cNvPr id="80" name="图片 79">
              <a:extLst>
                <a:ext uri="{FF2B5EF4-FFF2-40B4-BE49-F238E27FC236}">
                  <a16:creationId xmlns:a16="http://schemas.microsoft.com/office/drawing/2014/main" id="{E61C6AF6-C578-AD8A-09BB-CFE3BF1877D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41631" y="4688023"/>
              <a:ext cx="633765" cy="633765"/>
            </a:xfrm>
            <a:prstGeom prst="rect">
              <a:avLst/>
            </a:prstGeom>
          </p:spPr>
        </p:pic>
      </p:grpSp>
      <p:grpSp>
        <p:nvGrpSpPr>
          <p:cNvPr id="90" name="组合 89">
            <a:extLst>
              <a:ext uri="{FF2B5EF4-FFF2-40B4-BE49-F238E27FC236}">
                <a16:creationId xmlns:a16="http://schemas.microsoft.com/office/drawing/2014/main" id="{84214098-5345-EA24-C0E5-4438150AC84B}"/>
              </a:ext>
            </a:extLst>
          </p:cNvPr>
          <p:cNvGrpSpPr/>
          <p:nvPr/>
        </p:nvGrpSpPr>
        <p:grpSpPr>
          <a:xfrm>
            <a:off x="6984061" y="4696159"/>
            <a:ext cx="902811" cy="935569"/>
            <a:chOff x="6609050" y="4696159"/>
            <a:chExt cx="902811" cy="935569"/>
          </a:xfrm>
        </p:grpSpPr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6393CC2E-4C4D-CCC5-C056-5177D6CCDA24}"/>
                </a:ext>
              </a:extLst>
            </p:cNvPr>
            <p:cNvSpPr txBox="1"/>
            <p:nvPr/>
          </p:nvSpPr>
          <p:spPr>
            <a:xfrm>
              <a:off x="6609050" y="5323951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400" dirty="0">
                  <a:solidFill>
                    <a:srgbClr val="5C2A7F"/>
                  </a:solidFill>
                </a:rPr>
                <a:t>月供分期</a:t>
              </a:r>
            </a:p>
          </p:txBody>
        </p:sp>
        <p:pic>
          <p:nvPicPr>
            <p:cNvPr id="84" name="图片 83">
              <a:extLst>
                <a:ext uri="{FF2B5EF4-FFF2-40B4-BE49-F238E27FC236}">
                  <a16:creationId xmlns:a16="http://schemas.microsoft.com/office/drawing/2014/main" id="{4DAA5B46-A010-DFA7-7286-7F76C4C2F1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22894" y="4696159"/>
              <a:ext cx="475123" cy="617492"/>
            </a:xfrm>
            <a:prstGeom prst="rect">
              <a:avLst/>
            </a:prstGeom>
          </p:spPr>
        </p:pic>
      </p:grpSp>
      <p:grpSp>
        <p:nvGrpSpPr>
          <p:cNvPr id="87" name="组合 86">
            <a:extLst>
              <a:ext uri="{FF2B5EF4-FFF2-40B4-BE49-F238E27FC236}">
                <a16:creationId xmlns:a16="http://schemas.microsoft.com/office/drawing/2014/main" id="{A8346BD9-6B09-A218-0AC1-7B32799F21E9}"/>
              </a:ext>
            </a:extLst>
          </p:cNvPr>
          <p:cNvGrpSpPr/>
          <p:nvPr/>
        </p:nvGrpSpPr>
        <p:grpSpPr>
          <a:xfrm>
            <a:off x="10504893" y="4554905"/>
            <a:ext cx="900001" cy="1076823"/>
            <a:chOff x="9603119" y="4554905"/>
            <a:chExt cx="900001" cy="1076823"/>
          </a:xfrm>
        </p:grpSpPr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0D478498-B328-F162-1CD6-4F213AADAE34}"/>
                </a:ext>
              </a:extLst>
            </p:cNvPr>
            <p:cNvSpPr txBox="1"/>
            <p:nvPr/>
          </p:nvSpPr>
          <p:spPr>
            <a:xfrm>
              <a:off x="9691482" y="5323951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400" dirty="0">
                  <a:solidFill>
                    <a:srgbClr val="5C2A7F"/>
                  </a:solidFill>
                </a:rPr>
                <a:t>横竖冲</a:t>
              </a:r>
            </a:p>
          </p:txBody>
        </p:sp>
        <p:pic>
          <p:nvPicPr>
            <p:cNvPr id="86" name="图片 85">
              <a:extLst>
                <a:ext uri="{FF2B5EF4-FFF2-40B4-BE49-F238E27FC236}">
                  <a16:creationId xmlns:a16="http://schemas.microsoft.com/office/drawing/2014/main" id="{CFDA6B61-19E1-9AAD-9D39-AA3FBC9974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03119" y="4554905"/>
              <a:ext cx="900001" cy="900001"/>
            </a:xfrm>
            <a:prstGeom prst="rect">
              <a:avLst/>
            </a:prstGeom>
          </p:spPr>
        </p:pic>
      </p:grpSp>
      <p:sp>
        <p:nvSpPr>
          <p:cNvPr id="92" name="文本框 91">
            <a:extLst>
              <a:ext uri="{FF2B5EF4-FFF2-40B4-BE49-F238E27FC236}">
                <a16:creationId xmlns:a16="http://schemas.microsoft.com/office/drawing/2014/main" id="{DB54CA5E-2E95-95A5-58A6-E93C57CEED0C}"/>
              </a:ext>
            </a:extLst>
          </p:cNvPr>
          <p:cNvSpPr txBox="1"/>
          <p:nvPr/>
        </p:nvSpPr>
        <p:spPr>
          <a:xfrm>
            <a:off x="686355" y="3902257"/>
            <a:ext cx="453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600" b="1" dirty="0">
                <a:solidFill>
                  <a:srgbClr val="5C2A7F"/>
                </a:solidFill>
              </a:rPr>
              <a:t>+</a:t>
            </a:r>
            <a:endParaRPr kumimoji="1" lang="zh-CN" altLang="en-US" sz="3600" b="1" dirty="0">
              <a:solidFill>
                <a:srgbClr val="5C2A7F"/>
              </a:solidFill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A11DE4F2-5C79-4410-E591-CD45C410DE1A}"/>
              </a:ext>
            </a:extLst>
          </p:cNvPr>
          <p:cNvSpPr txBox="1"/>
          <p:nvPr/>
        </p:nvSpPr>
        <p:spPr>
          <a:xfrm>
            <a:off x="3170431" y="380911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5C2A7F"/>
                </a:solidFill>
              </a:rPr>
              <a:t>电催</a:t>
            </a: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8EDBCC18-5379-2809-37C6-DB0659574949}"/>
              </a:ext>
            </a:extLst>
          </p:cNvPr>
          <p:cNvSpPr txBox="1"/>
          <p:nvPr/>
        </p:nvSpPr>
        <p:spPr>
          <a:xfrm>
            <a:off x="7945527" y="382130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5C2A7F"/>
                </a:solidFill>
              </a:rPr>
              <a:t>电催</a:t>
            </a: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2A08EAFA-0661-5B9F-2ED4-32E06EE16E1E}"/>
              </a:ext>
            </a:extLst>
          </p:cNvPr>
          <p:cNvSpPr txBox="1"/>
          <p:nvPr/>
        </p:nvSpPr>
        <p:spPr>
          <a:xfrm>
            <a:off x="9692538" y="382924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dirty="0">
                <a:solidFill>
                  <a:srgbClr val="5C2A7F"/>
                </a:solidFill>
              </a:rPr>
              <a:t>家访</a:t>
            </a: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2F49497A-A2E7-61EB-C845-10CD0584E335}"/>
              </a:ext>
            </a:extLst>
          </p:cNvPr>
          <p:cNvSpPr txBox="1"/>
          <p:nvPr/>
        </p:nvSpPr>
        <p:spPr>
          <a:xfrm>
            <a:off x="811270" y="2346369"/>
            <a:ext cx="5998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 dirty="0">
                <a:solidFill>
                  <a:srgbClr val="5C2A7F"/>
                </a:solidFill>
              </a:rPr>
              <a:t>AI</a:t>
            </a:r>
            <a:r>
              <a:rPr kumimoji="1" lang="zh-CN" altLang="en-US" sz="1100" dirty="0">
                <a:solidFill>
                  <a:srgbClr val="5C2A7F"/>
                </a:solidFill>
              </a:rPr>
              <a:t>部署</a:t>
            </a:r>
          </a:p>
        </p:txBody>
      </p:sp>
      <p:cxnSp>
        <p:nvCxnSpPr>
          <p:cNvPr id="98" name="直线箭头连接符 97">
            <a:extLst>
              <a:ext uri="{FF2B5EF4-FFF2-40B4-BE49-F238E27FC236}">
                <a16:creationId xmlns:a16="http://schemas.microsoft.com/office/drawing/2014/main" id="{775FC6AC-9C3A-C33A-44E5-FA5FEAD61029}"/>
              </a:ext>
            </a:extLst>
          </p:cNvPr>
          <p:cNvCxnSpPr>
            <a:endCxn id="23" idx="0"/>
          </p:cNvCxnSpPr>
          <p:nvPr/>
        </p:nvCxnSpPr>
        <p:spPr>
          <a:xfrm>
            <a:off x="1580191" y="2625952"/>
            <a:ext cx="433020" cy="0"/>
          </a:xfrm>
          <a:prstGeom prst="straightConnector1">
            <a:avLst/>
          </a:prstGeom>
          <a:ln>
            <a:solidFill>
              <a:srgbClr val="5C2A7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741F6ADA-DA3F-64C4-1595-B774C0885E05}"/>
              </a:ext>
            </a:extLst>
          </p:cNvPr>
          <p:cNvGrpSpPr/>
          <p:nvPr/>
        </p:nvGrpSpPr>
        <p:grpSpPr>
          <a:xfrm>
            <a:off x="1324869" y="4447483"/>
            <a:ext cx="1081706" cy="1186835"/>
            <a:chOff x="1324869" y="4447483"/>
            <a:chExt cx="1081706" cy="1186835"/>
          </a:xfrm>
        </p:grpSpPr>
        <p:pic>
          <p:nvPicPr>
            <p:cNvPr id="100" name="图片 99">
              <a:extLst>
                <a:ext uri="{FF2B5EF4-FFF2-40B4-BE49-F238E27FC236}">
                  <a16:creationId xmlns:a16="http://schemas.microsoft.com/office/drawing/2014/main" id="{58B8ED3A-C9BE-7662-941D-1DBC71BAAF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24869" y="4447483"/>
              <a:ext cx="1081706" cy="1081706"/>
            </a:xfrm>
            <a:prstGeom prst="rect">
              <a:avLst/>
            </a:prstGeom>
          </p:spPr>
        </p:pic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CA2CC124-FF7E-A507-025E-380D3DF0D71E}"/>
                </a:ext>
              </a:extLst>
            </p:cNvPr>
            <p:cNvSpPr txBox="1"/>
            <p:nvPr/>
          </p:nvSpPr>
          <p:spPr>
            <a:xfrm>
              <a:off x="1519573" y="5326541"/>
              <a:ext cx="7040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>
                  <a:solidFill>
                    <a:srgbClr val="5C2A7F"/>
                  </a:solidFill>
                </a:rPr>
                <a:t>Ai</a:t>
              </a:r>
              <a:r>
                <a:rPr kumimoji="1" lang="zh-CN" altLang="en-US" sz="1400" dirty="0">
                  <a:solidFill>
                    <a:srgbClr val="5C2A7F"/>
                  </a:solidFill>
                </a:rPr>
                <a:t>部署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00624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E3902-AEBB-7CF3-B292-10AE0EE9A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3B877BD2-EA2D-07D7-65AC-6BF77A98E2C4}"/>
              </a:ext>
            </a:extLst>
          </p:cNvPr>
          <p:cNvSpPr/>
          <p:nvPr/>
        </p:nvSpPr>
        <p:spPr>
          <a:xfrm>
            <a:off x="0" y="5830260"/>
            <a:ext cx="12192000" cy="557993"/>
          </a:xfrm>
          <a:prstGeom prst="rect">
            <a:avLst/>
          </a:prstGeom>
          <a:solidFill>
            <a:srgbClr val="5C2A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8B899886-6704-E033-65CA-DF3A6AFB069F}"/>
              </a:ext>
            </a:extLst>
          </p:cNvPr>
          <p:cNvSpPr txBox="1">
            <a:spLocks/>
          </p:cNvSpPr>
          <p:nvPr/>
        </p:nvSpPr>
        <p:spPr>
          <a:xfrm>
            <a:off x="442910" y="200959"/>
            <a:ext cx="7271961" cy="598487"/>
          </a:xfrm>
          <a:prstGeom prst="rect">
            <a:avLst/>
          </a:prstGeom>
          <a:noFill/>
          <a:ln w="12700">
            <a:noFill/>
            <a:miter/>
          </a:ln>
        </p:spPr>
        <p:txBody>
          <a:bodyPr vert="horz" wrap="square" lIns="45720" tIns="45720" rIns="45720" bIns="45720" anchor="ctr" anchorCtr="0"/>
          <a:lstStyle>
            <a:lvl1pPr marL="0" lvl="0" indent="0" algn="l" defTabSz="91440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zh-CN" sz="4400" b="0" i="0" u="none" baseline="0">
                <a:solidFill>
                  <a:srgbClr val="000000"/>
                </a:solidFill>
                <a:latin typeface="Arial"/>
                <a:ea typeface="Arial"/>
              </a:defRPr>
            </a:lvl1pPr>
            <a:lvl2pPr lvl="1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2pPr>
            <a:lvl3pPr lvl="2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3pPr>
            <a:lvl4pPr lvl="3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4pPr>
            <a:lvl5pPr lvl="4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5pPr>
            <a:lvl6pPr marL="457200" lvl="5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6pPr>
            <a:lvl7pPr marL="914400" lvl="6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7pPr>
            <a:lvl8pPr marL="1371600" lvl="7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8pPr>
            <a:lvl9pPr marL="1828800" lvl="8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9pPr>
          </a:lstStyle>
          <a:p>
            <a:r>
              <a:rPr lang="zh-CN" altLang="en-US" sz="2800" dirty="0">
                <a:solidFill>
                  <a:srgbClr val="6931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业务能力的提升</a:t>
            </a:r>
            <a:r>
              <a:rPr lang="en-US" altLang="zh-CN" sz="2800" dirty="0">
                <a:solidFill>
                  <a:srgbClr val="6931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3.0——</a:t>
            </a:r>
            <a:r>
              <a:rPr lang="zh-CN" altLang="en-US" sz="2800" dirty="0">
                <a:solidFill>
                  <a:srgbClr val="6931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创新</a:t>
            </a:r>
            <a:r>
              <a:rPr lang="en-US" altLang="zh-CN" sz="2800" dirty="0">
                <a:solidFill>
                  <a:srgbClr val="6931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2800" dirty="0">
                <a:solidFill>
                  <a:srgbClr val="6931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协同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AEA6D12-77CA-5FEB-BBC9-F64D77386C6A}"/>
              </a:ext>
            </a:extLst>
          </p:cNvPr>
          <p:cNvSpPr txBox="1"/>
          <p:nvPr/>
        </p:nvSpPr>
        <p:spPr>
          <a:xfrm>
            <a:off x="3023481" y="158205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rgbClr val="5C2A7F"/>
                </a:solidFill>
              </a:rPr>
              <a:t>单向索取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96837AC-F254-3EF8-FE1B-62CCF5CCE536}"/>
              </a:ext>
            </a:extLst>
          </p:cNvPr>
          <p:cNvSpPr txBox="1"/>
          <p:nvPr/>
        </p:nvSpPr>
        <p:spPr>
          <a:xfrm>
            <a:off x="8040459" y="158205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rgbClr val="5C2A7F"/>
                </a:solidFill>
              </a:rPr>
              <a:t>双向赋能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E35BAF30-6450-7A96-80C8-BAEDD3D0A423}"/>
              </a:ext>
            </a:extLst>
          </p:cNvPr>
          <p:cNvGrpSpPr/>
          <p:nvPr/>
        </p:nvGrpSpPr>
        <p:grpSpPr>
          <a:xfrm>
            <a:off x="5798163" y="1680675"/>
            <a:ext cx="607779" cy="325984"/>
            <a:chOff x="5466725" y="1945256"/>
            <a:chExt cx="607779" cy="325984"/>
          </a:xfrm>
        </p:grpSpPr>
        <p:sp>
          <p:nvSpPr>
            <p:cNvPr id="11" name="燕尾形 10">
              <a:extLst>
                <a:ext uri="{FF2B5EF4-FFF2-40B4-BE49-F238E27FC236}">
                  <a16:creationId xmlns:a16="http://schemas.microsoft.com/office/drawing/2014/main" id="{1587FB18-E3C4-1B1B-C278-7DD4E051F419}"/>
                </a:ext>
              </a:extLst>
            </p:cNvPr>
            <p:cNvSpPr/>
            <p:nvPr/>
          </p:nvSpPr>
          <p:spPr>
            <a:xfrm>
              <a:off x="5466725" y="1945257"/>
              <a:ext cx="325983" cy="325983"/>
            </a:xfrm>
            <a:prstGeom prst="chevron">
              <a:avLst/>
            </a:prstGeom>
            <a:solidFill>
              <a:srgbClr val="69318F">
                <a:alpha val="8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" name="燕尾形 12">
              <a:extLst>
                <a:ext uri="{FF2B5EF4-FFF2-40B4-BE49-F238E27FC236}">
                  <a16:creationId xmlns:a16="http://schemas.microsoft.com/office/drawing/2014/main" id="{25A5DADA-DC78-451F-024D-6C79B073DDC0}"/>
                </a:ext>
              </a:extLst>
            </p:cNvPr>
            <p:cNvSpPr/>
            <p:nvPr/>
          </p:nvSpPr>
          <p:spPr>
            <a:xfrm>
              <a:off x="5748521" y="1945256"/>
              <a:ext cx="325983" cy="325983"/>
            </a:xfrm>
            <a:prstGeom prst="chevron">
              <a:avLst/>
            </a:prstGeom>
            <a:solidFill>
              <a:srgbClr val="69318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7" name="矩形 16">
            <a:extLst>
              <a:ext uri="{FF2B5EF4-FFF2-40B4-BE49-F238E27FC236}">
                <a16:creationId xmlns:a16="http://schemas.microsoft.com/office/drawing/2014/main" id="{36FD90B9-E208-4A92-00A4-4B0BA1949B08}"/>
              </a:ext>
            </a:extLst>
          </p:cNvPr>
          <p:cNvSpPr/>
          <p:nvPr/>
        </p:nvSpPr>
        <p:spPr>
          <a:xfrm>
            <a:off x="0" y="2841395"/>
            <a:ext cx="12192000" cy="1390647"/>
          </a:xfrm>
          <a:prstGeom prst="rect">
            <a:avLst/>
          </a:prstGeom>
          <a:solidFill>
            <a:srgbClr val="68318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2C65D27-646F-60CB-BD33-39B4827B841F}"/>
              </a:ext>
            </a:extLst>
          </p:cNvPr>
          <p:cNvSpPr txBox="1"/>
          <p:nvPr/>
        </p:nvSpPr>
        <p:spPr>
          <a:xfrm>
            <a:off x="1357542" y="335205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5C2A7F"/>
                </a:solidFill>
              </a:rPr>
              <a:t>对内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BBD4115-9804-23E4-8EA9-32EBC81EC12B}"/>
              </a:ext>
            </a:extLst>
          </p:cNvPr>
          <p:cNvSpPr txBox="1"/>
          <p:nvPr/>
        </p:nvSpPr>
        <p:spPr>
          <a:xfrm>
            <a:off x="2702880" y="3059668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5C2A7F"/>
                </a:solidFill>
              </a:rPr>
              <a:t>向审批、营销要协催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DB82D032-C2D6-7110-BB46-693958A094D1}"/>
              </a:ext>
            </a:extLst>
          </p:cNvPr>
          <p:cNvSpPr txBox="1"/>
          <p:nvPr/>
        </p:nvSpPr>
        <p:spPr>
          <a:xfrm>
            <a:off x="7719858" y="3059668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5C2A7F"/>
                </a:solidFill>
              </a:rPr>
              <a:t>反向赋能、合作共赢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560C5977-95CE-A4FF-D41D-4BEA58B316EE}"/>
              </a:ext>
            </a:extLst>
          </p:cNvPr>
          <p:cNvSpPr txBox="1"/>
          <p:nvPr/>
        </p:nvSpPr>
        <p:spPr>
          <a:xfrm>
            <a:off x="3164545" y="3429000"/>
            <a:ext cx="13388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b="1" dirty="0">
                <a:solidFill>
                  <a:srgbClr val="5C2A7F"/>
                </a:solidFill>
              </a:rPr>
              <a:t>“给个面子”</a:t>
            </a:r>
            <a:endParaRPr kumimoji="1" lang="en-US" altLang="zh-CN" b="1" dirty="0">
              <a:solidFill>
                <a:srgbClr val="5C2A7F"/>
              </a:solidFill>
            </a:endParaRPr>
          </a:p>
          <a:p>
            <a:pPr algn="ctr"/>
            <a:r>
              <a:rPr kumimoji="1" lang="zh-CN" altLang="en-US" b="1" dirty="0">
                <a:solidFill>
                  <a:srgbClr val="5C2A7F"/>
                </a:solidFill>
              </a:rPr>
              <a:t>“帮帮忙”</a:t>
            </a:r>
            <a:endParaRPr kumimoji="1"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3A1A07AE-3AD6-8AED-D8B2-50693A92C9C6}"/>
              </a:ext>
            </a:extLst>
          </p:cNvPr>
          <p:cNvSpPr txBox="1"/>
          <p:nvPr/>
        </p:nvSpPr>
        <p:spPr>
          <a:xfrm>
            <a:off x="7178043" y="3429000"/>
            <a:ext cx="33457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b="1" dirty="0">
                <a:solidFill>
                  <a:srgbClr val="5C2A7F"/>
                </a:solidFill>
              </a:rPr>
              <a:t>“</a:t>
            </a:r>
            <a:r>
              <a:rPr kumimoji="1" lang="en-US" altLang="zh-CN" b="1" dirty="0">
                <a:solidFill>
                  <a:srgbClr val="5C2A7F"/>
                </a:solidFill>
              </a:rPr>
              <a:t>20+</a:t>
            </a:r>
            <a:r>
              <a:rPr kumimoji="1" lang="zh-CN" altLang="en-US" b="1" dirty="0">
                <a:solidFill>
                  <a:srgbClr val="5C2A7F"/>
                </a:solidFill>
              </a:rPr>
              <a:t>逾期客户原因汇总在这里”</a:t>
            </a:r>
            <a:endParaRPr kumimoji="1" lang="en-US" altLang="zh-CN" b="1" dirty="0">
              <a:solidFill>
                <a:srgbClr val="5C2A7F"/>
              </a:solidFill>
            </a:endParaRPr>
          </a:p>
          <a:p>
            <a:pPr algn="ctr"/>
            <a:r>
              <a:rPr kumimoji="1" lang="zh-CN" altLang="en-US" b="1" dirty="0">
                <a:solidFill>
                  <a:srgbClr val="5C2A7F"/>
                </a:solidFill>
              </a:rPr>
              <a:t>“新疆客户逾期数据一起看看”</a:t>
            </a:r>
            <a:endParaRPr kumimoji="1" lang="zh-CN" altLang="en-US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07F7E411-3601-6639-2F6A-9F042F8FC1D9}"/>
              </a:ext>
            </a:extLst>
          </p:cNvPr>
          <p:cNvSpPr txBox="1"/>
          <p:nvPr/>
        </p:nvSpPr>
        <p:spPr>
          <a:xfrm>
            <a:off x="1357541" y="488211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5C2A7F"/>
                </a:solidFill>
              </a:rPr>
              <a:t>对外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2470192F-7146-48BA-A0F0-FA8AD42F20C2}"/>
              </a:ext>
            </a:extLst>
          </p:cNvPr>
          <p:cNvSpPr txBox="1"/>
          <p:nvPr/>
        </p:nvSpPr>
        <p:spPr>
          <a:xfrm>
            <a:off x="2472048" y="4743612"/>
            <a:ext cx="27238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b="1" dirty="0">
                <a:solidFill>
                  <a:srgbClr val="5C2A7F"/>
                </a:solidFill>
              </a:rPr>
              <a:t>向兄弟公司、向同业</a:t>
            </a:r>
            <a:endParaRPr kumimoji="1" lang="en-US" altLang="zh-CN" b="1" dirty="0">
              <a:solidFill>
                <a:srgbClr val="5C2A7F"/>
              </a:solidFill>
            </a:endParaRPr>
          </a:p>
          <a:p>
            <a:pPr algn="ctr"/>
            <a:r>
              <a:rPr kumimoji="1" lang="zh-CN" altLang="en-US" b="1" dirty="0">
                <a:solidFill>
                  <a:srgbClr val="5C2A7F"/>
                </a:solidFill>
              </a:rPr>
              <a:t>要经验、要人员、要科技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6372C9AF-B25E-0CBD-89FA-E5B6ABA6A9DD}"/>
              </a:ext>
            </a:extLst>
          </p:cNvPr>
          <p:cNvSpPr txBox="1"/>
          <p:nvPr/>
        </p:nvSpPr>
        <p:spPr>
          <a:xfrm>
            <a:off x="6994666" y="4605112"/>
            <a:ext cx="37125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dirty="0">
                <a:solidFill>
                  <a:srgbClr val="5C2A7F"/>
                </a:solidFill>
              </a:rPr>
              <a:t>通过</a:t>
            </a:r>
            <a:r>
              <a:rPr kumimoji="1" lang="en-US" altLang="zh-CN" b="1" dirty="0">
                <a:solidFill>
                  <a:srgbClr val="5C2A7F"/>
                </a:solidFill>
              </a:rPr>
              <a:t>“</a:t>
            </a:r>
            <a:r>
              <a:rPr kumimoji="1" lang="zh-CN" altLang="en-US" b="1" dirty="0">
                <a:solidFill>
                  <a:srgbClr val="5C2A7F"/>
                </a:solidFill>
              </a:rPr>
              <a:t>人无我有、人有我优</a:t>
            </a:r>
            <a:r>
              <a:rPr kumimoji="1" lang="en-US" altLang="zh-CN" b="1" dirty="0">
                <a:solidFill>
                  <a:srgbClr val="5C2A7F"/>
                </a:solidFill>
              </a:rPr>
              <a:t>”</a:t>
            </a:r>
            <a:r>
              <a:rPr kumimoji="1" lang="zh-CN" altLang="en-US" b="1" dirty="0">
                <a:solidFill>
                  <a:srgbClr val="5C2A7F"/>
                </a:solidFill>
              </a:rPr>
              <a:t>的差异化优势，向兄弟公司输出成熟策略、优秀人才与实践案例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DA09B981-CDB3-C5ED-35AF-EC83E2F53250}"/>
              </a:ext>
            </a:extLst>
          </p:cNvPr>
          <p:cNvSpPr txBox="1"/>
          <p:nvPr/>
        </p:nvSpPr>
        <p:spPr>
          <a:xfrm>
            <a:off x="2464558" y="5901512"/>
            <a:ext cx="7366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 err="1">
                <a:ln/>
                <a:solidFill>
                  <a:schemeClr val="bg1"/>
                </a:solidFill>
                <a:latin typeface="FZYaYiHei GB18030L2 R"/>
                <a:ea typeface="FZYaYiHei GB18030L2 R"/>
                <a:cs typeface="FZYaYiHei GB18030L2 R"/>
              </a:rPr>
              <a:t>从资源消耗方</a:t>
            </a:r>
            <a:r>
              <a:rPr lang="zh-CN" altLang="en-US" sz="2000" b="1" dirty="0">
                <a:ln/>
                <a:solidFill>
                  <a:schemeClr val="bg1"/>
                </a:solidFill>
                <a:latin typeface="FZYaYiHei GB18030L2 R"/>
                <a:ea typeface="FZYaYiHei GB18030L2 R"/>
                <a:cs typeface="FZYaYiHei GB18030L2 R"/>
              </a:rPr>
              <a:t>转变</a:t>
            </a:r>
            <a:r>
              <a:rPr lang="en-US" altLang="zh-CN" sz="2000" b="1" dirty="0" err="1">
                <a:ln/>
                <a:solidFill>
                  <a:schemeClr val="bg1"/>
                </a:solidFill>
                <a:latin typeface="FZYaYiHei GB18030L2 R"/>
                <a:ea typeface="FZYaYiHei GB18030L2 R"/>
                <a:cs typeface="FZYaYiHei GB18030L2 R"/>
              </a:rPr>
              <a:t>为价值贡献方</a:t>
            </a:r>
            <a:r>
              <a:rPr lang="zh-CN" altLang="en-US" sz="2000" b="1" dirty="0">
                <a:ln/>
                <a:solidFill>
                  <a:schemeClr val="bg1"/>
                </a:solidFill>
                <a:latin typeface="FZYaYiHei GB18030L2 R"/>
                <a:ea typeface="FZYaYiHei GB18030L2 R"/>
                <a:cs typeface="FZYaYiHei GB18030L2 R"/>
              </a:rPr>
              <a:t>，</a:t>
            </a:r>
            <a:r>
              <a:rPr lang="en-US" altLang="zh-CN" sz="2000" b="1" dirty="0">
                <a:ln/>
                <a:solidFill>
                  <a:schemeClr val="bg1"/>
                </a:solidFill>
                <a:latin typeface="FZYaYiHei GB18030L2 R"/>
                <a:ea typeface="FZYaYiHei GB18030L2 R"/>
                <a:cs typeface="FZYaYiHei GB18030L2 R"/>
              </a:rPr>
              <a:t>建立可持续的互惠协作生态</a:t>
            </a:r>
            <a:r>
              <a:rPr lang="zh-CN" altLang="en-US" sz="2000" b="1" dirty="0">
                <a:ln/>
                <a:solidFill>
                  <a:schemeClr val="bg1"/>
                </a:solidFill>
                <a:latin typeface="FZYaYiHei GB18030L2 R"/>
                <a:ea typeface="FZYaYiHei GB18030L2 R"/>
                <a:cs typeface="FZYaYiHei GB18030L2 R"/>
              </a:rPr>
              <a:t>。</a:t>
            </a:r>
            <a:endParaRPr kumimoji="1" lang="zh-CN" altLang="en-U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5819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30E20-74C6-DFA5-0F4D-3A0807DBD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B0E48896-BBAC-86E7-5315-37725A06AB06}"/>
              </a:ext>
            </a:extLst>
          </p:cNvPr>
          <p:cNvSpPr/>
          <p:nvPr/>
        </p:nvSpPr>
        <p:spPr>
          <a:xfrm>
            <a:off x="-16041" y="1045480"/>
            <a:ext cx="12192000" cy="2383520"/>
          </a:xfrm>
          <a:prstGeom prst="rect">
            <a:avLst/>
          </a:prstGeom>
          <a:solidFill>
            <a:srgbClr val="68318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F41062FC-4006-040E-55BE-5E716B9C3861}"/>
              </a:ext>
            </a:extLst>
          </p:cNvPr>
          <p:cNvSpPr txBox="1">
            <a:spLocks/>
          </p:cNvSpPr>
          <p:nvPr/>
        </p:nvSpPr>
        <p:spPr>
          <a:xfrm>
            <a:off x="442911" y="200959"/>
            <a:ext cx="7765421" cy="598487"/>
          </a:xfrm>
          <a:prstGeom prst="rect">
            <a:avLst/>
          </a:prstGeom>
          <a:noFill/>
          <a:ln w="12700">
            <a:noFill/>
            <a:miter/>
          </a:ln>
        </p:spPr>
        <p:txBody>
          <a:bodyPr vert="horz" wrap="square" lIns="45720" tIns="45720" rIns="45720" bIns="45720" anchor="ctr" anchorCtr="0"/>
          <a:lstStyle>
            <a:lvl1pPr marL="0" lvl="0" indent="0" algn="l" defTabSz="91440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zh-CN" sz="4400" b="0" i="0" u="none" baseline="0">
                <a:solidFill>
                  <a:srgbClr val="000000"/>
                </a:solidFill>
                <a:latin typeface="Arial"/>
                <a:ea typeface="Arial"/>
              </a:defRPr>
            </a:lvl1pPr>
            <a:lvl2pPr lvl="1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2pPr>
            <a:lvl3pPr lvl="2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3pPr>
            <a:lvl4pPr lvl="3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4pPr>
            <a:lvl5pPr lvl="4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5pPr>
            <a:lvl6pPr marL="457200" lvl="5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6pPr>
            <a:lvl7pPr marL="914400" lvl="6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7pPr>
            <a:lvl8pPr marL="1371600" lvl="7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8pPr>
            <a:lvl9pPr marL="1828800" lvl="8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9pPr>
          </a:lstStyle>
          <a:p>
            <a:r>
              <a:rPr lang="zh-CN" altLang="en-US" sz="2800" dirty="0">
                <a:solidFill>
                  <a:srgbClr val="6931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风控能力的提升</a:t>
            </a:r>
            <a:r>
              <a:rPr lang="en-US" altLang="zh-CN" sz="2800" dirty="0">
                <a:solidFill>
                  <a:srgbClr val="6931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1.0——</a:t>
            </a:r>
            <a:r>
              <a:rPr lang="zh-CN" altLang="en-US" sz="2800" dirty="0">
                <a:solidFill>
                  <a:srgbClr val="6931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从“形式”到“实质”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26AEB6F-9666-8B8D-22A1-D0E87BA86E61}"/>
              </a:ext>
            </a:extLst>
          </p:cNvPr>
          <p:cNvSpPr txBox="1"/>
          <p:nvPr/>
        </p:nvSpPr>
        <p:spPr>
          <a:xfrm>
            <a:off x="3023481" y="158205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rgbClr val="5C2A7F"/>
                </a:solidFill>
              </a:rPr>
              <a:t>形式稽核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A00838E-9E19-B566-3DC3-3712D94DC06D}"/>
              </a:ext>
            </a:extLst>
          </p:cNvPr>
          <p:cNvSpPr txBox="1"/>
          <p:nvPr/>
        </p:nvSpPr>
        <p:spPr>
          <a:xfrm>
            <a:off x="8040459" y="158205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rgbClr val="5C2A7F"/>
                </a:solidFill>
              </a:rPr>
              <a:t>实质稽核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8EB66AE9-DD17-8CBB-596E-5961972FCB68}"/>
              </a:ext>
            </a:extLst>
          </p:cNvPr>
          <p:cNvGrpSpPr/>
          <p:nvPr/>
        </p:nvGrpSpPr>
        <p:grpSpPr>
          <a:xfrm>
            <a:off x="5798163" y="1680675"/>
            <a:ext cx="607779" cy="325984"/>
            <a:chOff x="5466725" y="1945256"/>
            <a:chExt cx="607779" cy="325984"/>
          </a:xfrm>
        </p:grpSpPr>
        <p:sp>
          <p:nvSpPr>
            <p:cNvPr id="7" name="燕尾形 6">
              <a:extLst>
                <a:ext uri="{FF2B5EF4-FFF2-40B4-BE49-F238E27FC236}">
                  <a16:creationId xmlns:a16="http://schemas.microsoft.com/office/drawing/2014/main" id="{4B1CEC9A-0A16-7ADB-D87A-12C451DD6CE6}"/>
                </a:ext>
              </a:extLst>
            </p:cNvPr>
            <p:cNvSpPr/>
            <p:nvPr/>
          </p:nvSpPr>
          <p:spPr>
            <a:xfrm>
              <a:off x="5466725" y="1945257"/>
              <a:ext cx="325983" cy="325983"/>
            </a:xfrm>
            <a:prstGeom prst="chevron">
              <a:avLst/>
            </a:prstGeom>
            <a:solidFill>
              <a:srgbClr val="69318F">
                <a:alpha val="8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燕尾形 7">
              <a:extLst>
                <a:ext uri="{FF2B5EF4-FFF2-40B4-BE49-F238E27FC236}">
                  <a16:creationId xmlns:a16="http://schemas.microsoft.com/office/drawing/2014/main" id="{F856166C-B32E-F83C-975C-1608842EE566}"/>
                </a:ext>
              </a:extLst>
            </p:cNvPr>
            <p:cNvSpPr/>
            <p:nvPr/>
          </p:nvSpPr>
          <p:spPr>
            <a:xfrm>
              <a:off x="5748521" y="1945256"/>
              <a:ext cx="325983" cy="325983"/>
            </a:xfrm>
            <a:prstGeom prst="chevron">
              <a:avLst/>
            </a:prstGeom>
            <a:solidFill>
              <a:srgbClr val="69318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A7898543-5781-6C39-80DA-204A16E30FF1}"/>
              </a:ext>
            </a:extLst>
          </p:cNvPr>
          <p:cNvSpPr txBox="1"/>
          <p:nvPr/>
        </p:nvSpPr>
        <p:spPr>
          <a:xfrm>
            <a:off x="3045574" y="2583543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rgbClr val="5C2A7F"/>
                </a:solidFill>
              </a:rPr>
              <a:t>单枪匹马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DFCBCA8-B23D-7F8D-7E6F-9958E7F8F4D2}"/>
              </a:ext>
            </a:extLst>
          </p:cNvPr>
          <p:cNvSpPr txBox="1"/>
          <p:nvPr/>
        </p:nvSpPr>
        <p:spPr>
          <a:xfrm>
            <a:off x="8062552" y="2583543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rgbClr val="5C2A7F"/>
                </a:solidFill>
              </a:rPr>
              <a:t>团队作战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655BA3E-2CDB-487B-B8F0-ED4AEF64650F}"/>
              </a:ext>
            </a:extLst>
          </p:cNvPr>
          <p:cNvGrpSpPr/>
          <p:nvPr/>
        </p:nvGrpSpPr>
        <p:grpSpPr>
          <a:xfrm>
            <a:off x="5820256" y="2682161"/>
            <a:ext cx="607779" cy="325984"/>
            <a:chOff x="5466725" y="1945256"/>
            <a:chExt cx="607779" cy="325984"/>
          </a:xfrm>
        </p:grpSpPr>
        <p:sp>
          <p:nvSpPr>
            <p:cNvPr id="13" name="燕尾形 12">
              <a:extLst>
                <a:ext uri="{FF2B5EF4-FFF2-40B4-BE49-F238E27FC236}">
                  <a16:creationId xmlns:a16="http://schemas.microsoft.com/office/drawing/2014/main" id="{3740DB88-C783-B2EB-E9D5-55878DB8696F}"/>
                </a:ext>
              </a:extLst>
            </p:cNvPr>
            <p:cNvSpPr/>
            <p:nvPr/>
          </p:nvSpPr>
          <p:spPr>
            <a:xfrm>
              <a:off x="5466725" y="1945257"/>
              <a:ext cx="325983" cy="325983"/>
            </a:xfrm>
            <a:prstGeom prst="chevron">
              <a:avLst/>
            </a:prstGeom>
            <a:solidFill>
              <a:srgbClr val="69318F">
                <a:alpha val="8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" name="燕尾形 13">
              <a:extLst>
                <a:ext uri="{FF2B5EF4-FFF2-40B4-BE49-F238E27FC236}">
                  <a16:creationId xmlns:a16="http://schemas.microsoft.com/office/drawing/2014/main" id="{DF14475B-3782-565D-FCAA-91D2BDD87F14}"/>
                </a:ext>
              </a:extLst>
            </p:cNvPr>
            <p:cNvSpPr/>
            <p:nvPr/>
          </p:nvSpPr>
          <p:spPr>
            <a:xfrm>
              <a:off x="5748521" y="1945256"/>
              <a:ext cx="325983" cy="325983"/>
            </a:xfrm>
            <a:prstGeom prst="chevron">
              <a:avLst/>
            </a:prstGeom>
            <a:solidFill>
              <a:srgbClr val="69318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676443E7-AA95-5712-D44E-5E12B2B65ACF}"/>
              </a:ext>
            </a:extLst>
          </p:cNvPr>
          <p:cNvSpPr txBox="1"/>
          <p:nvPr/>
        </p:nvSpPr>
        <p:spPr>
          <a:xfrm>
            <a:off x="876577" y="1843667"/>
            <a:ext cx="14622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>
                <a:solidFill>
                  <a:srgbClr val="5C2A7F"/>
                </a:solidFill>
              </a:rPr>
              <a:t>2</a:t>
            </a:r>
            <a:r>
              <a:rPr kumimoji="1" lang="zh-CN" altLang="en-US" sz="2800" b="1" dirty="0">
                <a:solidFill>
                  <a:srgbClr val="5C2A7F"/>
                </a:solidFill>
              </a:rPr>
              <a:t>个转变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0072EDF9-2367-1719-0B23-419FF865AEAF}"/>
              </a:ext>
            </a:extLst>
          </p:cNvPr>
          <p:cNvGrpSpPr/>
          <p:nvPr/>
        </p:nvGrpSpPr>
        <p:grpSpPr>
          <a:xfrm>
            <a:off x="2855728" y="3752973"/>
            <a:ext cx="1294181" cy="2255302"/>
            <a:chOff x="1345719" y="2681011"/>
            <a:chExt cx="1543242" cy="2689327"/>
          </a:xfrm>
        </p:grpSpPr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id="{955884DF-007C-D4AF-B662-F2715A9921ED}"/>
                </a:ext>
              </a:extLst>
            </p:cNvPr>
            <p:cNvGrpSpPr/>
            <p:nvPr/>
          </p:nvGrpSpPr>
          <p:grpSpPr>
            <a:xfrm>
              <a:off x="1361386" y="3579620"/>
              <a:ext cx="1511908" cy="439883"/>
              <a:chOff x="1329263" y="3582379"/>
              <a:chExt cx="1620766" cy="439883"/>
            </a:xfrm>
          </p:grpSpPr>
          <p:sp>
            <p:nvSpPr>
              <p:cNvPr id="75" name="矩形: 圆角 114">
                <a:extLst>
                  <a:ext uri="{FF2B5EF4-FFF2-40B4-BE49-F238E27FC236}">
                    <a16:creationId xmlns:a16="http://schemas.microsoft.com/office/drawing/2014/main" id="{61B6F46B-BC18-3AC2-EA93-A12D7CA2DC9F}"/>
                  </a:ext>
                </a:extLst>
              </p:cNvPr>
              <p:cNvSpPr/>
              <p:nvPr/>
            </p:nvSpPr>
            <p:spPr>
              <a:xfrm>
                <a:off x="1329263" y="3582379"/>
                <a:ext cx="1620766" cy="439883"/>
              </a:xfrm>
              <a:prstGeom prst="roundRect">
                <a:avLst>
                  <a:gd name="adj" fmla="val 0"/>
                </a:avLst>
              </a:prstGeom>
              <a:solidFill>
                <a:srgbClr val="5C2A7F"/>
              </a:solidFill>
              <a:ln w="12700" cap="flat">
                <a:solidFill>
                  <a:srgbClr val="5C2A7F"/>
                </a:solidFill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pPr defTabSz="731520"/>
                <a:endParaRPr lang="zh-CN" altLang="en-US" sz="1440" dirty="0">
                  <a:solidFill>
                    <a:srgbClr val="000000"/>
                  </a:solidFill>
                  <a:latin typeface="Calibri" panose="020F0502020204030204"/>
                  <a:ea typeface="等线" panose="02010600030101010101" pitchFamily="2" charset="-122"/>
                </a:endParaRPr>
              </a:p>
            </p:txBody>
          </p:sp>
          <p:sp>
            <p:nvSpPr>
              <p:cNvPr id="76" name="Object60">
                <a:extLst>
                  <a:ext uri="{FF2B5EF4-FFF2-40B4-BE49-F238E27FC236}">
                    <a16:creationId xmlns:a16="http://schemas.microsoft.com/office/drawing/2014/main" id="{64A7567E-220A-7D16-3906-446E742FF680}"/>
                  </a:ext>
                </a:extLst>
              </p:cNvPr>
              <p:cNvSpPr/>
              <p:nvPr/>
            </p:nvSpPr>
            <p:spPr>
              <a:xfrm>
                <a:off x="1552149" y="3717816"/>
                <a:ext cx="1245558" cy="1690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ctr" defTabSz="731520"/>
                <a:r>
                  <a:rPr lang="zh-CN" altLang="en-US" sz="1200" dirty="0">
                    <a:solidFill>
                      <a:schemeClr val="bg1"/>
                    </a:solidFill>
                    <a:latin typeface="OPPOSans M" pitchFamily="18" charset="-122"/>
                    <a:ea typeface="OPPOSans M" pitchFamily="18" charset="-122"/>
                    <a:cs typeface="OPPOSans M" pitchFamily="18" charset="-122"/>
                  </a:rPr>
                  <a:t>定要求</a:t>
                </a:r>
                <a:endParaRPr lang="en-US" sz="1200" dirty="0">
                  <a:solidFill>
                    <a:schemeClr val="bg1"/>
                  </a:solidFill>
                  <a:latin typeface="OPPOSans M" pitchFamily="18" charset="-122"/>
                  <a:ea typeface="OPPOSans M" pitchFamily="18" charset="-122"/>
                  <a:cs typeface="OPPOSans M" pitchFamily="18" charset="-122"/>
                </a:endParaRPr>
              </a:p>
            </p:txBody>
          </p:sp>
        </p:grpSp>
        <p:sp>
          <p:nvSpPr>
            <p:cNvPr id="74" name="Object60">
              <a:extLst>
                <a:ext uri="{FF2B5EF4-FFF2-40B4-BE49-F238E27FC236}">
                  <a16:creationId xmlns:a16="http://schemas.microsoft.com/office/drawing/2014/main" id="{8D96DABD-FBEB-0B51-0F8E-D57BC1C96C21}"/>
                </a:ext>
              </a:extLst>
            </p:cNvPr>
            <p:cNvSpPr/>
            <p:nvPr/>
          </p:nvSpPr>
          <p:spPr>
            <a:xfrm>
              <a:off x="1361387" y="4535703"/>
              <a:ext cx="1511908" cy="83463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algn="ctr" defTabSz="731520">
                <a:lnSpc>
                  <a:spcPct val="130000"/>
                </a:lnSpc>
              </a:pPr>
              <a:r>
                <a:rPr lang="zh-CN" altLang="en-US" sz="1200" dirty="0">
                  <a:solidFill>
                    <a:srgbClr val="5C2A7F"/>
                  </a:solidFill>
                  <a:latin typeface="OPPOSans M" pitchFamily="18" charset="-122"/>
                  <a:ea typeface="OPPOSans M" pitchFamily="18" charset="-122"/>
                  <a:cs typeface="OPPOSans M" pitchFamily="18" charset="-122"/>
                </a:rPr>
                <a:t>每月</a:t>
              </a:r>
              <a:r>
                <a:rPr lang="en-US" altLang="zh-CN" sz="1200" dirty="0">
                  <a:solidFill>
                    <a:srgbClr val="5C2A7F"/>
                  </a:solidFill>
                  <a:latin typeface="OPPOSans M" pitchFamily="18" charset="-122"/>
                  <a:ea typeface="OPPOSans M" pitchFamily="18" charset="-122"/>
                  <a:cs typeface="OPPOSans M" pitchFamily="18" charset="-122"/>
                </a:rPr>
                <a:t>2</a:t>
              </a:r>
              <a:r>
                <a:rPr lang="zh-CN" altLang="en-US" sz="1200" dirty="0">
                  <a:solidFill>
                    <a:srgbClr val="5C2A7F"/>
                  </a:solidFill>
                  <a:latin typeface="OPPOSans M" pitchFamily="18" charset="-122"/>
                  <a:ea typeface="OPPOSans M" pitchFamily="18" charset="-122"/>
                  <a:cs typeface="OPPOSans M" pitchFamily="18" charset="-122"/>
                </a:rPr>
                <a:t>次合规作业宣导、及时根据外规更新作业要求</a:t>
              </a:r>
              <a:endParaRPr lang="en-US" sz="1200" dirty="0">
                <a:solidFill>
                  <a:srgbClr val="5C2A7F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endParaRPr>
            </a:p>
          </p:txBody>
        </p:sp>
        <p:sp>
          <p:nvSpPr>
            <p:cNvPr id="69" name="Object29">
              <a:extLst>
                <a:ext uri="{FF2B5EF4-FFF2-40B4-BE49-F238E27FC236}">
                  <a16:creationId xmlns:a16="http://schemas.microsoft.com/office/drawing/2014/main" id="{AAE01F63-5F9C-DC1C-84EA-200A77442A8B}"/>
                </a:ext>
              </a:extLst>
            </p:cNvPr>
            <p:cNvSpPr/>
            <p:nvPr/>
          </p:nvSpPr>
          <p:spPr>
            <a:xfrm>
              <a:off x="1345719" y="2681011"/>
              <a:ext cx="1543242" cy="339884"/>
            </a:xfrm>
            <a:prstGeom prst="rect">
              <a:avLst/>
            </a:prstGeom>
            <a:ln w="12700">
              <a:miter lim="400000"/>
            </a:ln>
          </p:spPr>
          <p:txBody>
            <a:bodyPr wrap="none" lIns="25400" tIns="25400" rIns="25400" bIns="25400" anchor="ctr">
              <a:noAutofit/>
            </a:bodyPr>
            <a:lstStyle/>
            <a:p>
              <a:pPr algn="ctr" defTabSz="1219169" hangingPunct="0"/>
              <a:r>
                <a:rPr lang="zh-CN" altLang="en-US" sz="1400" b="1" dirty="0">
                  <a:solidFill>
                    <a:srgbClr val="5C2A7F"/>
                  </a:solidFill>
                  <a:latin typeface="OPPOSans H"/>
                  <a:ea typeface="OPPOSans H"/>
                  <a:cs typeface="OPPOSans H" panose="00020600040101010101" pitchFamily="18" charset="-122"/>
                </a:rPr>
                <a:t>合规宣导</a:t>
              </a:r>
              <a:endParaRPr lang="en-US" altLang="zh-CN" sz="1400" b="1" kern="0" dirty="0">
                <a:solidFill>
                  <a:srgbClr val="5C2A7F"/>
                </a:solidFill>
                <a:latin typeface="OPPOSans H"/>
                <a:ea typeface="OPPOSans H"/>
                <a:cs typeface="OPPOSans H" panose="00020600040101010101" pitchFamily="18" charset="-122"/>
              </a:endParaRPr>
            </a:p>
          </p:txBody>
        </p:sp>
        <p:cxnSp>
          <p:nvCxnSpPr>
            <p:cNvPr id="70" name="直线连接符 69">
              <a:extLst>
                <a:ext uri="{FF2B5EF4-FFF2-40B4-BE49-F238E27FC236}">
                  <a16:creationId xmlns:a16="http://schemas.microsoft.com/office/drawing/2014/main" id="{99B0309F-930A-806E-2671-CCE9267D818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7340" y="3236407"/>
              <a:ext cx="0" cy="257305"/>
            </a:xfrm>
            <a:prstGeom prst="line">
              <a:avLst/>
            </a:prstGeom>
            <a:ln w="12700">
              <a:solidFill>
                <a:srgbClr val="5C2A7F"/>
              </a:solidFill>
              <a:prstDash val="sysDash"/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线连接符 70">
              <a:extLst>
                <a:ext uri="{FF2B5EF4-FFF2-40B4-BE49-F238E27FC236}">
                  <a16:creationId xmlns:a16="http://schemas.microsoft.com/office/drawing/2014/main" id="{E066486F-719D-4B73-CC03-ECDD4129F4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7340" y="4073525"/>
              <a:ext cx="0" cy="257305"/>
            </a:xfrm>
            <a:prstGeom prst="line">
              <a:avLst/>
            </a:prstGeom>
            <a:ln w="12700">
              <a:solidFill>
                <a:srgbClr val="5C2A7F"/>
              </a:solidFill>
              <a:prstDash val="sysDash"/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114EAE2-C799-6F01-381A-66FF33A656DB}"/>
              </a:ext>
            </a:extLst>
          </p:cNvPr>
          <p:cNvGrpSpPr/>
          <p:nvPr/>
        </p:nvGrpSpPr>
        <p:grpSpPr>
          <a:xfrm>
            <a:off x="4553141" y="3752973"/>
            <a:ext cx="1294182" cy="2440012"/>
            <a:chOff x="1345718" y="2681011"/>
            <a:chExt cx="1543243" cy="2909584"/>
          </a:xfrm>
        </p:grpSpPr>
        <p:grpSp>
          <p:nvGrpSpPr>
            <p:cNvPr id="57" name="组合 56">
              <a:extLst>
                <a:ext uri="{FF2B5EF4-FFF2-40B4-BE49-F238E27FC236}">
                  <a16:creationId xmlns:a16="http://schemas.microsoft.com/office/drawing/2014/main" id="{83337CDB-B61B-E6A2-4311-F9FDCD6375B2}"/>
                </a:ext>
              </a:extLst>
            </p:cNvPr>
            <p:cNvGrpSpPr/>
            <p:nvPr/>
          </p:nvGrpSpPr>
          <p:grpSpPr>
            <a:xfrm>
              <a:off x="1361386" y="3579620"/>
              <a:ext cx="1511908" cy="439883"/>
              <a:chOff x="1329263" y="3582379"/>
              <a:chExt cx="1620766" cy="439883"/>
            </a:xfrm>
          </p:grpSpPr>
          <p:sp>
            <p:nvSpPr>
              <p:cNvPr id="65" name="矩形: 圆角 114">
                <a:extLst>
                  <a:ext uri="{FF2B5EF4-FFF2-40B4-BE49-F238E27FC236}">
                    <a16:creationId xmlns:a16="http://schemas.microsoft.com/office/drawing/2014/main" id="{C740509D-7FBF-4F9D-5BAE-6979314A1860}"/>
                  </a:ext>
                </a:extLst>
              </p:cNvPr>
              <p:cNvSpPr/>
              <p:nvPr/>
            </p:nvSpPr>
            <p:spPr>
              <a:xfrm>
                <a:off x="1329263" y="3582379"/>
                <a:ext cx="1620766" cy="439883"/>
              </a:xfrm>
              <a:prstGeom prst="roundRect">
                <a:avLst>
                  <a:gd name="adj" fmla="val 0"/>
                </a:avLst>
              </a:prstGeom>
              <a:solidFill>
                <a:srgbClr val="5C2A7F"/>
              </a:solidFill>
              <a:ln w="12700" cap="flat">
                <a:solidFill>
                  <a:srgbClr val="5C2A7F"/>
                </a:solidFill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pPr defTabSz="731520"/>
                <a:endParaRPr lang="zh-CN" altLang="en-US" sz="1440" dirty="0">
                  <a:solidFill>
                    <a:srgbClr val="000000"/>
                  </a:solidFill>
                  <a:latin typeface="Calibri" panose="020F0502020204030204"/>
                  <a:ea typeface="等线" panose="02010600030101010101" pitchFamily="2" charset="-122"/>
                </a:endParaRPr>
              </a:p>
            </p:txBody>
          </p:sp>
          <p:sp>
            <p:nvSpPr>
              <p:cNvPr id="66" name="Object60">
                <a:extLst>
                  <a:ext uri="{FF2B5EF4-FFF2-40B4-BE49-F238E27FC236}">
                    <a16:creationId xmlns:a16="http://schemas.microsoft.com/office/drawing/2014/main" id="{4DBAF651-2865-8ED4-FA36-933BF5F3D054}"/>
                  </a:ext>
                </a:extLst>
              </p:cNvPr>
              <p:cNvSpPr/>
              <p:nvPr/>
            </p:nvSpPr>
            <p:spPr>
              <a:xfrm>
                <a:off x="1552149" y="3717816"/>
                <a:ext cx="1245558" cy="1690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ctr" defTabSz="731520"/>
                <a:r>
                  <a:rPr lang="zh-CN" altLang="en-US" sz="1200" dirty="0">
                    <a:solidFill>
                      <a:schemeClr val="bg1"/>
                    </a:solidFill>
                    <a:latin typeface="OPPOSans M" pitchFamily="18" charset="-122"/>
                    <a:ea typeface="OPPOSans M" pitchFamily="18" charset="-122"/>
                    <a:cs typeface="OPPOSans M" pitchFamily="18" charset="-122"/>
                  </a:rPr>
                  <a:t>抓落地</a:t>
                </a:r>
                <a:endParaRPr lang="en-US" sz="1200" dirty="0">
                  <a:solidFill>
                    <a:schemeClr val="bg1"/>
                  </a:solidFill>
                  <a:latin typeface="OPPOSans M" pitchFamily="18" charset="-122"/>
                  <a:ea typeface="OPPOSans M" pitchFamily="18" charset="-122"/>
                  <a:cs typeface="OPPOSans M" pitchFamily="18" charset="-122"/>
                </a:endParaRPr>
              </a:p>
            </p:txBody>
          </p:sp>
        </p:grpSp>
        <p:sp>
          <p:nvSpPr>
            <p:cNvPr id="64" name="Object60">
              <a:extLst>
                <a:ext uri="{FF2B5EF4-FFF2-40B4-BE49-F238E27FC236}">
                  <a16:creationId xmlns:a16="http://schemas.microsoft.com/office/drawing/2014/main" id="{4224A264-5F2D-6F04-7DD9-ECC01CAA88EB}"/>
                </a:ext>
              </a:extLst>
            </p:cNvPr>
            <p:cNvSpPr/>
            <p:nvPr/>
          </p:nvSpPr>
          <p:spPr>
            <a:xfrm>
              <a:off x="1345718" y="4469694"/>
              <a:ext cx="1511908" cy="112090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algn="ctr" defTabSz="731520">
                <a:lnSpc>
                  <a:spcPct val="130000"/>
                </a:lnSpc>
              </a:pPr>
              <a:r>
                <a:rPr lang="en-US" altLang="zh-CN" sz="1200" dirty="0">
                  <a:solidFill>
                    <a:srgbClr val="5C2A7F"/>
                  </a:solidFill>
                  <a:latin typeface="OPPOSans M" pitchFamily="18" charset="-122"/>
                  <a:ea typeface="OPPOSans M" pitchFamily="18" charset="-122"/>
                  <a:cs typeface="OPPOSans M" pitchFamily="18" charset="-122"/>
                </a:rPr>
                <a:t>25</a:t>
              </a:r>
              <a:r>
                <a:rPr lang="zh-CN" altLang="en-US" sz="1200" dirty="0">
                  <a:solidFill>
                    <a:srgbClr val="5C2A7F"/>
                  </a:solidFill>
                  <a:latin typeface="OPPOSans M" pitchFamily="18" charset="-122"/>
                  <a:ea typeface="OPPOSans M" pitchFamily="18" charset="-122"/>
                  <a:cs typeface="OPPOSans M" pitchFamily="18" charset="-122"/>
                </a:rPr>
                <a:t>年</a:t>
              </a:r>
              <a:r>
                <a:rPr lang="en-US" altLang="zh-CN" sz="1200" dirty="0">
                  <a:solidFill>
                    <a:srgbClr val="5C2A7F"/>
                  </a:solidFill>
                  <a:latin typeface="OPPOSans M" pitchFamily="18" charset="-122"/>
                  <a:ea typeface="OPPOSans M" pitchFamily="18" charset="-122"/>
                  <a:cs typeface="OPPOSans M" pitchFamily="18" charset="-122"/>
                </a:rPr>
                <a:t>7</a:t>
              </a:r>
              <a:r>
                <a:rPr lang="zh-CN" altLang="en-US" sz="1200" dirty="0">
                  <a:solidFill>
                    <a:srgbClr val="5C2A7F"/>
                  </a:solidFill>
                  <a:latin typeface="OPPOSans M" pitchFamily="18" charset="-122"/>
                  <a:ea typeface="OPPOSans M" pitchFamily="18" charset="-122"/>
                  <a:cs typeface="OPPOSans M" pitchFamily="18" charset="-122"/>
                </a:rPr>
                <a:t>月起全面宣导催收录音归档，从初期</a:t>
              </a:r>
              <a:r>
                <a:rPr lang="en-US" altLang="zh-CN" sz="1200" dirty="0">
                  <a:solidFill>
                    <a:srgbClr val="5C2A7F"/>
                  </a:solidFill>
                  <a:latin typeface="OPPOSans M" pitchFamily="18" charset="-122"/>
                  <a:ea typeface="OPPOSans M" pitchFamily="18" charset="-122"/>
                  <a:cs typeface="OPPOSans M" pitchFamily="18" charset="-122"/>
                </a:rPr>
                <a:t>70%</a:t>
              </a:r>
              <a:r>
                <a:rPr lang="zh-CN" altLang="en-US" sz="1200" dirty="0">
                  <a:solidFill>
                    <a:srgbClr val="5C2A7F"/>
                  </a:solidFill>
                  <a:latin typeface="OPPOSans M" pitchFamily="18" charset="-122"/>
                  <a:ea typeface="OPPOSans M" pitchFamily="18" charset="-122"/>
                  <a:cs typeface="OPPOSans M" pitchFamily="18" charset="-122"/>
                </a:rPr>
                <a:t>已提升至</a:t>
              </a:r>
              <a:r>
                <a:rPr lang="en-US" altLang="zh-CN" sz="1200" dirty="0">
                  <a:solidFill>
                    <a:srgbClr val="5C2A7F"/>
                  </a:solidFill>
                  <a:latin typeface="OPPOSans M" pitchFamily="18" charset="-122"/>
                  <a:ea typeface="OPPOSans M" pitchFamily="18" charset="-122"/>
                  <a:cs typeface="OPPOSans M" pitchFamily="18" charset="-122"/>
                </a:rPr>
                <a:t>95%</a:t>
              </a:r>
              <a:endParaRPr lang="en-US" sz="1200" dirty="0">
                <a:solidFill>
                  <a:srgbClr val="5C2A7F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endParaRPr>
            </a:p>
          </p:txBody>
        </p:sp>
        <p:sp>
          <p:nvSpPr>
            <p:cNvPr id="59" name="Object29">
              <a:extLst>
                <a:ext uri="{FF2B5EF4-FFF2-40B4-BE49-F238E27FC236}">
                  <a16:creationId xmlns:a16="http://schemas.microsoft.com/office/drawing/2014/main" id="{63298351-1D36-FFFB-5E0D-9BB9FB43E523}"/>
                </a:ext>
              </a:extLst>
            </p:cNvPr>
            <p:cNvSpPr/>
            <p:nvPr/>
          </p:nvSpPr>
          <p:spPr>
            <a:xfrm>
              <a:off x="1345719" y="2681011"/>
              <a:ext cx="1543242" cy="339884"/>
            </a:xfrm>
            <a:prstGeom prst="rect">
              <a:avLst/>
            </a:prstGeom>
            <a:ln w="12700">
              <a:miter lim="400000"/>
            </a:ln>
          </p:spPr>
          <p:txBody>
            <a:bodyPr wrap="none" lIns="25400" tIns="25400" rIns="25400" bIns="25400" anchor="ctr">
              <a:noAutofit/>
            </a:bodyPr>
            <a:lstStyle/>
            <a:p>
              <a:pPr algn="ctr" defTabSz="1219169" hangingPunct="0"/>
              <a:r>
                <a:rPr lang="zh-CN" altLang="en-US" sz="1400" b="1" kern="0" dirty="0">
                  <a:solidFill>
                    <a:srgbClr val="5C2A7F"/>
                  </a:solidFill>
                  <a:latin typeface="OPPOSans H"/>
                  <a:ea typeface="OPPOSans H"/>
                  <a:cs typeface="OPPOSans H" panose="00020600040101010101" pitchFamily="18" charset="-122"/>
                </a:rPr>
                <a:t>催收录音归档</a:t>
              </a:r>
              <a:endParaRPr lang="en-US" altLang="zh-CN" sz="1400" b="1" kern="0" dirty="0">
                <a:solidFill>
                  <a:srgbClr val="5C2A7F"/>
                </a:solidFill>
                <a:latin typeface="OPPOSans H"/>
                <a:ea typeface="OPPOSans H"/>
                <a:cs typeface="OPPOSans H" panose="00020600040101010101" pitchFamily="18" charset="-122"/>
              </a:endParaRPr>
            </a:p>
          </p:txBody>
        </p:sp>
        <p:cxnSp>
          <p:nvCxnSpPr>
            <p:cNvPr id="60" name="直线连接符 59">
              <a:extLst>
                <a:ext uri="{FF2B5EF4-FFF2-40B4-BE49-F238E27FC236}">
                  <a16:creationId xmlns:a16="http://schemas.microsoft.com/office/drawing/2014/main" id="{BA3BD8C4-A197-48C1-0D76-FF9440DE93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7340" y="3236407"/>
              <a:ext cx="0" cy="257305"/>
            </a:xfrm>
            <a:prstGeom prst="line">
              <a:avLst/>
            </a:prstGeom>
            <a:ln w="12700">
              <a:solidFill>
                <a:srgbClr val="5C2A7F"/>
              </a:solidFill>
              <a:prstDash val="sysDash"/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线连接符 60">
              <a:extLst>
                <a:ext uri="{FF2B5EF4-FFF2-40B4-BE49-F238E27FC236}">
                  <a16:creationId xmlns:a16="http://schemas.microsoft.com/office/drawing/2014/main" id="{6DE51B2A-E1B8-7380-EDCC-21DA57E24F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7340" y="4073525"/>
              <a:ext cx="0" cy="257305"/>
            </a:xfrm>
            <a:prstGeom prst="line">
              <a:avLst/>
            </a:prstGeom>
            <a:ln w="12700">
              <a:solidFill>
                <a:srgbClr val="5C2A7F"/>
              </a:solidFill>
              <a:prstDash val="sysDash"/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4175ED3E-DECD-98A5-C419-23B2C797509B}"/>
              </a:ext>
            </a:extLst>
          </p:cNvPr>
          <p:cNvGrpSpPr/>
          <p:nvPr/>
        </p:nvGrpSpPr>
        <p:grpSpPr>
          <a:xfrm>
            <a:off x="6250556" y="3752973"/>
            <a:ext cx="1307316" cy="2255302"/>
            <a:chOff x="1345719" y="2681011"/>
            <a:chExt cx="1558905" cy="2689327"/>
          </a:xfrm>
        </p:grpSpPr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D8FD1768-B23F-0ACA-EA38-87973EC3CACD}"/>
                </a:ext>
              </a:extLst>
            </p:cNvPr>
            <p:cNvGrpSpPr/>
            <p:nvPr/>
          </p:nvGrpSpPr>
          <p:grpSpPr>
            <a:xfrm>
              <a:off x="1361386" y="3579620"/>
              <a:ext cx="1511908" cy="439883"/>
              <a:chOff x="1329263" y="3582379"/>
              <a:chExt cx="1620766" cy="439883"/>
            </a:xfrm>
          </p:grpSpPr>
          <p:sp>
            <p:nvSpPr>
              <p:cNvPr id="55" name="矩形: 圆角 114">
                <a:extLst>
                  <a:ext uri="{FF2B5EF4-FFF2-40B4-BE49-F238E27FC236}">
                    <a16:creationId xmlns:a16="http://schemas.microsoft.com/office/drawing/2014/main" id="{C7E0790D-D421-2B16-3781-D20722CDA122}"/>
                  </a:ext>
                </a:extLst>
              </p:cNvPr>
              <p:cNvSpPr/>
              <p:nvPr/>
            </p:nvSpPr>
            <p:spPr>
              <a:xfrm>
                <a:off x="1329263" y="3582379"/>
                <a:ext cx="1620766" cy="439883"/>
              </a:xfrm>
              <a:prstGeom prst="roundRect">
                <a:avLst>
                  <a:gd name="adj" fmla="val 0"/>
                </a:avLst>
              </a:prstGeom>
              <a:solidFill>
                <a:srgbClr val="5C2A7F"/>
              </a:solidFill>
              <a:ln w="12700" cap="flat">
                <a:solidFill>
                  <a:srgbClr val="5C2A7F"/>
                </a:solidFill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pPr defTabSz="731520"/>
                <a:endParaRPr lang="zh-CN" altLang="en-US" sz="1440" dirty="0">
                  <a:solidFill>
                    <a:srgbClr val="000000"/>
                  </a:solidFill>
                  <a:latin typeface="Calibri" panose="020F0502020204030204"/>
                  <a:ea typeface="等线" panose="02010600030101010101" pitchFamily="2" charset="-122"/>
                </a:endParaRPr>
              </a:p>
            </p:txBody>
          </p:sp>
          <p:sp>
            <p:nvSpPr>
              <p:cNvPr id="56" name="Object60">
                <a:extLst>
                  <a:ext uri="{FF2B5EF4-FFF2-40B4-BE49-F238E27FC236}">
                    <a16:creationId xmlns:a16="http://schemas.microsoft.com/office/drawing/2014/main" id="{5B43AFD9-E952-372A-B2D8-469D843C0A72}"/>
                  </a:ext>
                </a:extLst>
              </p:cNvPr>
              <p:cNvSpPr/>
              <p:nvPr/>
            </p:nvSpPr>
            <p:spPr>
              <a:xfrm>
                <a:off x="1552149" y="3717816"/>
                <a:ext cx="1245558" cy="1690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ctr" defTabSz="731520"/>
                <a:r>
                  <a:rPr lang="zh-CN" altLang="en-US" sz="1200" dirty="0">
                    <a:solidFill>
                      <a:schemeClr val="bg1"/>
                    </a:solidFill>
                    <a:latin typeface="OPPOSans M" pitchFamily="18" charset="-122"/>
                    <a:ea typeface="OPPOSans M" pitchFamily="18" charset="-122"/>
                    <a:cs typeface="OPPOSans M" pitchFamily="18" charset="-122"/>
                  </a:rPr>
                  <a:t>查效果</a:t>
                </a:r>
                <a:endParaRPr lang="en-US" sz="1200" dirty="0">
                  <a:solidFill>
                    <a:schemeClr val="bg1"/>
                  </a:solidFill>
                  <a:latin typeface="OPPOSans M" pitchFamily="18" charset="-122"/>
                  <a:ea typeface="OPPOSans M" pitchFamily="18" charset="-122"/>
                  <a:cs typeface="OPPOSans M" pitchFamily="18" charset="-122"/>
                </a:endParaRPr>
              </a:p>
            </p:txBody>
          </p:sp>
        </p:grpSp>
        <p:sp>
          <p:nvSpPr>
            <p:cNvPr id="54" name="Object60">
              <a:extLst>
                <a:ext uri="{FF2B5EF4-FFF2-40B4-BE49-F238E27FC236}">
                  <a16:creationId xmlns:a16="http://schemas.microsoft.com/office/drawing/2014/main" id="{52030437-9DED-040D-D3CE-EE21D3A7D32E}"/>
                </a:ext>
              </a:extLst>
            </p:cNvPr>
            <p:cNvSpPr/>
            <p:nvPr/>
          </p:nvSpPr>
          <p:spPr>
            <a:xfrm>
              <a:off x="1361382" y="4535703"/>
              <a:ext cx="1543242" cy="83463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algn="ctr" defTabSz="731520">
                <a:lnSpc>
                  <a:spcPct val="130000"/>
                </a:lnSpc>
              </a:pPr>
              <a:r>
                <a:rPr lang="zh-CN" altLang="en-US" sz="1200" dirty="0">
                  <a:solidFill>
                    <a:srgbClr val="5C2A7F"/>
                  </a:solidFill>
                  <a:latin typeface="OPPOSans M" pitchFamily="18" charset="-122"/>
                  <a:ea typeface="OPPOSans M" pitchFamily="18" charset="-122"/>
                  <a:cs typeface="OPPOSans M" pitchFamily="18" charset="-122"/>
                </a:rPr>
                <a:t>每月抽核录音</a:t>
              </a:r>
              <a:r>
                <a:rPr lang="en-US" altLang="zh-CN" sz="1200" dirty="0">
                  <a:solidFill>
                    <a:srgbClr val="5C2A7F"/>
                  </a:solidFill>
                  <a:latin typeface="OPPOSans M" pitchFamily="18" charset="-122"/>
                  <a:ea typeface="OPPOSans M" pitchFamily="18" charset="-122"/>
                  <a:cs typeface="OPPOSans M" pitchFamily="18" charset="-122"/>
                </a:rPr>
                <a:t>2000-3000</a:t>
              </a:r>
              <a:r>
                <a:rPr lang="zh-CN" altLang="en-US" sz="1200" dirty="0">
                  <a:solidFill>
                    <a:srgbClr val="5C2A7F"/>
                  </a:solidFill>
                  <a:latin typeface="OPPOSans M" pitchFamily="18" charset="-122"/>
                  <a:ea typeface="OPPOSans M" pitchFamily="18" charset="-122"/>
                  <a:cs typeface="OPPOSans M" pitchFamily="18" charset="-122"/>
                </a:rPr>
                <a:t>笔，抽检比例达有效催记的</a:t>
              </a:r>
              <a:r>
                <a:rPr lang="en-US" altLang="zh-CN" sz="1200" dirty="0">
                  <a:solidFill>
                    <a:srgbClr val="5C2A7F"/>
                  </a:solidFill>
                  <a:latin typeface="OPPOSans M" pitchFamily="18" charset="-122"/>
                  <a:ea typeface="OPPOSans M" pitchFamily="18" charset="-122"/>
                  <a:cs typeface="OPPOSans M" pitchFamily="18" charset="-122"/>
                </a:rPr>
                <a:t>30%</a:t>
              </a:r>
            </a:p>
          </p:txBody>
        </p:sp>
        <p:sp>
          <p:nvSpPr>
            <p:cNvPr id="49" name="Object29">
              <a:extLst>
                <a:ext uri="{FF2B5EF4-FFF2-40B4-BE49-F238E27FC236}">
                  <a16:creationId xmlns:a16="http://schemas.microsoft.com/office/drawing/2014/main" id="{8D437311-B3CA-80C0-6A0E-ED541CA64EE8}"/>
                </a:ext>
              </a:extLst>
            </p:cNvPr>
            <p:cNvSpPr/>
            <p:nvPr/>
          </p:nvSpPr>
          <p:spPr>
            <a:xfrm>
              <a:off x="1345719" y="2681011"/>
              <a:ext cx="1543242" cy="339884"/>
            </a:xfrm>
            <a:prstGeom prst="rect">
              <a:avLst/>
            </a:prstGeom>
            <a:ln w="12700">
              <a:miter lim="400000"/>
            </a:ln>
          </p:spPr>
          <p:txBody>
            <a:bodyPr wrap="none" lIns="25400" tIns="25400" rIns="25400" bIns="25400" anchor="ctr">
              <a:noAutofit/>
            </a:bodyPr>
            <a:lstStyle/>
            <a:p>
              <a:pPr algn="ctr" defTabSz="1219169" hangingPunct="0"/>
              <a:r>
                <a:rPr lang="zh-CN" altLang="en-US" sz="1400" b="1" kern="0" dirty="0">
                  <a:solidFill>
                    <a:srgbClr val="5C2A7F"/>
                  </a:solidFill>
                  <a:latin typeface="OPPOSans H"/>
                  <a:ea typeface="OPPOSans H"/>
                  <a:cs typeface="OPPOSans H" panose="00020600040101010101" pitchFamily="18" charset="-122"/>
                </a:rPr>
                <a:t>日常稽核、</a:t>
              </a:r>
              <a:endParaRPr lang="en-US" altLang="zh-CN" sz="1400" b="1" kern="0" dirty="0">
                <a:solidFill>
                  <a:srgbClr val="5C2A7F"/>
                </a:solidFill>
                <a:latin typeface="OPPOSans H"/>
                <a:ea typeface="OPPOSans H"/>
                <a:cs typeface="OPPOSans H" panose="00020600040101010101" pitchFamily="18" charset="-122"/>
              </a:endParaRPr>
            </a:p>
            <a:p>
              <a:pPr algn="ctr" defTabSz="1219169" hangingPunct="0"/>
              <a:r>
                <a:rPr lang="zh-CN" altLang="en-US" sz="1400" b="1" kern="0" dirty="0">
                  <a:solidFill>
                    <a:srgbClr val="5C2A7F"/>
                  </a:solidFill>
                  <a:latin typeface="OPPOSans H"/>
                  <a:ea typeface="OPPOSans H"/>
                  <a:cs typeface="OPPOSans H" panose="00020600040101010101" pitchFamily="18" charset="-122"/>
                </a:rPr>
                <a:t>现场检查</a:t>
              </a:r>
              <a:endParaRPr lang="zh-CN" altLang="en-US" sz="1050" b="1" kern="0" dirty="0">
                <a:solidFill>
                  <a:srgbClr val="5C2A7F"/>
                </a:solidFill>
                <a:latin typeface="OPPOSans L" pitchFamily="18" charset="-122"/>
                <a:ea typeface="OPPOSans L" pitchFamily="18" charset="-122"/>
                <a:cs typeface="OPPOSans L" pitchFamily="18" charset="-122"/>
              </a:endParaRPr>
            </a:p>
          </p:txBody>
        </p:sp>
        <p:cxnSp>
          <p:nvCxnSpPr>
            <p:cNvPr id="50" name="直线连接符 49">
              <a:extLst>
                <a:ext uri="{FF2B5EF4-FFF2-40B4-BE49-F238E27FC236}">
                  <a16:creationId xmlns:a16="http://schemas.microsoft.com/office/drawing/2014/main" id="{C1880612-75A8-2911-9D72-381311EFCF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7340" y="3236407"/>
              <a:ext cx="0" cy="257305"/>
            </a:xfrm>
            <a:prstGeom prst="line">
              <a:avLst/>
            </a:prstGeom>
            <a:ln w="12700">
              <a:solidFill>
                <a:srgbClr val="5C2A7F"/>
              </a:solidFill>
              <a:prstDash val="sysDash"/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线连接符 50">
              <a:extLst>
                <a:ext uri="{FF2B5EF4-FFF2-40B4-BE49-F238E27FC236}">
                  <a16:creationId xmlns:a16="http://schemas.microsoft.com/office/drawing/2014/main" id="{F5DA1112-04BE-FF2B-C7E5-F968E6E8CE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7340" y="4073525"/>
              <a:ext cx="0" cy="257305"/>
            </a:xfrm>
            <a:prstGeom prst="line">
              <a:avLst/>
            </a:prstGeom>
            <a:ln w="12700">
              <a:solidFill>
                <a:srgbClr val="5C2A7F"/>
              </a:solidFill>
              <a:prstDash val="sysDash"/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92854BAB-A247-BE69-16C3-4CEA7CB58E2C}"/>
              </a:ext>
            </a:extLst>
          </p:cNvPr>
          <p:cNvGrpSpPr/>
          <p:nvPr/>
        </p:nvGrpSpPr>
        <p:grpSpPr>
          <a:xfrm>
            <a:off x="7947970" y="3752973"/>
            <a:ext cx="1294181" cy="2255302"/>
            <a:chOff x="1345719" y="2681011"/>
            <a:chExt cx="1543242" cy="2689327"/>
          </a:xfrm>
        </p:grpSpPr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37CC02B2-D97E-3401-9FE2-234E4414B174}"/>
                </a:ext>
              </a:extLst>
            </p:cNvPr>
            <p:cNvGrpSpPr/>
            <p:nvPr/>
          </p:nvGrpSpPr>
          <p:grpSpPr>
            <a:xfrm>
              <a:off x="1361386" y="3579620"/>
              <a:ext cx="1511908" cy="439883"/>
              <a:chOff x="1329263" y="3582379"/>
              <a:chExt cx="1620766" cy="439883"/>
            </a:xfrm>
          </p:grpSpPr>
          <p:sp>
            <p:nvSpPr>
              <p:cNvPr id="45" name="矩形: 圆角 114">
                <a:extLst>
                  <a:ext uri="{FF2B5EF4-FFF2-40B4-BE49-F238E27FC236}">
                    <a16:creationId xmlns:a16="http://schemas.microsoft.com/office/drawing/2014/main" id="{02B14BC6-CBD5-8313-234D-5179025943F4}"/>
                  </a:ext>
                </a:extLst>
              </p:cNvPr>
              <p:cNvSpPr/>
              <p:nvPr/>
            </p:nvSpPr>
            <p:spPr>
              <a:xfrm>
                <a:off x="1329263" y="3582379"/>
                <a:ext cx="1620766" cy="439883"/>
              </a:xfrm>
              <a:prstGeom prst="roundRect">
                <a:avLst>
                  <a:gd name="adj" fmla="val 0"/>
                </a:avLst>
              </a:prstGeom>
              <a:solidFill>
                <a:srgbClr val="5C2A7F"/>
              </a:solidFill>
              <a:ln w="12700" cap="flat">
                <a:solidFill>
                  <a:srgbClr val="5C2A7F"/>
                </a:solidFill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pPr defTabSz="731520"/>
                <a:endParaRPr lang="zh-CN" altLang="en-US" sz="1440" dirty="0">
                  <a:solidFill>
                    <a:srgbClr val="000000"/>
                  </a:solidFill>
                  <a:latin typeface="Calibri" panose="020F0502020204030204"/>
                  <a:ea typeface="等线" panose="02010600030101010101" pitchFamily="2" charset="-122"/>
                </a:endParaRPr>
              </a:p>
            </p:txBody>
          </p:sp>
          <p:sp>
            <p:nvSpPr>
              <p:cNvPr id="46" name="Object60">
                <a:extLst>
                  <a:ext uri="{FF2B5EF4-FFF2-40B4-BE49-F238E27FC236}">
                    <a16:creationId xmlns:a16="http://schemas.microsoft.com/office/drawing/2014/main" id="{74B58C05-4D3D-C2AF-8260-CBB3669BD7C8}"/>
                  </a:ext>
                </a:extLst>
              </p:cNvPr>
              <p:cNvSpPr/>
              <p:nvPr/>
            </p:nvSpPr>
            <p:spPr>
              <a:xfrm>
                <a:off x="1552149" y="3717816"/>
                <a:ext cx="1245558" cy="1690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ctr" defTabSz="731520"/>
                <a:r>
                  <a:rPr lang="zh-CN" altLang="en-US" sz="1200" dirty="0">
                    <a:solidFill>
                      <a:schemeClr val="bg1"/>
                    </a:solidFill>
                    <a:latin typeface="OPPOSans M" pitchFamily="18" charset="-122"/>
                    <a:ea typeface="OPPOSans M" pitchFamily="18" charset="-122"/>
                    <a:cs typeface="OPPOSans M" pitchFamily="18" charset="-122"/>
                  </a:rPr>
                  <a:t>上措施</a:t>
                </a:r>
                <a:endParaRPr lang="en-US" sz="1200" dirty="0">
                  <a:solidFill>
                    <a:schemeClr val="bg1"/>
                  </a:solidFill>
                  <a:latin typeface="OPPOSans M" pitchFamily="18" charset="-122"/>
                  <a:ea typeface="OPPOSans M" pitchFamily="18" charset="-122"/>
                  <a:cs typeface="OPPOSans M" pitchFamily="18" charset="-122"/>
                </a:endParaRPr>
              </a:p>
            </p:txBody>
          </p:sp>
        </p:grpSp>
        <p:sp>
          <p:nvSpPr>
            <p:cNvPr id="44" name="Object60">
              <a:extLst>
                <a:ext uri="{FF2B5EF4-FFF2-40B4-BE49-F238E27FC236}">
                  <a16:creationId xmlns:a16="http://schemas.microsoft.com/office/drawing/2014/main" id="{1A3D1BE1-8FCD-633A-A61A-6CB0764B6ED6}"/>
                </a:ext>
              </a:extLst>
            </p:cNvPr>
            <p:cNvSpPr/>
            <p:nvPr/>
          </p:nvSpPr>
          <p:spPr>
            <a:xfrm>
              <a:off x="1536390" y="4535703"/>
              <a:ext cx="1161901" cy="83463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algn="ctr" defTabSz="731520">
                <a:lnSpc>
                  <a:spcPct val="130000"/>
                </a:lnSpc>
              </a:pPr>
              <a:r>
                <a:rPr lang="zh-CN" altLang="en-US" sz="1200" dirty="0">
                  <a:solidFill>
                    <a:srgbClr val="5C2A7F"/>
                  </a:solidFill>
                  <a:latin typeface="OPPOSans M" pitchFamily="18" charset="-122"/>
                  <a:ea typeface="OPPOSans M" pitchFamily="18" charset="-122"/>
                  <a:cs typeface="OPPOSans M" pitchFamily="18" charset="-122"/>
                </a:rPr>
                <a:t>共计发出</a:t>
              </a:r>
              <a:r>
                <a:rPr lang="en-US" altLang="zh-CN" sz="1200" dirty="0">
                  <a:solidFill>
                    <a:srgbClr val="5C2A7F"/>
                  </a:solidFill>
                  <a:latin typeface="OPPOSans M" pitchFamily="18" charset="-122"/>
                  <a:ea typeface="OPPOSans M" pitchFamily="18" charset="-122"/>
                  <a:cs typeface="OPPOSans M" pitchFamily="18" charset="-122"/>
                </a:rPr>
                <a:t>15</a:t>
              </a:r>
              <a:r>
                <a:rPr lang="zh-CN" altLang="en-US" sz="1200" dirty="0">
                  <a:solidFill>
                    <a:srgbClr val="5C2A7F"/>
                  </a:solidFill>
                  <a:latin typeface="OPPOSans M" pitchFamily="18" charset="-122"/>
                  <a:ea typeface="OPPOSans M" pitchFamily="18" charset="-122"/>
                  <a:cs typeface="OPPOSans M" pitchFamily="18" charset="-122"/>
                </a:rPr>
                <a:t>项整改要求，扣罚金额</a:t>
              </a:r>
              <a:r>
                <a:rPr lang="en-US" altLang="zh-CN" sz="1200" dirty="0">
                  <a:solidFill>
                    <a:srgbClr val="5C2A7F"/>
                  </a:solidFill>
                  <a:latin typeface="OPPOSans M" pitchFamily="18" charset="-122"/>
                  <a:ea typeface="OPPOSans M" pitchFamily="18" charset="-122"/>
                  <a:cs typeface="OPPOSans M" pitchFamily="18" charset="-122"/>
                </a:rPr>
                <a:t>3500</a:t>
              </a:r>
              <a:r>
                <a:rPr lang="zh-CN" altLang="en-US" sz="1200" dirty="0">
                  <a:solidFill>
                    <a:srgbClr val="5C2A7F"/>
                  </a:solidFill>
                  <a:latin typeface="OPPOSans M" pitchFamily="18" charset="-122"/>
                  <a:ea typeface="OPPOSans M" pitchFamily="18" charset="-122"/>
                  <a:cs typeface="OPPOSans M" pitchFamily="18" charset="-122"/>
                </a:rPr>
                <a:t>元</a:t>
              </a:r>
              <a:endParaRPr lang="en-US" altLang="zh-CN" sz="1200" dirty="0">
                <a:solidFill>
                  <a:srgbClr val="5C2A7F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endParaRPr>
            </a:p>
          </p:txBody>
        </p:sp>
        <p:sp>
          <p:nvSpPr>
            <p:cNvPr id="39" name="Object29">
              <a:extLst>
                <a:ext uri="{FF2B5EF4-FFF2-40B4-BE49-F238E27FC236}">
                  <a16:creationId xmlns:a16="http://schemas.microsoft.com/office/drawing/2014/main" id="{9CD6A021-5437-3864-3306-1AA603429FBA}"/>
                </a:ext>
              </a:extLst>
            </p:cNvPr>
            <p:cNvSpPr/>
            <p:nvPr/>
          </p:nvSpPr>
          <p:spPr>
            <a:xfrm>
              <a:off x="1345719" y="2681011"/>
              <a:ext cx="1543242" cy="339884"/>
            </a:xfrm>
            <a:prstGeom prst="rect">
              <a:avLst/>
            </a:prstGeom>
            <a:ln w="12700">
              <a:miter lim="400000"/>
            </a:ln>
          </p:spPr>
          <p:txBody>
            <a:bodyPr wrap="none" lIns="25400" tIns="25400" rIns="25400" bIns="25400" anchor="ctr">
              <a:noAutofit/>
            </a:bodyPr>
            <a:lstStyle/>
            <a:p>
              <a:pPr algn="ctr" defTabSz="1219169" hangingPunct="0"/>
              <a:r>
                <a:rPr lang="zh-CN" altLang="en-US" sz="1400" b="1" kern="0" dirty="0">
                  <a:solidFill>
                    <a:srgbClr val="5C2A7F"/>
                  </a:solidFill>
                  <a:latin typeface="OPPOSans H"/>
                  <a:ea typeface="OPPOSans H"/>
                  <a:cs typeface="OPPOSans H" panose="00020600040101010101" pitchFamily="18" charset="-122"/>
                </a:rPr>
                <a:t>整改和处罚</a:t>
              </a:r>
              <a:endParaRPr lang="zh-CN" altLang="en-US" sz="1050" b="1" kern="0" dirty="0">
                <a:solidFill>
                  <a:srgbClr val="5C2A7F"/>
                </a:solidFill>
                <a:latin typeface="OPPOSans L" pitchFamily="18" charset="-122"/>
                <a:ea typeface="OPPOSans L" pitchFamily="18" charset="-122"/>
                <a:cs typeface="OPPOSans L" pitchFamily="18" charset="-122"/>
              </a:endParaRPr>
            </a:p>
          </p:txBody>
        </p:sp>
        <p:cxnSp>
          <p:nvCxnSpPr>
            <p:cNvPr id="40" name="直线连接符 39">
              <a:extLst>
                <a:ext uri="{FF2B5EF4-FFF2-40B4-BE49-F238E27FC236}">
                  <a16:creationId xmlns:a16="http://schemas.microsoft.com/office/drawing/2014/main" id="{595C2571-2C7E-67ED-AC80-0E917FAB6A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7340" y="3236407"/>
              <a:ext cx="0" cy="257305"/>
            </a:xfrm>
            <a:prstGeom prst="line">
              <a:avLst/>
            </a:prstGeom>
            <a:ln w="12700">
              <a:solidFill>
                <a:srgbClr val="5C2A7F"/>
              </a:solidFill>
              <a:prstDash val="sysDash"/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线连接符 40">
              <a:extLst>
                <a:ext uri="{FF2B5EF4-FFF2-40B4-BE49-F238E27FC236}">
                  <a16:creationId xmlns:a16="http://schemas.microsoft.com/office/drawing/2014/main" id="{B60512BA-61AF-C976-1888-CB4F5AD0B9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7340" y="4073525"/>
              <a:ext cx="0" cy="257305"/>
            </a:xfrm>
            <a:prstGeom prst="line">
              <a:avLst/>
            </a:prstGeom>
            <a:ln w="12700">
              <a:solidFill>
                <a:srgbClr val="5C2A7F"/>
              </a:solidFill>
              <a:prstDash val="sysDash"/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DB78D567-F503-F276-80AB-C08537598068}"/>
              </a:ext>
            </a:extLst>
          </p:cNvPr>
          <p:cNvGrpSpPr/>
          <p:nvPr/>
        </p:nvGrpSpPr>
        <p:grpSpPr>
          <a:xfrm>
            <a:off x="9645384" y="3752973"/>
            <a:ext cx="1294181" cy="2256200"/>
            <a:chOff x="1345719" y="2681011"/>
            <a:chExt cx="1543242" cy="2690398"/>
          </a:xfrm>
        </p:grpSpPr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B97C7F15-2089-57A6-1D98-3FC95F3BC817}"/>
                </a:ext>
              </a:extLst>
            </p:cNvPr>
            <p:cNvGrpSpPr/>
            <p:nvPr/>
          </p:nvGrpSpPr>
          <p:grpSpPr>
            <a:xfrm>
              <a:off x="1361386" y="3579620"/>
              <a:ext cx="1511908" cy="439883"/>
              <a:chOff x="1329263" y="3582379"/>
              <a:chExt cx="1620766" cy="439883"/>
            </a:xfrm>
          </p:grpSpPr>
          <p:sp>
            <p:nvSpPr>
              <p:cNvPr id="35" name="矩形: 圆角 114">
                <a:extLst>
                  <a:ext uri="{FF2B5EF4-FFF2-40B4-BE49-F238E27FC236}">
                    <a16:creationId xmlns:a16="http://schemas.microsoft.com/office/drawing/2014/main" id="{DC86923A-F670-B1C6-3B70-49416778B4CE}"/>
                  </a:ext>
                </a:extLst>
              </p:cNvPr>
              <p:cNvSpPr/>
              <p:nvPr/>
            </p:nvSpPr>
            <p:spPr>
              <a:xfrm>
                <a:off x="1329263" y="3582379"/>
                <a:ext cx="1620766" cy="439883"/>
              </a:xfrm>
              <a:prstGeom prst="roundRect">
                <a:avLst>
                  <a:gd name="adj" fmla="val 0"/>
                </a:avLst>
              </a:prstGeom>
              <a:solidFill>
                <a:srgbClr val="5C2A7F"/>
              </a:solidFill>
              <a:ln w="12700" cap="flat">
                <a:solidFill>
                  <a:srgbClr val="5C2A7F"/>
                </a:solidFill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pPr defTabSz="731520"/>
                <a:endParaRPr lang="zh-CN" altLang="en-US" sz="1440" dirty="0">
                  <a:solidFill>
                    <a:srgbClr val="000000"/>
                  </a:solidFill>
                  <a:latin typeface="Calibri" panose="020F0502020204030204"/>
                  <a:ea typeface="等线" panose="02010600030101010101" pitchFamily="2" charset="-122"/>
                </a:endParaRPr>
              </a:p>
            </p:txBody>
          </p:sp>
          <p:sp>
            <p:nvSpPr>
              <p:cNvPr id="36" name="Object60">
                <a:extLst>
                  <a:ext uri="{FF2B5EF4-FFF2-40B4-BE49-F238E27FC236}">
                    <a16:creationId xmlns:a16="http://schemas.microsoft.com/office/drawing/2014/main" id="{23140833-C1DC-2BAC-5552-1D8ED614AE44}"/>
                  </a:ext>
                </a:extLst>
              </p:cNvPr>
              <p:cNvSpPr/>
              <p:nvPr/>
            </p:nvSpPr>
            <p:spPr>
              <a:xfrm>
                <a:off x="1552149" y="3717816"/>
                <a:ext cx="1245558" cy="1690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ctr" defTabSz="731520"/>
                <a:r>
                  <a:rPr lang="zh-CN" altLang="en-US" sz="1200" dirty="0">
                    <a:solidFill>
                      <a:schemeClr val="bg1"/>
                    </a:solidFill>
                    <a:latin typeface="OPPOSans M" pitchFamily="18" charset="-122"/>
                    <a:ea typeface="OPPOSans M" pitchFamily="18" charset="-122"/>
                    <a:cs typeface="OPPOSans M" pitchFamily="18" charset="-122"/>
                  </a:rPr>
                  <a:t>控舆情</a:t>
                </a:r>
                <a:endParaRPr lang="en-US" sz="1200" dirty="0">
                  <a:solidFill>
                    <a:schemeClr val="bg1"/>
                  </a:solidFill>
                  <a:latin typeface="OPPOSans M" pitchFamily="18" charset="-122"/>
                  <a:ea typeface="OPPOSans M" pitchFamily="18" charset="-122"/>
                  <a:cs typeface="OPPOSans M" pitchFamily="18" charset="-122"/>
                </a:endParaRPr>
              </a:p>
            </p:txBody>
          </p:sp>
        </p:grpSp>
        <p:sp>
          <p:nvSpPr>
            <p:cNvPr id="34" name="Object60">
              <a:extLst>
                <a:ext uri="{FF2B5EF4-FFF2-40B4-BE49-F238E27FC236}">
                  <a16:creationId xmlns:a16="http://schemas.microsoft.com/office/drawing/2014/main" id="{ADD70C53-37E6-A17B-E538-F49A9435754E}"/>
                </a:ext>
              </a:extLst>
            </p:cNvPr>
            <p:cNvSpPr/>
            <p:nvPr/>
          </p:nvSpPr>
          <p:spPr>
            <a:xfrm>
              <a:off x="1361387" y="4535703"/>
              <a:ext cx="1527574" cy="83570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algn="ctr" defTabSz="731520">
                <a:lnSpc>
                  <a:spcPct val="130000"/>
                </a:lnSpc>
              </a:pPr>
              <a:r>
                <a:rPr lang="zh-CN" altLang="en-US" sz="1200" dirty="0">
                  <a:solidFill>
                    <a:srgbClr val="5C2A7F"/>
                  </a:solidFill>
                  <a:latin typeface="OPPOSans M" pitchFamily="18" charset="-122"/>
                  <a:ea typeface="OPPOSans M" pitchFamily="18" charset="-122"/>
                  <a:cs typeface="OPPOSans M" pitchFamily="18" charset="-122"/>
                </a:rPr>
                <a:t>监控外包商是否出现异常情况，触发预警</a:t>
              </a:r>
              <a:r>
                <a:rPr lang="en-US" altLang="zh-CN" sz="1200" dirty="0">
                  <a:solidFill>
                    <a:srgbClr val="5C2A7F"/>
                  </a:solidFill>
                  <a:latin typeface="OPPOSans M" pitchFamily="18" charset="-122"/>
                  <a:ea typeface="OPPOSans M" pitchFamily="18" charset="-122"/>
                  <a:cs typeface="OPPOSans M" pitchFamily="18" charset="-122"/>
                </a:rPr>
                <a:t>4</a:t>
              </a:r>
              <a:r>
                <a:rPr lang="zh-CN" altLang="en-US" sz="1200" dirty="0">
                  <a:solidFill>
                    <a:srgbClr val="5C2A7F"/>
                  </a:solidFill>
                  <a:latin typeface="OPPOSans M" pitchFamily="18" charset="-122"/>
                  <a:ea typeface="OPPOSans M" pitchFamily="18" charset="-122"/>
                  <a:cs typeface="OPPOSans M" pitchFamily="18" charset="-122"/>
                </a:rPr>
                <a:t>次</a:t>
              </a:r>
              <a:endParaRPr lang="en-US" altLang="zh-CN" sz="1200" dirty="0">
                <a:solidFill>
                  <a:srgbClr val="5C2A7F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endParaRPr>
            </a:p>
          </p:txBody>
        </p:sp>
        <p:sp>
          <p:nvSpPr>
            <p:cNvPr id="29" name="Object29">
              <a:extLst>
                <a:ext uri="{FF2B5EF4-FFF2-40B4-BE49-F238E27FC236}">
                  <a16:creationId xmlns:a16="http://schemas.microsoft.com/office/drawing/2014/main" id="{7B9D1DF2-1464-6817-234D-A3A2FDE37666}"/>
                </a:ext>
              </a:extLst>
            </p:cNvPr>
            <p:cNvSpPr/>
            <p:nvPr/>
          </p:nvSpPr>
          <p:spPr>
            <a:xfrm>
              <a:off x="1345719" y="2681011"/>
              <a:ext cx="1543242" cy="339884"/>
            </a:xfrm>
            <a:prstGeom prst="rect">
              <a:avLst/>
            </a:prstGeom>
            <a:ln w="12700">
              <a:miter lim="400000"/>
            </a:ln>
          </p:spPr>
          <p:txBody>
            <a:bodyPr wrap="none" lIns="25400" tIns="25400" rIns="25400" bIns="25400" anchor="ctr">
              <a:noAutofit/>
            </a:bodyPr>
            <a:lstStyle/>
            <a:p>
              <a:pPr algn="ctr" defTabSz="1219169" hangingPunct="0"/>
              <a:r>
                <a:rPr lang="zh-CN" altLang="en-US" sz="1200" b="1" kern="0" dirty="0">
                  <a:solidFill>
                    <a:srgbClr val="5C2A7F"/>
                  </a:solidFill>
                  <a:latin typeface="OPPOSans H"/>
                  <a:ea typeface="OPPOSans H"/>
                  <a:cs typeface="OPPOSans H" panose="00020600040101010101" pitchFamily="18" charset="-122"/>
                </a:rPr>
                <a:t>监控经营情况</a:t>
              </a:r>
              <a:endParaRPr lang="zh-CN" altLang="en-US" sz="1000" b="1" kern="0" dirty="0">
                <a:solidFill>
                  <a:srgbClr val="5C2A7F"/>
                </a:solidFill>
                <a:latin typeface="OPPOSans L" pitchFamily="18" charset="-122"/>
                <a:ea typeface="OPPOSans L" pitchFamily="18" charset="-122"/>
                <a:cs typeface="OPPOSans L" pitchFamily="18" charset="-122"/>
              </a:endParaRPr>
            </a:p>
          </p:txBody>
        </p:sp>
        <p:cxnSp>
          <p:nvCxnSpPr>
            <p:cNvPr id="30" name="直线连接符 29">
              <a:extLst>
                <a:ext uri="{FF2B5EF4-FFF2-40B4-BE49-F238E27FC236}">
                  <a16:creationId xmlns:a16="http://schemas.microsoft.com/office/drawing/2014/main" id="{5DF74EB2-451C-DCD6-C6AD-CA7DCD95BA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7340" y="3236407"/>
              <a:ext cx="0" cy="257305"/>
            </a:xfrm>
            <a:prstGeom prst="line">
              <a:avLst/>
            </a:prstGeom>
            <a:ln w="12700">
              <a:solidFill>
                <a:srgbClr val="5C2A7F"/>
              </a:solidFill>
              <a:prstDash val="sysDash"/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线连接符 30">
              <a:extLst>
                <a:ext uri="{FF2B5EF4-FFF2-40B4-BE49-F238E27FC236}">
                  <a16:creationId xmlns:a16="http://schemas.microsoft.com/office/drawing/2014/main" id="{76051382-3B56-43D6-9CDD-70B2DC4515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7340" y="4073525"/>
              <a:ext cx="0" cy="257305"/>
            </a:xfrm>
            <a:prstGeom prst="line">
              <a:avLst/>
            </a:prstGeom>
            <a:ln w="12700">
              <a:solidFill>
                <a:srgbClr val="5C2A7F"/>
              </a:solidFill>
              <a:prstDash val="sysDash"/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三角形 22">
            <a:extLst>
              <a:ext uri="{FF2B5EF4-FFF2-40B4-BE49-F238E27FC236}">
                <a16:creationId xmlns:a16="http://schemas.microsoft.com/office/drawing/2014/main" id="{CC0EA845-A154-C04A-D820-BB258FB53014}"/>
              </a:ext>
            </a:extLst>
          </p:cNvPr>
          <p:cNvSpPr/>
          <p:nvPr/>
        </p:nvSpPr>
        <p:spPr>
          <a:xfrm rot="5400000">
            <a:off x="4298011" y="4662220"/>
            <a:ext cx="107030" cy="92267"/>
          </a:xfrm>
          <a:prstGeom prst="triangle">
            <a:avLst/>
          </a:prstGeom>
          <a:solidFill>
            <a:srgbClr val="5C2A7F"/>
          </a:solidFill>
          <a:ln>
            <a:solidFill>
              <a:srgbClr val="5C2A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4" name="三角形 23">
            <a:extLst>
              <a:ext uri="{FF2B5EF4-FFF2-40B4-BE49-F238E27FC236}">
                <a16:creationId xmlns:a16="http://schemas.microsoft.com/office/drawing/2014/main" id="{87B5F538-449C-7987-2ABB-BC57CDA58FEE}"/>
              </a:ext>
            </a:extLst>
          </p:cNvPr>
          <p:cNvSpPr/>
          <p:nvPr/>
        </p:nvSpPr>
        <p:spPr>
          <a:xfrm rot="5400000">
            <a:off x="5995425" y="4662220"/>
            <a:ext cx="107030" cy="92267"/>
          </a:xfrm>
          <a:prstGeom prst="triangle">
            <a:avLst/>
          </a:prstGeom>
          <a:solidFill>
            <a:srgbClr val="5C2A7F"/>
          </a:solidFill>
          <a:ln>
            <a:solidFill>
              <a:srgbClr val="5C2A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5" name="三角形 24">
            <a:extLst>
              <a:ext uri="{FF2B5EF4-FFF2-40B4-BE49-F238E27FC236}">
                <a16:creationId xmlns:a16="http://schemas.microsoft.com/office/drawing/2014/main" id="{B989A882-CAFC-FDBE-A0A8-AAA0FF347079}"/>
              </a:ext>
            </a:extLst>
          </p:cNvPr>
          <p:cNvSpPr/>
          <p:nvPr/>
        </p:nvSpPr>
        <p:spPr>
          <a:xfrm rot="5400000">
            <a:off x="7692839" y="4662220"/>
            <a:ext cx="107030" cy="92267"/>
          </a:xfrm>
          <a:prstGeom prst="triangle">
            <a:avLst/>
          </a:prstGeom>
          <a:solidFill>
            <a:srgbClr val="5C2A7F"/>
          </a:solidFill>
          <a:ln>
            <a:solidFill>
              <a:srgbClr val="5C2A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6" name="三角形 25">
            <a:extLst>
              <a:ext uri="{FF2B5EF4-FFF2-40B4-BE49-F238E27FC236}">
                <a16:creationId xmlns:a16="http://schemas.microsoft.com/office/drawing/2014/main" id="{A8BAA04F-2B85-2111-7D77-E1DC8DC9BB49}"/>
              </a:ext>
            </a:extLst>
          </p:cNvPr>
          <p:cNvSpPr/>
          <p:nvPr/>
        </p:nvSpPr>
        <p:spPr>
          <a:xfrm rot="5400000">
            <a:off x="9390253" y="4662220"/>
            <a:ext cx="107030" cy="92267"/>
          </a:xfrm>
          <a:prstGeom prst="triangle">
            <a:avLst/>
          </a:prstGeom>
          <a:solidFill>
            <a:srgbClr val="5C2A7F"/>
          </a:solidFill>
          <a:ln>
            <a:solidFill>
              <a:srgbClr val="5C2A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621EE82B-3597-8FAD-8659-38DC749A92B4}"/>
              </a:ext>
            </a:extLst>
          </p:cNvPr>
          <p:cNvSpPr txBox="1"/>
          <p:nvPr/>
        </p:nvSpPr>
        <p:spPr>
          <a:xfrm>
            <a:off x="773984" y="440471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b="1" dirty="0">
                <a:solidFill>
                  <a:srgbClr val="5C2A7F"/>
                </a:solidFill>
              </a:rPr>
              <a:t>作业流程</a:t>
            </a: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8ED3AC79-1836-8F9D-219B-A8C503317D66}"/>
              </a:ext>
            </a:extLst>
          </p:cNvPr>
          <p:cNvSpPr txBox="1"/>
          <p:nvPr/>
        </p:nvSpPr>
        <p:spPr>
          <a:xfrm>
            <a:off x="885371" y="5646057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稽核报告图片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49A73123-E38C-CD0E-9300-8CFFDFC7C164}"/>
              </a:ext>
            </a:extLst>
          </p:cNvPr>
          <p:cNvGrpSpPr/>
          <p:nvPr/>
        </p:nvGrpSpPr>
        <p:grpSpPr>
          <a:xfrm>
            <a:off x="-12127598" y="1193058"/>
            <a:ext cx="10251688" cy="2194248"/>
            <a:chOff x="970156" y="1115163"/>
            <a:chExt cx="10251688" cy="2194248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DE7935B0-3487-0EE8-FB23-65ADA8947F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70156" y="1115163"/>
              <a:ext cx="5159298" cy="2146569"/>
            </a:xfrm>
            <a:prstGeom prst="rect">
              <a:avLst/>
            </a:prstGeom>
          </p:spPr>
        </p:pic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884A8D2D-AB1D-3080-6C73-59A95A6B66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99917" y="1115163"/>
              <a:ext cx="3521927" cy="2194248"/>
            </a:xfrm>
            <a:prstGeom prst="rect">
              <a:avLst/>
            </a:prstGeom>
          </p:spPr>
        </p:pic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06CE0F44-9451-DE8A-772E-3E3FEB56B14A}"/>
              </a:ext>
            </a:extLst>
          </p:cNvPr>
          <p:cNvGrpSpPr/>
          <p:nvPr/>
        </p:nvGrpSpPr>
        <p:grpSpPr>
          <a:xfrm>
            <a:off x="14420168" y="3766039"/>
            <a:ext cx="11306178" cy="2164887"/>
            <a:chOff x="442911" y="3766039"/>
            <a:chExt cx="11306178" cy="2164887"/>
          </a:xfrm>
        </p:grpSpPr>
        <p:pic>
          <p:nvPicPr>
            <p:cNvPr id="32" name="图片 31">
              <a:extLst>
                <a:ext uri="{FF2B5EF4-FFF2-40B4-BE49-F238E27FC236}">
                  <a16:creationId xmlns:a16="http://schemas.microsoft.com/office/drawing/2014/main" id="{D13D17AC-4EB6-6D5C-FB0C-41CF85A67AA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2911" y="3766039"/>
              <a:ext cx="5713280" cy="2146570"/>
            </a:xfrm>
            <a:prstGeom prst="rect">
              <a:avLst/>
            </a:prstGeom>
          </p:spPr>
        </p:pic>
        <p:pic>
          <p:nvPicPr>
            <p:cNvPr id="33" name="图片 32">
              <a:extLst>
                <a:ext uri="{FF2B5EF4-FFF2-40B4-BE49-F238E27FC236}">
                  <a16:creationId xmlns:a16="http://schemas.microsoft.com/office/drawing/2014/main" id="{28481E34-F581-3C5C-A9D8-2EE4FF37E62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545766" y="3766040"/>
              <a:ext cx="5203323" cy="21648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903030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>
            <a:extLst>
              <a:ext uri="{FF2B5EF4-FFF2-40B4-BE49-F238E27FC236}">
                <a16:creationId xmlns:a16="http://schemas.microsoft.com/office/drawing/2014/main" id="{5C2AF852-8A90-FA78-9821-FB9ABDB1D9A9}"/>
              </a:ext>
            </a:extLst>
          </p:cNvPr>
          <p:cNvSpPr txBox="1">
            <a:spLocks/>
          </p:cNvSpPr>
          <p:nvPr/>
        </p:nvSpPr>
        <p:spPr>
          <a:xfrm>
            <a:off x="442911" y="200959"/>
            <a:ext cx="7765421" cy="598487"/>
          </a:xfrm>
          <a:prstGeom prst="rect">
            <a:avLst/>
          </a:prstGeom>
          <a:noFill/>
          <a:ln w="12700">
            <a:noFill/>
            <a:miter/>
          </a:ln>
        </p:spPr>
        <p:txBody>
          <a:bodyPr vert="horz" wrap="square" lIns="45720" tIns="45720" rIns="45720" bIns="45720" anchor="ctr" anchorCtr="0"/>
          <a:lstStyle>
            <a:lvl1pPr marL="0" lvl="0" indent="0" algn="l" defTabSz="91440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zh-CN" sz="4400" b="0" i="0" u="none" baseline="0">
                <a:solidFill>
                  <a:srgbClr val="000000"/>
                </a:solidFill>
                <a:latin typeface="Arial"/>
                <a:ea typeface="Arial"/>
              </a:defRPr>
            </a:lvl1pPr>
            <a:lvl2pPr lvl="1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2pPr>
            <a:lvl3pPr lvl="2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3pPr>
            <a:lvl4pPr lvl="3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4pPr>
            <a:lvl5pPr lvl="4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5pPr>
            <a:lvl6pPr marL="457200" lvl="5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6pPr>
            <a:lvl7pPr marL="914400" lvl="6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7pPr>
            <a:lvl8pPr marL="1371600" lvl="7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8pPr>
            <a:lvl9pPr marL="1828800" lvl="8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9pPr>
          </a:lstStyle>
          <a:p>
            <a:r>
              <a:rPr lang="zh-CN" altLang="en-US" sz="2800" dirty="0">
                <a:solidFill>
                  <a:srgbClr val="6931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风控能力的提升</a:t>
            </a:r>
            <a:r>
              <a:rPr lang="en-US" altLang="zh-CN" sz="2800" dirty="0">
                <a:solidFill>
                  <a:srgbClr val="6931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1.0——</a:t>
            </a:r>
            <a:r>
              <a:rPr lang="zh-CN" altLang="en-US" sz="2800" dirty="0">
                <a:solidFill>
                  <a:srgbClr val="6931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从“形式”到“实质”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CF07469A-6138-17E5-C7D4-A0EFD875A9F6}"/>
              </a:ext>
            </a:extLst>
          </p:cNvPr>
          <p:cNvGrpSpPr/>
          <p:nvPr/>
        </p:nvGrpSpPr>
        <p:grpSpPr>
          <a:xfrm>
            <a:off x="970156" y="1115163"/>
            <a:ext cx="10251688" cy="2194248"/>
            <a:chOff x="970156" y="1115163"/>
            <a:chExt cx="10251688" cy="2194248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02E362C8-447A-35A8-0C68-16A937115F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70156" y="1115163"/>
              <a:ext cx="5159298" cy="2146569"/>
            </a:xfrm>
            <a:prstGeom prst="rect">
              <a:avLst/>
            </a:prstGeom>
          </p:spPr>
        </p:pic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56019D5E-0732-B11A-AA82-53BA328F275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99917" y="1115163"/>
              <a:ext cx="3521927" cy="2194248"/>
            </a:xfrm>
            <a:prstGeom prst="rect">
              <a:avLst/>
            </a:prstGeom>
          </p:spPr>
        </p:pic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C85782CE-0D8C-D20A-C402-66079AAE0228}"/>
              </a:ext>
            </a:extLst>
          </p:cNvPr>
          <p:cNvGrpSpPr/>
          <p:nvPr/>
        </p:nvGrpSpPr>
        <p:grpSpPr>
          <a:xfrm>
            <a:off x="442911" y="3766039"/>
            <a:ext cx="11306178" cy="2164887"/>
            <a:chOff x="442911" y="3766039"/>
            <a:chExt cx="11306178" cy="2164887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A0C60594-40D4-E2AC-5B75-698A105689B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2911" y="3766039"/>
              <a:ext cx="5713280" cy="2146570"/>
            </a:xfrm>
            <a:prstGeom prst="rect">
              <a:avLst/>
            </a:prstGeom>
          </p:spPr>
        </p:pic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DC5BCF28-A240-1E58-8095-B9F4E85DE30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545766" y="3766040"/>
              <a:ext cx="5203323" cy="21648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740295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8800D-502B-018E-CBFC-569D992C3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>
            <a:extLst>
              <a:ext uri="{FF2B5EF4-FFF2-40B4-BE49-F238E27FC236}">
                <a16:creationId xmlns:a16="http://schemas.microsoft.com/office/drawing/2014/main" id="{6118B759-8F08-7971-B986-F9281FECB1CC}"/>
              </a:ext>
            </a:extLst>
          </p:cNvPr>
          <p:cNvSpPr/>
          <p:nvPr/>
        </p:nvSpPr>
        <p:spPr>
          <a:xfrm>
            <a:off x="38300" y="923433"/>
            <a:ext cx="12192000" cy="2733499"/>
          </a:xfrm>
          <a:prstGeom prst="rect">
            <a:avLst/>
          </a:prstGeom>
          <a:solidFill>
            <a:srgbClr val="68318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B51CE169-A212-D164-ECFA-D3036E66F1E1}"/>
              </a:ext>
            </a:extLst>
          </p:cNvPr>
          <p:cNvGrpSpPr/>
          <p:nvPr/>
        </p:nvGrpSpPr>
        <p:grpSpPr>
          <a:xfrm>
            <a:off x="275328" y="1490957"/>
            <a:ext cx="1257155" cy="1934868"/>
            <a:chOff x="3158965" y="1374817"/>
            <a:chExt cx="1257155" cy="1934868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0241EB16-3130-8E80-AFD9-92568E22A56E}"/>
                </a:ext>
              </a:extLst>
            </p:cNvPr>
            <p:cNvSpPr/>
            <p:nvPr/>
          </p:nvSpPr>
          <p:spPr>
            <a:xfrm>
              <a:off x="3158965" y="1374817"/>
              <a:ext cx="1257155" cy="516548"/>
            </a:xfrm>
            <a:prstGeom prst="rect">
              <a:avLst/>
            </a:prstGeom>
            <a:solidFill>
              <a:srgbClr val="5C2A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/>
            <a:p>
              <a:pPr algn="ctr"/>
              <a:r>
                <a:rPr lang="zh-CN" altLang="en-US" sz="16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供给招募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D870BAC1-D84C-6318-311F-33FC6320343E}"/>
                </a:ext>
              </a:extLst>
            </p:cNvPr>
            <p:cNvSpPr/>
            <p:nvPr/>
          </p:nvSpPr>
          <p:spPr>
            <a:xfrm>
              <a:off x="3158965" y="1891366"/>
              <a:ext cx="1257155" cy="14183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/>
            <a:p>
              <a:pPr algn="ctr"/>
              <a:r>
                <a:rPr lang="en-US" altLang="zh-CN" sz="4000" b="1" dirty="0">
                  <a:solidFill>
                    <a:srgbClr val="5C2A7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1900" b="1" dirty="0">
                  <a:solidFill>
                    <a:srgbClr val="5C2A7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次</a:t>
              </a: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DC95EBAA-1440-7335-396D-BE95E2063CB1}"/>
              </a:ext>
            </a:extLst>
          </p:cNvPr>
          <p:cNvGrpSpPr/>
          <p:nvPr/>
        </p:nvGrpSpPr>
        <p:grpSpPr>
          <a:xfrm>
            <a:off x="1843475" y="1490957"/>
            <a:ext cx="1257155" cy="1934867"/>
            <a:chOff x="5467422" y="1374817"/>
            <a:chExt cx="1257155" cy="1934867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14F18F8E-EDDC-7A75-DC05-01C6B2D916BC}"/>
                </a:ext>
              </a:extLst>
            </p:cNvPr>
            <p:cNvSpPr/>
            <p:nvPr/>
          </p:nvSpPr>
          <p:spPr>
            <a:xfrm>
              <a:off x="5467422" y="1374817"/>
              <a:ext cx="1257155" cy="516548"/>
            </a:xfrm>
            <a:prstGeom prst="rect">
              <a:avLst/>
            </a:prstGeom>
            <a:solidFill>
              <a:srgbClr val="5C2A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/>
            <a:p>
              <a:pPr algn="ctr"/>
              <a:r>
                <a:rPr lang="zh-CN" altLang="en-US" sz="16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报名家数</a:t>
              </a: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8B74B6BB-4B7B-0605-B6E2-67750BCC00F7}"/>
                </a:ext>
              </a:extLst>
            </p:cNvPr>
            <p:cNvSpPr/>
            <p:nvPr/>
          </p:nvSpPr>
          <p:spPr>
            <a:xfrm>
              <a:off x="5467422" y="1891365"/>
              <a:ext cx="1257155" cy="14183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/>
            <a:p>
              <a:pPr algn="ctr"/>
              <a:r>
                <a:rPr lang="en-US" altLang="zh-CN" sz="4000" b="1" dirty="0">
                  <a:solidFill>
                    <a:srgbClr val="5C2A7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27</a:t>
              </a:r>
              <a:r>
                <a:rPr lang="zh-CN" altLang="en-US" sz="1900" b="1" dirty="0">
                  <a:solidFill>
                    <a:srgbClr val="5C2A7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家</a:t>
              </a: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3A933119-D907-7300-9EA3-24E023232406}"/>
              </a:ext>
            </a:extLst>
          </p:cNvPr>
          <p:cNvGrpSpPr/>
          <p:nvPr/>
        </p:nvGrpSpPr>
        <p:grpSpPr>
          <a:xfrm>
            <a:off x="3411622" y="1490957"/>
            <a:ext cx="1257155" cy="1934867"/>
            <a:chOff x="7637324" y="1374817"/>
            <a:chExt cx="1257155" cy="1934867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9747FFB0-4F45-7117-A17B-E9B23570B8CC}"/>
                </a:ext>
              </a:extLst>
            </p:cNvPr>
            <p:cNvSpPr/>
            <p:nvPr/>
          </p:nvSpPr>
          <p:spPr>
            <a:xfrm>
              <a:off x="7637324" y="1374817"/>
              <a:ext cx="1257155" cy="516548"/>
            </a:xfrm>
            <a:prstGeom prst="rect">
              <a:avLst/>
            </a:prstGeom>
            <a:solidFill>
              <a:srgbClr val="5C2A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/>
            <a:p>
              <a:pPr algn="ctr"/>
              <a:r>
                <a:rPr lang="zh-CN" altLang="en-US" sz="16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成功入池</a:t>
              </a: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1F36C355-7D38-AC11-0008-1B1F99B569DE}"/>
                </a:ext>
              </a:extLst>
            </p:cNvPr>
            <p:cNvSpPr/>
            <p:nvPr/>
          </p:nvSpPr>
          <p:spPr>
            <a:xfrm>
              <a:off x="7637324" y="1891365"/>
              <a:ext cx="1257155" cy="14183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/>
            <a:p>
              <a:pPr algn="ctr"/>
              <a:r>
                <a:rPr lang="en-US" altLang="zh-CN" sz="4000" b="1" dirty="0">
                  <a:solidFill>
                    <a:srgbClr val="5C2A7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15</a:t>
              </a:r>
              <a:r>
                <a:rPr lang="zh-CN" altLang="en-US" sz="1900" b="1" dirty="0">
                  <a:solidFill>
                    <a:srgbClr val="5C2A7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家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B92F97C7-22AF-70E4-4C9E-A96983417914}"/>
              </a:ext>
            </a:extLst>
          </p:cNvPr>
          <p:cNvGrpSpPr/>
          <p:nvPr/>
        </p:nvGrpSpPr>
        <p:grpSpPr>
          <a:xfrm>
            <a:off x="4979769" y="1490957"/>
            <a:ext cx="1257155" cy="1934867"/>
            <a:chOff x="9120559" y="1374817"/>
            <a:chExt cx="1257155" cy="1934867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331CA52D-046F-8D77-87F8-E1B75CD94D85}"/>
                </a:ext>
              </a:extLst>
            </p:cNvPr>
            <p:cNvSpPr/>
            <p:nvPr/>
          </p:nvSpPr>
          <p:spPr>
            <a:xfrm>
              <a:off x="9120559" y="1374817"/>
              <a:ext cx="1257155" cy="516548"/>
            </a:xfrm>
            <a:prstGeom prst="rect">
              <a:avLst/>
            </a:prstGeom>
            <a:solidFill>
              <a:srgbClr val="5C2A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/>
            <a:p>
              <a:pPr algn="ctr"/>
              <a:r>
                <a:rPr lang="zh-CN" altLang="en-US" sz="16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已测试通过</a:t>
              </a: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D55329B2-12FC-7522-49DC-917EE0C922BA}"/>
                </a:ext>
              </a:extLst>
            </p:cNvPr>
            <p:cNvSpPr/>
            <p:nvPr/>
          </p:nvSpPr>
          <p:spPr>
            <a:xfrm>
              <a:off x="9120559" y="1891365"/>
              <a:ext cx="1257155" cy="14183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/>
            <a:p>
              <a:pPr algn="ctr">
                <a:lnSpc>
                  <a:spcPct val="150000"/>
                </a:lnSpc>
              </a:pPr>
              <a:r>
                <a:rPr lang="en-US" altLang="zh-CN" sz="4000" b="1" dirty="0">
                  <a:solidFill>
                    <a:srgbClr val="5C2A7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r>
                <a:rPr lang="zh-CN" altLang="en-US" sz="1900" b="1" dirty="0">
                  <a:solidFill>
                    <a:srgbClr val="5C2A7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家</a:t>
              </a:r>
            </a:p>
          </p:txBody>
        </p:sp>
      </p:grpSp>
      <p:sp>
        <p:nvSpPr>
          <p:cNvPr id="13" name="Rectangle 6">
            <a:extLst>
              <a:ext uri="{FF2B5EF4-FFF2-40B4-BE49-F238E27FC236}">
                <a16:creationId xmlns:a16="http://schemas.microsoft.com/office/drawing/2014/main" id="{406DCDEB-FA50-7270-FD3F-D98355D9FAAD}"/>
              </a:ext>
            </a:extLst>
          </p:cNvPr>
          <p:cNvSpPr txBox="1">
            <a:spLocks/>
          </p:cNvSpPr>
          <p:nvPr/>
        </p:nvSpPr>
        <p:spPr>
          <a:xfrm>
            <a:off x="442911" y="200959"/>
            <a:ext cx="8236632" cy="598487"/>
          </a:xfrm>
          <a:prstGeom prst="rect">
            <a:avLst/>
          </a:prstGeom>
          <a:noFill/>
          <a:ln w="12700">
            <a:noFill/>
            <a:miter/>
          </a:ln>
        </p:spPr>
        <p:txBody>
          <a:bodyPr vert="horz" wrap="square" lIns="45720" tIns="45720" rIns="45720" bIns="45720" anchor="ctr" anchorCtr="0"/>
          <a:lstStyle>
            <a:lvl1pPr marL="0" lvl="0" indent="0" algn="l" defTabSz="91440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zh-CN" sz="4400" b="0" i="0" u="none" baseline="0">
                <a:solidFill>
                  <a:srgbClr val="000000"/>
                </a:solidFill>
                <a:latin typeface="Arial"/>
                <a:ea typeface="Arial"/>
              </a:defRPr>
            </a:lvl1pPr>
            <a:lvl2pPr lvl="1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2pPr>
            <a:lvl3pPr lvl="2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3pPr>
            <a:lvl4pPr lvl="3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4pPr>
            <a:lvl5pPr lvl="4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5pPr>
            <a:lvl6pPr marL="457200" lvl="5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6pPr>
            <a:lvl7pPr marL="914400" lvl="6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7pPr>
            <a:lvl8pPr marL="1371600" lvl="7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8pPr>
            <a:lvl9pPr marL="1828800" lvl="8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9pPr>
          </a:lstStyle>
          <a:p>
            <a:r>
              <a:rPr lang="zh-CN" altLang="en-US" sz="2800" dirty="0">
                <a:solidFill>
                  <a:srgbClr val="6931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风控能力的提升</a:t>
            </a:r>
            <a:r>
              <a:rPr lang="en-US" altLang="zh-CN" sz="2800" dirty="0">
                <a:solidFill>
                  <a:srgbClr val="6931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2.0——</a:t>
            </a:r>
            <a:r>
              <a:rPr lang="zh-CN" altLang="en-US" sz="2800" dirty="0">
                <a:solidFill>
                  <a:srgbClr val="6931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供应商“池”的建立和管理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3248380-42F9-D695-CD81-2C846977D21F}"/>
              </a:ext>
            </a:extLst>
          </p:cNvPr>
          <p:cNvSpPr txBox="1"/>
          <p:nvPr/>
        </p:nvSpPr>
        <p:spPr>
          <a:xfrm>
            <a:off x="2472052" y="1017031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solidFill>
                  <a:srgbClr val="5C2A7F"/>
                </a:solidFill>
              </a:rPr>
              <a:t>供应商招募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5E6236F-48FF-4F5E-3A97-061156C1B213}"/>
              </a:ext>
            </a:extLst>
          </p:cNvPr>
          <p:cNvSpPr txBox="1"/>
          <p:nvPr/>
        </p:nvSpPr>
        <p:spPr>
          <a:xfrm>
            <a:off x="8048910" y="1017031"/>
            <a:ext cx="2236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solidFill>
                  <a:srgbClr val="5C2A7F"/>
                </a:solidFill>
              </a:rPr>
              <a:t>供应商淘汰和清退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AED6BE2F-E96D-00B1-8890-BBAC815C04DC}"/>
              </a:ext>
            </a:extLst>
          </p:cNvPr>
          <p:cNvSpPr/>
          <p:nvPr/>
        </p:nvSpPr>
        <p:spPr>
          <a:xfrm>
            <a:off x="7523225" y="1669076"/>
            <a:ext cx="1345717" cy="1345718"/>
          </a:xfrm>
          <a:prstGeom prst="ellipse">
            <a:avLst/>
          </a:prstGeom>
          <a:solidFill>
            <a:srgbClr val="5C2A7F"/>
          </a:solidFill>
          <a:ln w="22225">
            <a:noFill/>
            <a:prstDash val="sysDash"/>
          </a:ln>
          <a:effectLst>
            <a:outerShdw blurRad="685800" dist="571500" dir="8100000" sx="79000" sy="79000" algn="r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+mj-ea"/>
                <a:ea typeface="+mj-ea"/>
              </a:rPr>
              <a:t>54</a:t>
            </a:r>
            <a:r>
              <a:rPr lang="zh-CN" altLang="en-US" sz="1900" dirty="0">
                <a:solidFill>
                  <a:schemeClr val="bg1"/>
                </a:solidFill>
                <a:latin typeface="+mj-ea"/>
                <a:ea typeface="+mj-ea"/>
              </a:rPr>
              <a:t>家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AD6720EB-4508-3055-412C-D8BA4D547431}"/>
              </a:ext>
            </a:extLst>
          </p:cNvPr>
          <p:cNvSpPr txBox="1"/>
          <p:nvPr/>
        </p:nvSpPr>
        <p:spPr>
          <a:xfrm>
            <a:off x="7526671" y="3074395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b="1" dirty="0">
                <a:solidFill>
                  <a:srgbClr val="5C2A7F"/>
                </a:solidFill>
                <a:latin typeface="+mj-ea"/>
                <a:ea typeface="+mj-ea"/>
              </a:rPr>
              <a:t>淘汰和清退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77A2110-42BA-4E24-1C7B-FEF2A6F15F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9675425" y="1745132"/>
            <a:ext cx="1346200" cy="16764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0ECE7EC6-543A-176E-5DEB-C3E079034681}"/>
              </a:ext>
            </a:extLst>
          </p:cNvPr>
          <p:cNvSpPr txBox="1"/>
          <p:nvPr/>
        </p:nvSpPr>
        <p:spPr>
          <a:xfrm>
            <a:off x="9375023" y="2990313"/>
            <a:ext cx="7040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>
                <a:solidFill>
                  <a:srgbClr val="5C2A7F"/>
                </a:solidFill>
              </a:rPr>
              <a:t>9%</a:t>
            </a:r>
            <a:endParaRPr kumimoji="1" lang="zh-CN" altLang="en-US" sz="2800" b="1" dirty="0">
              <a:solidFill>
                <a:srgbClr val="5C2A7F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9B8D594-4C66-0470-7C94-5B7EC623C355}"/>
              </a:ext>
            </a:extLst>
          </p:cNvPr>
          <p:cNvSpPr txBox="1"/>
          <p:nvPr/>
        </p:nvSpPr>
        <p:spPr>
          <a:xfrm>
            <a:off x="10666427" y="1436098"/>
            <a:ext cx="12121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4000" b="1" dirty="0">
                <a:solidFill>
                  <a:srgbClr val="5C2A7F"/>
                </a:solidFill>
              </a:rPr>
              <a:t>53%</a:t>
            </a:r>
            <a:endParaRPr kumimoji="1" lang="zh-CN" altLang="en-US" sz="4000" b="1" dirty="0">
              <a:solidFill>
                <a:srgbClr val="5C2A7F"/>
              </a:solidFill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C4334C1-45E0-305B-BC3A-870463F3770D}"/>
              </a:ext>
            </a:extLst>
          </p:cNvPr>
          <p:cNvSpPr/>
          <p:nvPr/>
        </p:nvSpPr>
        <p:spPr>
          <a:xfrm>
            <a:off x="0" y="5830260"/>
            <a:ext cx="12192000" cy="557993"/>
          </a:xfrm>
          <a:prstGeom prst="rect">
            <a:avLst/>
          </a:prstGeom>
          <a:solidFill>
            <a:srgbClr val="5C2A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持续保持供应商“池”的流动性，合规性。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241BCD7-3663-F046-081C-83BFD444D3A5}"/>
              </a:ext>
            </a:extLst>
          </p:cNvPr>
          <p:cNvSpPr txBox="1"/>
          <p:nvPr/>
        </p:nvSpPr>
        <p:spPr>
          <a:xfrm>
            <a:off x="275328" y="4558930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5C2A7F"/>
                </a:solidFill>
              </a:rPr>
              <a:t>供应商日常管理</a:t>
            </a: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17AF97E8-6267-B24F-DCAB-BA94C3096C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2052" y="3960059"/>
            <a:ext cx="2275116" cy="1271330"/>
          </a:xfrm>
          <a:prstGeom prst="rect">
            <a:avLst/>
          </a:prstGeom>
        </p:spPr>
      </p:pic>
      <p:graphicFrame>
        <p:nvGraphicFramePr>
          <p:cNvPr id="35" name="表格 34">
            <a:extLst>
              <a:ext uri="{FF2B5EF4-FFF2-40B4-BE49-F238E27FC236}">
                <a16:creationId xmlns:a16="http://schemas.microsoft.com/office/drawing/2014/main" id="{0C600E4B-D172-A136-287F-337BFF27C9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6975122"/>
              </p:ext>
            </p:extLst>
          </p:nvPr>
        </p:nvGraphicFramePr>
        <p:xfrm>
          <a:off x="4911553" y="3999080"/>
          <a:ext cx="3329530" cy="1270000"/>
        </p:xfrm>
        <a:graphic>
          <a:graphicData uri="http://schemas.openxmlformats.org/drawingml/2006/table">
            <a:tbl>
              <a:tblPr/>
              <a:tblGrid>
                <a:gridCol w="45812">
                  <a:extLst>
                    <a:ext uri="{9D8B030D-6E8A-4147-A177-3AD203B41FA5}">
                      <a16:colId xmlns:a16="http://schemas.microsoft.com/office/drawing/2014/main" val="1887451120"/>
                    </a:ext>
                  </a:extLst>
                </a:gridCol>
                <a:gridCol w="134481">
                  <a:extLst>
                    <a:ext uri="{9D8B030D-6E8A-4147-A177-3AD203B41FA5}">
                      <a16:colId xmlns:a16="http://schemas.microsoft.com/office/drawing/2014/main" val="572651523"/>
                    </a:ext>
                  </a:extLst>
                </a:gridCol>
                <a:gridCol w="100492">
                  <a:extLst>
                    <a:ext uri="{9D8B030D-6E8A-4147-A177-3AD203B41FA5}">
                      <a16:colId xmlns:a16="http://schemas.microsoft.com/office/drawing/2014/main" val="3181741407"/>
                    </a:ext>
                  </a:extLst>
                </a:gridCol>
                <a:gridCol w="100492">
                  <a:extLst>
                    <a:ext uri="{9D8B030D-6E8A-4147-A177-3AD203B41FA5}">
                      <a16:colId xmlns:a16="http://schemas.microsoft.com/office/drawing/2014/main" val="3470416947"/>
                    </a:ext>
                  </a:extLst>
                </a:gridCol>
                <a:gridCol w="134481">
                  <a:extLst>
                    <a:ext uri="{9D8B030D-6E8A-4147-A177-3AD203B41FA5}">
                      <a16:colId xmlns:a16="http://schemas.microsoft.com/office/drawing/2014/main" val="1161685121"/>
                    </a:ext>
                  </a:extLst>
                </a:gridCol>
                <a:gridCol w="82758">
                  <a:extLst>
                    <a:ext uri="{9D8B030D-6E8A-4147-A177-3AD203B41FA5}">
                      <a16:colId xmlns:a16="http://schemas.microsoft.com/office/drawing/2014/main" val="4236005970"/>
                    </a:ext>
                  </a:extLst>
                </a:gridCol>
                <a:gridCol w="82758">
                  <a:extLst>
                    <a:ext uri="{9D8B030D-6E8A-4147-A177-3AD203B41FA5}">
                      <a16:colId xmlns:a16="http://schemas.microsoft.com/office/drawing/2014/main" val="192550240"/>
                    </a:ext>
                  </a:extLst>
                </a:gridCol>
                <a:gridCol w="82758">
                  <a:extLst>
                    <a:ext uri="{9D8B030D-6E8A-4147-A177-3AD203B41FA5}">
                      <a16:colId xmlns:a16="http://schemas.microsoft.com/office/drawing/2014/main" val="141859544"/>
                    </a:ext>
                  </a:extLst>
                </a:gridCol>
                <a:gridCol w="82758">
                  <a:extLst>
                    <a:ext uri="{9D8B030D-6E8A-4147-A177-3AD203B41FA5}">
                      <a16:colId xmlns:a16="http://schemas.microsoft.com/office/drawing/2014/main" val="3656744823"/>
                    </a:ext>
                  </a:extLst>
                </a:gridCol>
                <a:gridCol w="82758">
                  <a:extLst>
                    <a:ext uri="{9D8B030D-6E8A-4147-A177-3AD203B41FA5}">
                      <a16:colId xmlns:a16="http://schemas.microsoft.com/office/drawing/2014/main" val="2691224339"/>
                    </a:ext>
                  </a:extLst>
                </a:gridCol>
                <a:gridCol w="82758">
                  <a:extLst>
                    <a:ext uri="{9D8B030D-6E8A-4147-A177-3AD203B41FA5}">
                      <a16:colId xmlns:a16="http://schemas.microsoft.com/office/drawing/2014/main" val="2577265085"/>
                    </a:ext>
                  </a:extLst>
                </a:gridCol>
                <a:gridCol w="82758">
                  <a:extLst>
                    <a:ext uri="{9D8B030D-6E8A-4147-A177-3AD203B41FA5}">
                      <a16:colId xmlns:a16="http://schemas.microsoft.com/office/drawing/2014/main" val="4113423504"/>
                    </a:ext>
                  </a:extLst>
                </a:gridCol>
                <a:gridCol w="82758">
                  <a:extLst>
                    <a:ext uri="{9D8B030D-6E8A-4147-A177-3AD203B41FA5}">
                      <a16:colId xmlns:a16="http://schemas.microsoft.com/office/drawing/2014/main" val="1147600151"/>
                    </a:ext>
                  </a:extLst>
                </a:gridCol>
                <a:gridCol w="82758">
                  <a:extLst>
                    <a:ext uri="{9D8B030D-6E8A-4147-A177-3AD203B41FA5}">
                      <a16:colId xmlns:a16="http://schemas.microsoft.com/office/drawing/2014/main" val="2852468805"/>
                    </a:ext>
                  </a:extLst>
                </a:gridCol>
                <a:gridCol w="82758">
                  <a:extLst>
                    <a:ext uri="{9D8B030D-6E8A-4147-A177-3AD203B41FA5}">
                      <a16:colId xmlns:a16="http://schemas.microsoft.com/office/drawing/2014/main" val="3752236053"/>
                    </a:ext>
                  </a:extLst>
                </a:gridCol>
                <a:gridCol w="82758">
                  <a:extLst>
                    <a:ext uri="{9D8B030D-6E8A-4147-A177-3AD203B41FA5}">
                      <a16:colId xmlns:a16="http://schemas.microsoft.com/office/drawing/2014/main" val="1511456639"/>
                    </a:ext>
                  </a:extLst>
                </a:gridCol>
                <a:gridCol w="82758">
                  <a:extLst>
                    <a:ext uri="{9D8B030D-6E8A-4147-A177-3AD203B41FA5}">
                      <a16:colId xmlns:a16="http://schemas.microsoft.com/office/drawing/2014/main" val="1001944124"/>
                    </a:ext>
                  </a:extLst>
                </a:gridCol>
                <a:gridCol w="82758">
                  <a:extLst>
                    <a:ext uri="{9D8B030D-6E8A-4147-A177-3AD203B41FA5}">
                      <a16:colId xmlns:a16="http://schemas.microsoft.com/office/drawing/2014/main" val="1199942277"/>
                    </a:ext>
                  </a:extLst>
                </a:gridCol>
                <a:gridCol w="82758">
                  <a:extLst>
                    <a:ext uri="{9D8B030D-6E8A-4147-A177-3AD203B41FA5}">
                      <a16:colId xmlns:a16="http://schemas.microsoft.com/office/drawing/2014/main" val="168508115"/>
                    </a:ext>
                  </a:extLst>
                </a:gridCol>
                <a:gridCol w="82758">
                  <a:extLst>
                    <a:ext uri="{9D8B030D-6E8A-4147-A177-3AD203B41FA5}">
                      <a16:colId xmlns:a16="http://schemas.microsoft.com/office/drawing/2014/main" val="3592651539"/>
                    </a:ext>
                  </a:extLst>
                </a:gridCol>
                <a:gridCol w="82758">
                  <a:extLst>
                    <a:ext uri="{9D8B030D-6E8A-4147-A177-3AD203B41FA5}">
                      <a16:colId xmlns:a16="http://schemas.microsoft.com/office/drawing/2014/main" val="145152262"/>
                    </a:ext>
                  </a:extLst>
                </a:gridCol>
                <a:gridCol w="140116">
                  <a:extLst>
                    <a:ext uri="{9D8B030D-6E8A-4147-A177-3AD203B41FA5}">
                      <a16:colId xmlns:a16="http://schemas.microsoft.com/office/drawing/2014/main" val="3742508641"/>
                    </a:ext>
                  </a:extLst>
                </a:gridCol>
                <a:gridCol w="25400">
                  <a:extLst>
                    <a:ext uri="{9D8B030D-6E8A-4147-A177-3AD203B41FA5}">
                      <a16:colId xmlns:a16="http://schemas.microsoft.com/office/drawing/2014/main" val="1713280324"/>
                    </a:ext>
                  </a:extLst>
                </a:gridCol>
                <a:gridCol w="82758">
                  <a:extLst>
                    <a:ext uri="{9D8B030D-6E8A-4147-A177-3AD203B41FA5}">
                      <a16:colId xmlns:a16="http://schemas.microsoft.com/office/drawing/2014/main" val="786026379"/>
                    </a:ext>
                  </a:extLst>
                </a:gridCol>
                <a:gridCol w="82758">
                  <a:extLst>
                    <a:ext uri="{9D8B030D-6E8A-4147-A177-3AD203B41FA5}">
                      <a16:colId xmlns:a16="http://schemas.microsoft.com/office/drawing/2014/main" val="1079324419"/>
                    </a:ext>
                  </a:extLst>
                </a:gridCol>
                <a:gridCol w="82758">
                  <a:extLst>
                    <a:ext uri="{9D8B030D-6E8A-4147-A177-3AD203B41FA5}">
                      <a16:colId xmlns:a16="http://schemas.microsoft.com/office/drawing/2014/main" val="4091929534"/>
                    </a:ext>
                  </a:extLst>
                </a:gridCol>
                <a:gridCol w="82758">
                  <a:extLst>
                    <a:ext uri="{9D8B030D-6E8A-4147-A177-3AD203B41FA5}">
                      <a16:colId xmlns:a16="http://schemas.microsoft.com/office/drawing/2014/main" val="863640356"/>
                    </a:ext>
                  </a:extLst>
                </a:gridCol>
                <a:gridCol w="82758">
                  <a:extLst>
                    <a:ext uri="{9D8B030D-6E8A-4147-A177-3AD203B41FA5}">
                      <a16:colId xmlns:a16="http://schemas.microsoft.com/office/drawing/2014/main" val="384335719"/>
                    </a:ext>
                  </a:extLst>
                </a:gridCol>
                <a:gridCol w="82758">
                  <a:extLst>
                    <a:ext uri="{9D8B030D-6E8A-4147-A177-3AD203B41FA5}">
                      <a16:colId xmlns:a16="http://schemas.microsoft.com/office/drawing/2014/main" val="3717219529"/>
                    </a:ext>
                  </a:extLst>
                </a:gridCol>
                <a:gridCol w="82758">
                  <a:extLst>
                    <a:ext uri="{9D8B030D-6E8A-4147-A177-3AD203B41FA5}">
                      <a16:colId xmlns:a16="http://schemas.microsoft.com/office/drawing/2014/main" val="329181328"/>
                    </a:ext>
                  </a:extLst>
                </a:gridCol>
                <a:gridCol w="82758">
                  <a:extLst>
                    <a:ext uri="{9D8B030D-6E8A-4147-A177-3AD203B41FA5}">
                      <a16:colId xmlns:a16="http://schemas.microsoft.com/office/drawing/2014/main" val="877684606"/>
                    </a:ext>
                  </a:extLst>
                </a:gridCol>
                <a:gridCol w="82758">
                  <a:extLst>
                    <a:ext uri="{9D8B030D-6E8A-4147-A177-3AD203B41FA5}">
                      <a16:colId xmlns:a16="http://schemas.microsoft.com/office/drawing/2014/main" val="75363228"/>
                    </a:ext>
                  </a:extLst>
                </a:gridCol>
                <a:gridCol w="82758">
                  <a:extLst>
                    <a:ext uri="{9D8B030D-6E8A-4147-A177-3AD203B41FA5}">
                      <a16:colId xmlns:a16="http://schemas.microsoft.com/office/drawing/2014/main" val="3436313183"/>
                    </a:ext>
                  </a:extLst>
                </a:gridCol>
                <a:gridCol w="82758">
                  <a:extLst>
                    <a:ext uri="{9D8B030D-6E8A-4147-A177-3AD203B41FA5}">
                      <a16:colId xmlns:a16="http://schemas.microsoft.com/office/drawing/2014/main" val="100719212"/>
                    </a:ext>
                  </a:extLst>
                </a:gridCol>
                <a:gridCol w="82758">
                  <a:extLst>
                    <a:ext uri="{9D8B030D-6E8A-4147-A177-3AD203B41FA5}">
                      <a16:colId xmlns:a16="http://schemas.microsoft.com/office/drawing/2014/main" val="4256900632"/>
                    </a:ext>
                  </a:extLst>
                </a:gridCol>
                <a:gridCol w="82758">
                  <a:extLst>
                    <a:ext uri="{9D8B030D-6E8A-4147-A177-3AD203B41FA5}">
                      <a16:colId xmlns:a16="http://schemas.microsoft.com/office/drawing/2014/main" val="2027134928"/>
                    </a:ext>
                  </a:extLst>
                </a:gridCol>
                <a:gridCol w="82758">
                  <a:extLst>
                    <a:ext uri="{9D8B030D-6E8A-4147-A177-3AD203B41FA5}">
                      <a16:colId xmlns:a16="http://schemas.microsoft.com/office/drawing/2014/main" val="3138417499"/>
                    </a:ext>
                  </a:extLst>
                </a:gridCol>
                <a:gridCol w="82758">
                  <a:extLst>
                    <a:ext uri="{9D8B030D-6E8A-4147-A177-3AD203B41FA5}">
                      <a16:colId xmlns:a16="http://schemas.microsoft.com/office/drawing/2014/main" val="3101767663"/>
                    </a:ext>
                  </a:extLst>
                </a:gridCol>
                <a:gridCol w="82758">
                  <a:extLst>
                    <a:ext uri="{9D8B030D-6E8A-4147-A177-3AD203B41FA5}">
                      <a16:colId xmlns:a16="http://schemas.microsoft.com/office/drawing/2014/main" val="4767549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阶段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供应商代码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前/后手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备注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Collector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5-7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5-8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5-9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5-10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5-11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5-12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5-13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5-14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5-15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5-16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5-17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5-18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5-19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5-20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5-21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5-22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5-23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5-24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5-26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5-27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5-28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5-29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5-30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5-31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6-1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6-2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6-3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6-4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6-5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6-6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6-7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6-8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6-9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8614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S3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HFQX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前手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池州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高凤华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1.93%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0.45%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0.17%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0.22%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3.67%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1.52%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3.20%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1.36%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0.49%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3.00%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2.16%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1.27%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2.61%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2.59%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2.35%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1.70%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6.08%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3.49%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6.41%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5.62%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4.37%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8.86%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0.34%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1.37%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90459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S3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HFQX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前手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池州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韩成平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16.13%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19.35%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14.29%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9.38%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2.94%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15.79%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26.32%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12.90%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9.68%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21.53%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5.99%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21.40%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30.46%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7.32%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16.54%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10.42%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11.78%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22.26%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11.63%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7.69%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19.08%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14.12%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14.69%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18.18%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14.83%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10.92%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11.80%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15.38%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2.23%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9.97%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9.48%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1.23%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3.19%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5.59%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11068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S3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HFQX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前手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池州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方代香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17.95%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19.05%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17.50%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12.82%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13.16%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20.51%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16.67%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6.52%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8.93%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26.16%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13.78%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9.89%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6.91%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5.06%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10.72%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0.87%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5.14%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4.99%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5.85%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1.30%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0.33%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1.14%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1.65%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1.35%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0.63%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0.30%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3.40%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4.76%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12.86%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4.39%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5.60%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9.65%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8.50%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2727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S3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HFQX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前手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池州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章楠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13.79%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27.59%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7.41%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8.82%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5.88%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24.24%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3.45%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24.24%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29.63%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20.58%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14.06%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8.82%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15.79%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15.89%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34.77%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11.92%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27.01%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9.92%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9.85%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8.44%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32.36%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21.20%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14.83%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4.14%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8.52%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2.01%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10.97%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13.16%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2.42%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5.31%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8.61%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2.09%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6.42%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5.63%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0662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S3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HFQX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前手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池州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方成杰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15.15%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14.71%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23.53%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5.56%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8.11%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25.64%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8.57%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13.89%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11.43%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24.09%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19.13%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7.16%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10.48%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20.16%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21.69%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1.96%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22.57%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34.57%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16.90%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5.48%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17.78%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2.21%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12.46%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23.88%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7.86%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6.43%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7.07%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13.52%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1.51%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7.37%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18.37%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2.65%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1.74%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6.52%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6401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S3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HFQX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前手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池州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李秀云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15.79%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14.63%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24.39%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9.76%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14.63%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21.43%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17.50%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15.00%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15.38%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22.69%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10.12%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10.15%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18.55%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22.03%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12.78%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6.41%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8.56%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11.90%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8.05%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26.74%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26.96%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22.36%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18.73%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19.67%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8.89%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3.20%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10.22%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13.82%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6.30%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10.61%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0.65%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5.41%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6.25%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519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S3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HFQX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前手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芜湖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袁明辉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60506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S3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HFQX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前手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芜湖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鞠金明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15.38%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25.67%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26.69%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25.39%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8.04%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21.11%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29.49%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7.59%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9.17%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2.96%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31.45%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16.30%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4.09%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13.82%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15.47%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20.08%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4.77%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3.93%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18.12%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12.46%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2.52%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2.22%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10.89%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10.65%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12.47%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04995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S3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HFQX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前手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芜湖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严芬豪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29645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S3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HFQX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前手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芜湖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邢云云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8301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S3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HFQX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前手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芜湖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黄运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7805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S3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BQJ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前手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沈士喜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94602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S3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BQJ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前手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马全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0.73%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2.51%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1.09%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2.99%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2.28%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4.23%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4.27%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2.47%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7.80%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3.77%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5.29%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2.69%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4.13%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2.90%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3.69%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1.55%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5.01%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8.29%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93378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S3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BQJ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前手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刘杨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73953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S3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BQJ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前手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许志成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9.81%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13.11%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2.49%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18.39%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29.70%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16.67%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10.34%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16.40%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25.82%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17.97%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2.33%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9.11%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7.06%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14.59%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13.80%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9.04%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8.21%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7.49%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11.42%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4.29%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5.44%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5.85%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7.78%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13.98%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3993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S3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BQJ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前手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王旭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9.52%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19.23%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13.04%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11.54%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11.54%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18.52%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14.29%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15.38%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6.67%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15.97%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10.20%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26.00%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21.60%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20.95%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27.02%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20.59%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3.20%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10.59%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8.32%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10.28%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16.26%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15.64%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6.54%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4.47%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10.35%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13.63%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5.82%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9.77%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6.29%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0.33%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4.67%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1.16%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2.98%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11194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S3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FZQL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前手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季新茹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9.09%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17.39%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7.69%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14.71%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25.81%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16.67%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21.74%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15.79%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11.76%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33.36%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21.98%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8.44%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23.77%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20.58%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16.03%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7.76%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8.03%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11.72%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4.28%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27.40%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12.84%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17.63%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17.45%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11.91%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8.70%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10.14%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16.86%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14.08%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8.66%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17.14%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9.99%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11.27%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7.09%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3.39%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1348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S3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FZQL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前手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张旺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17.39%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8.70%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13.04%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7.14%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6.90%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12.50%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18.75%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21.88%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14.29%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19.61%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5.20%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7.26%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17.20%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16.20%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12.19%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16.10%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19.10%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14.81%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7.59%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3.80%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17.91%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21.73%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13.85%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22.87%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1.19%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18.28%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7.70%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19.80%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2.03%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4.26%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24.85%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7.49%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10.39%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16.58%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9929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S3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FZQL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前手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刘梅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3.45%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17.24%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15.38%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22.22%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8.33%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25.00%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12.50%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3.70%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14.81%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25.52%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21.91%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2.94%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3.38%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40.37%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25.58%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28.94%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2.96%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7.10%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14.75%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37.95%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26.88%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13.98%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9.72%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14.12%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22.39%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18.32%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9.99%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3.74%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18.54%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11.29%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36446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S3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FZQL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前手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武敏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5.00%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9.52%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4.35%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4.00%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3.70%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23.08%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19.05%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17.65%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17.65%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44.07%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40.91%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13.69%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7.61%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2.32%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6.14%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4.43%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7.24%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22.94%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4.86%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24.27%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1.38%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14.20%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6.60%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3.77%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5.16%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12.77%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25.10%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7.80%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2.22%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6.03%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8.26%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1629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S3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FZQL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前手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樊圆圆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46562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S3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FZQL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前手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曾国莲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8670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S3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FZQL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前手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徐康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1.37%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0.54%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0.98%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7.53%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1.35%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0.43%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0.86%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1.55%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6.58%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5.01%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2.73%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3.13%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2.24%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4.50%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1.40%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8.58%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4.63%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10.93%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9.51%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4536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S3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FZQL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前手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田丹丹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5.26%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5.26%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25.00%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5.26%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10.53%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17.65%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7.14%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15.38%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14.29%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27.05%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32.73%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10.34%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10.61%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8.97%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2.94%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20.52%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5.18%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51.22%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28.08%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31.39%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100.00%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4616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S3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FZQL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前手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任义荣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9.52%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24.00%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8.00%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12.50%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9.09%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3.03%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3.03%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14.29%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24.24%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18.01%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5.63%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2.67%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8.30%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15.42%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9.62%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48.19%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22.91%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3.39%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5.52%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4.66%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5.52%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15.69%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1.26%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18.51%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3.33%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14.26%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16.64%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23.87%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1.45%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12.34%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2.61%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9.12%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24.22%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82383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S3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FZQL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前手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王友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4.76%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22.73%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15.79%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27.78%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6.67%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17.65%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23.53%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20.00%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4.33%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16.62%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27.19%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32.65%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3.95%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2.74%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10.58%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5.27%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8.34%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4.79%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7.06%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29.51%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43.69%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26.50%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10.17%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5.11%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12.61%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17.19%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63.60%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59.88%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100.00%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691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S3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SCSYH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前手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龙梓俊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2447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S3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SCSYH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前手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刘晋辉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47752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S3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SCSYH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前手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刘霞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0644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S3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HFQX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后手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池州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章兴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0.67%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0.19%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0.78%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0.69%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1.42%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1.67%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2.21%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0.03%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6.64%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5.05%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1.85%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1.53%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2.49%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5.62%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2.83%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5.99%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2.59%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4.25%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6.08%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4.97%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1.44%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12.84%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363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S3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HFQX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后手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池州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李秀云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15.79%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14.63%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24.39%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9.76%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14.63%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21.43%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17.50%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15.00%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15.38%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22.69%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10.12%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10.15%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18.55%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22.03%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12.78%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6.41%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8.56%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11.90%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8.05%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26.74%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26.96%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22.36%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18.73%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19.67%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8.89%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3.20%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10.22%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13.82%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6.30%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10.61%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0.65%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5.41%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6.25%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7304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S3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HFQX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后手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池州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曹俊洋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1.01%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0.48%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2.03%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0.10%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0.54%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4.71%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10.56%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6.26%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0.80%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5.18%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6.58%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0.48%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5.23%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7.85%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31.92%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6.87%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29.22%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27.14%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2636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S3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HFQX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后手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池州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蒋小田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98894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S3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HFQX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后手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芜湖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朱秀洋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25549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S3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BQJ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后手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吴涛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0907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S3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BQJ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后手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刘欢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1.67%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2.21%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1.73%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0.38%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1.35%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2.38%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1.28%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2.83%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0.37%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5.86%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12.04%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1.61%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6.71%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0.51%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7.25%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1.64%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5971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S3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BQJ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后手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宋波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6919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S3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BQJ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后手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汪云飞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23.81%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16.67%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4.55%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30.43%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15.79%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10.00%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21.74%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26.09%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27.66%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4.74%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18.07%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32.79%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0.26%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12.79%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18.15%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7.35%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33.89%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4.76%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39.51%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59.14%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44.78%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31.47%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21.08%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100.00%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1008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S3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FZQL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后手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赵文强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6.22%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12.90%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39547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S3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FZQL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后手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张鹏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73772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S3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FZQL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后手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陈德兴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0.44%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2.61%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7.80%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0.79%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2.03%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0.43%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3.37%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3.50%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6.13%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4.08%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6.11%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6.63%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1.16%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7.08%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7.28%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5.99%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3.34%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10.16%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7.30%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0.64%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1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15.18%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90002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S3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SCSYH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后手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周亮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81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S3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SCSYH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后手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潘多喜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0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1838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S3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整体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剩本口径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7.60%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10.19%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8.52%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6.45%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5.63%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7.69%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6.53%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7.08%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6.40%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9.46%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5.96%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5.05%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5.96%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7.10%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7.00%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8.00%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6.94%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5.60%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3.72%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8.05%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8.56%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8.88%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8.25%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9.44%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5.91%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6.46%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8.09%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8.50%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7.88%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7.34%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7.61%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4.88%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4.35%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" b="1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7.51%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7959987"/>
                  </a:ext>
                </a:extLst>
              </a:tr>
            </a:tbl>
          </a:graphicData>
        </a:graphic>
      </p:graphicFrame>
      <p:pic>
        <p:nvPicPr>
          <p:cNvPr id="37" name="图片 36">
            <a:extLst>
              <a:ext uri="{FF2B5EF4-FFF2-40B4-BE49-F238E27FC236}">
                <a16:creationId xmlns:a16="http://schemas.microsoft.com/office/drawing/2014/main" id="{5FE51BE5-AAA3-F0F0-D0D7-F47598AE6C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3248" y="3965965"/>
            <a:ext cx="3329531" cy="132819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CF2E1396-C03B-35E1-665A-859DCEFA61B1}"/>
              </a:ext>
            </a:extLst>
          </p:cNvPr>
          <p:cNvSpPr txBox="1"/>
          <p:nvPr/>
        </p:nvSpPr>
        <p:spPr>
          <a:xfrm>
            <a:off x="2477411" y="5418024"/>
            <a:ext cx="2287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5C2A7F"/>
                </a:solidFill>
              </a:rPr>
              <a:t>1.</a:t>
            </a:r>
            <a:r>
              <a:rPr kumimoji="1" lang="zh-CN" altLang="en-US" dirty="0">
                <a:solidFill>
                  <a:srgbClr val="5C2A7F"/>
                </a:solidFill>
              </a:rPr>
              <a:t> 穿透至每一个批次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56F939A-56ED-AC64-D64F-D8481334F6F3}"/>
              </a:ext>
            </a:extLst>
          </p:cNvPr>
          <p:cNvSpPr txBox="1"/>
          <p:nvPr/>
        </p:nvSpPr>
        <p:spPr>
          <a:xfrm>
            <a:off x="5432415" y="5418024"/>
            <a:ext cx="2287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5C2A7F"/>
                </a:solidFill>
              </a:rPr>
              <a:t>2.</a:t>
            </a:r>
            <a:r>
              <a:rPr kumimoji="1" lang="zh-CN" altLang="en-US" dirty="0">
                <a:solidFill>
                  <a:srgbClr val="5C2A7F"/>
                </a:solidFill>
              </a:rPr>
              <a:t> 穿透到每一个催员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11C6D61-265F-6F0C-12AF-BCC5694E92D5}"/>
              </a:ext>
            </a:extLst>
          </p:cNvPr>
          <p:cNvSpPr txBox="1"/>
          <p:nvPr/>
        </p:nvSpPr>
        <p:spPr>
          <a:xfrm>
            <a:off x="9167165" y="5418024"/>
            <a:ext cx="1826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5C2A7F"/>
                </a:solidFill>
              </a:rPr>
              <a:t>3.</a:t>
            </a:r>
            <a:r>
              <a:rPr kumimoji="1" lang="zh-CN" altLang="en-US" dirty="0">
                <a:solidFill>
                  <a:srgbClr val="5C2A7F"/>
                </a:solidFill>
              </a:rPr>
              <a:t> 穿透进每一天</a:t>
            </a: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E6363BD6-461F-D3F0-B281-FC85C8602AA3}"/>
              </a:ext>
            </a:extLst>
          </p:cNvPr>
          <p:cNvGrpSpPr/>
          <p:nvPr/>
        </p:nvGrpSpPr>
        <p:grpSpPr>
          <a:xfrm>
            <a:off x="14395210" y="1193058"/>
            <a:ext cx="10251688" cy="2194248"/>
            <a:chOff x="970156" y="1115163"/>
            <a:chExt cx="10251688" cy="2194248"/>
          </a:xfrm>
        </p:grpSpPr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CC7EF999-4C75-5AFE-046E-8235944043E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70156" y="1115163"/>
              <a:ext cx="5159298" cy="2146569"/>
            </a:xfrm>
            <a:prstGeom prst="rect">
              <a:avLst/>
            </a:prstGeom>
          </p:spPr>
        </p:pic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9E530651-CFE4-1603-8153-D7269B0E0B9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699917" y="1115163"/>
              <a:ext cx="3521927" cy="2194248"/>
            </a:xfrm>
            <a:prstGeom prst="rect">
              <a:avLst/>
            </a:prstGeom>
          </p:spPr>
        </p:pic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902C739D-0215-0D25-14C9-2C927A2ADA4B}"/>
              </a:ext>
            </a:extLst>
          </p:cNvPr>
          <p:cNvGrpSpPr/>
          <p:nvPr/>
        </p:nvGrpSpPr>
        <p:grpSpPr>
          <a:xfrm>
            <a:off x="-12771186" y="3766039"/>
            <a:ext cx="11306178" cy="2164887"/>
            <a:chOff x="442911" y="3766039"/>
            <a:chExt cx="11306178" cy="2164887"/>
          </a:xfrm>
        </p:grpSpPr>
        <p:pic>
          <p:nvPicPr>
            <p:cNvPr id="27" name="图片 26">
              <a:extLst>
                <a:ext uri="{FF2B5EF4-FFF2-40B4-BE49-F238E27FC236}">
                  <a16:creationId xmlns:a16="http://schemas.microsoft.com/office/drawing/2014/main" id="{F1CEDF2C-3904-5A3F-E6B0-921D129B2E5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42911" y="3766039"/>
              <a:ext cx="5713280" cy="2146570"/>
            </a:xfrm>
            <a:prstGeom prst="rect">
              <a:avLst/>
            </a:prstGeom>
          </p:spPr>
        </p:pic>
        <p:pic>
          <p:nvPicPr>
            <p:cNvPr id="28" name="图片 27">
              <a:extLst>
                <a:ext uri="{FF2B5EF4-FFF2-40B4-BE49-F238E27FC236}">
                  <a16:creationId xmlns:a16="http://schemas.microsoft.com/office/drawing/2014/main" id="{7D40367E-0A1E-7D0A-786B-35A8117FF80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545766" y="3766040"/>
              <a:ext cx="5203323" cy="21648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766971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B7946-35EE-1693-DE84-2927F2A2A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AB0D29FC-E8BF-2862-2BD7-712429D66129}"/>
              </a:ext>
            </a:extLst>
          </p:cNvPr>
          <p:cNvSpPr/>
          <p:nvPr/>
        </p:nvSpPr>
        <p:spPr>
          <a:xfrm>
            <a:off x="0" y="4891313"/>
            <a:ext cx="12192000" cy="1590013"/>
          </a:xfrm>
          <a:prstGeom prst="rect">
            <a:avLst/>
          </a:prstGeom>
          <a:solidFill>
            <a:srgbClr val="68318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7CCF2CB-40D5-A51A-1A6D-4447A8BAA66B}"/>
              </a:ext>
            </a:extLst>
          </p:cNvPr>
          <p:cNvSpPr/>
          <p:nvPr/>
        </p:nvSpPr>
        <p:spPr>
          <a:xfrm>
            <a:off x="0" y="844649"/>
            <a:ext cx="12192000" cy="2378998"/>
          </a:xfrm>
          <a:prstGeom prst="rect">
            <a:avLst/>
          </a:prstGeom>
          <a:solidFill>
            <a:srgbClr val="68318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E764828D-FEF4-0573-BA6A-DC21E7B9434D}"/>
              </a:ext>
            </a:extLst>
          </p:cNvPr>
          <p:cNvSpPr txBox="1">
            <a:spLocks/>
          </p:cNvSpPr>
          <p:nvPr/>
        </p:nvSpPr>
        <p:spPr>
          <a:xfrm>
            <a:off x="442911" y="200959"/>
            <a:ext cx="7765421" cy="598487"/>
          </a:xfrm>
          <a:prstGeom prst="rect">
            <a:avLst/>
          </a:prstGeom>
          <a:noFill/>
          <a:ln w="12700">
            <a:noFill/>
            <a:miter/>
          </a:ln>
        </p:spPr>
        <p:txBody>
          <a:bodyPr vert="horz" wrap="square" lIns="45720" tIns="45720" rIns="45720" bIns="45720" anchor="ctr" anchorCtr="0"/>
          <a:lstStyle>
            <a:lvl1pPr marL="0" lvl="0" indent="0" algn="l" defTabSz="91440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zh-CN" sz="4400" b="0" i="0" u="none" baseline="0">
                <a:solidFill>
                  <a:srgbClr val="000000"/>
                </a:solidFill>
                <a:latin typeface="Arial"/>
                <a:ea typeface="Arial"/>
              </a:defRPr>
            </a:lvl1pPr>
            <a:lvl2pPr lvl="1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2pPr>
            <a:lvl3pPr lvl="2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3pPr>
            <a:lvl4pPr lvl="3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4pPr>
            <a:lvl5pPr lvl="4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5pPr>
            <a:lvl6pPr marL="457200" lvl="5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6pPr>
            <a:lvl7pPr marL="914400" lvl="6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7pPr>
            <a:lvl8pPr marL="1371600" lvl="7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8pPr>
            <a:lvl9pPr marL="1828800" lvl="8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9pPr>
          </a:lstStyle>
          <a:p>
            <a:r>
              <a:rPr lang="zh-CN" altLang="en-US" sz="2800" dirty="0">
                <a:solidFill>
                  <a:srgbClr val="6931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组织结构的优化</a:t>
            </a:r>
          </a:p>
        </p:txBody>
      </p:sp>
      <p:pic>
        <p:nvPicPr>
          <p:cNvPr id="5" name="图形 4" descr="男人群 纯色填充">
            <a:extLst>
              <a:ext uri="{FF2B5EF4-FFF2-40B4-BE49-F238E27FC236}">
                <a16:creationId xmlns:a16="http://schemas.microsoft.com/office/drawing/2014/main" id="{68374CA3-D1F0-0CAA-ECDF-BAA8686F68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88244" y="1331685"/>
            <a:ext cx="914400" cy="914400"/>
          </a:xfrm>
          <a:prstGeom prst="rect">
            <a:avLst/>
          </a:prstGeom>
        </p:spPr>
      </p:pic>
      <p:pic>
        <p:nvPicPr>
          <p:cNvPr id="6" name="图形 5" descr="男人群 纯色填充">
            <a:extLst>
              <a:ext uri="{FF2B5EF4-FFF2-40B4-BE49-F238E27FC236}">
                <a16:creationId xmlns:a16="http://schemas.microsoft.com/office/drawing/2014/main" id="{8FEBCDCE-EDF1-932A-9480-0DB58DED54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2188" y="1331685"/>
            <a:ext cx="914400" cy="9144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5153C24C-2C91-FE99-92AB-DAD8F6885D1E}"/>
              </a:ext>
            </a:extLst>
          </p:cNvPr>
          <p:cNvSpPr txBox="1"/>
          <p:nvPr/>
        </p:nvSpPr>
        <p:spPr>
          <a:xfrm>
            <a:off x="3705962" y="2455251"/>
            <a:ext cx="1774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rgbClr val="5C2A7F"/>
                </a:solidFill>
              </a:rPr>
              <a:t>2</a:t>
            </a:r>
            <a:r>
              <a:rPr kumimoji="1" lang="zh-CN" altLang="en-US" b="1" dirty="0">
                <a:solidFill>
                  <a:srgbClr val="5C2A7F"/>
                </a:solidFill>
              </a:rPr>
              <a:t>个部门互相</a:t>
            </a:r>
            <a:r>
              <a:rPr kumimoji="1" lang="en-US" altLang="zh-CN" b="1" dirty="0">
                <a:solidFill>
                  <a:srgbClr val="5C2A7F"/>
                </a:solidFill>
              </a:rPr>
              <a:t>PK</a:t>
            </a:r>
            <a:endParaRPr kumimoji="1" lang="zh-CN" altLang="en-US" b="1" dirty="0">
              <a:solidFill>
                <a:srgbClr val="5C2A7F"/>
              </a:solidFill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2C369AA8-9F2E-DEC7-6F54-0B2441924145}"/>
              </a:ext>
            </a:extLst>
          </p:cNvPr>
          <p:cNvGrpSpPr/>
          <p:nvPr/>
        </p:nvGrpSpPr>
        <p:grpSpPr>
          <a:xfrm>
            <a:off x="6040208" y="1625893"/>
            <a:ext cx="607779" cy="325984"/>
            <a:chOff x="5466725" y="1945256"/>
            <a:chExt cx="607779" cy="325984"/>
          </a:xfrm>
        </p:grpSpPr>
        <p:sp>
          <p:nvSpPr>
            <p:cNvPr id="9" name="燕尾形 8">
              <a:extLst>
                <a:ext uri="{FF2B5EF4-FFF2-40B4-BE49-F238E27FC236}">
                  <a16:creationId xmlns:a16="http://schemas.microsoft.com/office/drawing/2014/main" id="{4C02A6BF-5388-583B-7806-992A3877BFE4}"/>
                </a:ext>
              </a:extLst>
            </p:cNvPr>
            <p:cNvSpPr/>
            <p:nvPr/>
          </p:nvSpPr>
          <p:spPr>
            <a:xfrm>
              <a:off x="5466725" y="1945257"/>
              <a:ext cx="325983" cy="325983"/>
            </a:xfrm>
            <a:prstGeom prst="chevron">
              <a:avLst/>
            </a:prstGeom>
            <a:solidFill>
              <a:srgbClr val="69318F">
                <a:alpha val="8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" name="燕尾形 9">
              <a:extLst>
                <a:ext uri="{FF2B5EF4-FFF2-40B4-BE49-F238E27FC236}">
                  <a16:creationId xmlns:a16="http://schemas.microsoft.com/office/drawing/2014/main" id="{011F2180-125F-060C-DC1E-D115D984F6AA}"/>
                </a:ext>
              </a:extLst>
            </p:cNvPr>
            <p:cNvSpPr/>
            <p:nvPr/>
          </p:nvSpPr>
          <p:spPr>
            <a:xfrm>
              <a:off x="5748521" y="1945256"/>
              <a:ext cx="325983" cy="325983"/>
            </a:xfrm>
            <a:prstGeom prst="chevron">
              <a:avLst/>
            </a:prstGeom>
            <a:solidFill>
              <a:srgbClr val="69318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8" name="矩形: 圆角 116">
            <a:extLst>
              <a:ext uri="{FF2B5EF4-FFF2-40B4-BE49-F238E27FC236}">
                <a16:creationId xmlns:a16="http://schemas.microsoft.com/office/drawing/2014/main" id="{1492738C-4CF4-7F89-A740-4B12194474B4}"/>
              </a:ext>
            </a:extLst>
          </p:cNvPr>
          <p:cNvSpPr/>
          <p:nvPr/>
        </p:nvSpPr>
        <p:spPr>
          <a:xfrm>
            <a:off x="7417616" y="1977426"/>
            <a:ext cx="1137490" cy="243476"/>
          </a:xfrm>
          <a:prstGeom prst="roundRect">
            <a:avLst>
              <a:gd name="adj" fmla="val 0"/>
            </a:avLst>
          </a:prstGeom>
          <a:solidFill>
            <a:srgbClr val="5C2A7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731520"/>
            <a:r>
              <a:rPr lang="zh-CN" altLang="en-US" sz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业务团队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F79B0B3-24A4-F8C1-7707-3B86068D75F4}"/>
              </a:ext>
            </a:extLst>
          </p:cNvPr>
          <p:cNvSpPr/>
          <p:nvPr/>
        </p:nvSpPr>
        <p:spPr>
          <a:xfrm>
            <a:off x="6929783" y="2752585"/>
            <a:ext cx="487833" cy="256701"/>
          </a:xfrm>
          <a:prstGeom prst="rect">
            <a:avLst/>
          </a:prstGeom>
          <a:solidFill>
            <a:srgbClr val="5C2A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M1</a:t>
            </a:r>
            <a:endParaRPr kumimoji="1" lang="zh-CN" altLang="en-US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8BF1C9F-CBE9-47FA-A66B-FEC8A34233B4}"/>
              </a:ext>
            </a:extLst>
          </p:cNvPr>
          <p:cNvSpPr/>
          <p:nvPr/>
        </p:nvSpPr>
        <p:spPr>
          <a:xfrm>
            <a:off x="7598616" y="2752585"/>
            <a:ext cx="700713" cy="256701"/>
          </a:xfrm>
          <a:prstGeom prst="rect">
            <a:avLst/>
          </a:prstGeom>
          <a:solidFill>
            <a:srgbClr val="5C2A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M2-6</a:t>
            </a:r>
            <a:endParaRPr kumimoji="1" lang="zh-CN" altLang="en-US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1D5BB5FA-D423-A5A7-5A93-E2293418B538}"/>
              </a:ext>
            </a:extLst>
          </p:cNvPr>
          <p:cNvSpPr/>
          <p:nvPr/>
        </p:nvSpPr>
        <p:spPr>
          <a:xfrm>
            <a:off x="9006448" y="1120939"/>
            <a:ext cx="1216284" cy="279049"/>
          </a:xfrm>
          <a:prstGeom prst="roundRect">
            <a:avLst/>
          </a:prstGeom>
          <a:solidFill>
            <a:srgbClr val="5C2A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催收团队</a:t>
            </a:r>
          </a:p>
        </p:txBody>
      </p:sp>
      <p:cxnSp>
        <p:nvCxnSpPr>
          <p:cNvPr id="23" name="直线连接符 22">
            <a:extLst>
              <a:ext uri="{FF2B5EF4-FFF2-40B4-BE49-F238E27FC236}">
                <a16:creationId xmlns:a16="http://schemas.microsoft.com/office/drawing/2014/main" id="{62A30404-860C-B078-B4EE-7BA0928EF391}"/>
              </a:ext>
            </a:extLst>
          </p:cNvPr>
          <p:cNvCxnSpPr>
            <a:cxnSpLocks/>
          </p:cNvCxnSpPr>
          <p:nvPr/>
        </p:nvCxnSpPr>
        <p:spPr>
          <a:xfrm flipH="1">
            <a:off x="8172650" y="1481570"/>
            <a:ext cx="1441940" cy="419636"/>
          </a:xfrm>
          <a:prstGeom prst="line">
            <a:avLst/>
          </a:prstGeom>
          <a:ln>
            <a:solidFill>
              <a:srgbClr val="5C2A7F"/>
            </a:solidFill>
            <a:prstDash val="lg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F8C9E341-009D-700B-6FB1-CE160CF6E602}"/>
              </a:ext>
            </a:extLst>
          </p:cNvPr>
          <p:cNvSpPr/>
          <p:nvPr/>
        </p:nvSpPr>
        <p:spPr>
          <a:xfrm>
            <a:off x="8390363" y="2752585"/>
            <a:ext cx="592663" cy="256701"/>
          </a:xfrm>
          <a:prstGeom prst="rect">
            <a:avLst/>
          </a:prstGeom>
          <a:solidFill>
            <a:srgbClr val="5C2A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M6+</a:t>
            </a:r>
            <a:endParaRPr kumimoji="1" lang="zh-CN" altLang="en-US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6" name="直线连接符 25">
            <a:extLst>
              <a:ext uri="{FF2B5EF4-FFF2-40B4-BE49-F238E27FC236}">
                <a16:creationId xmlns:a16="http://schemas.microsoft.com/office/drawing/2014/main" id="{A12DA354-3161-ABD0-C586-74201F384480}"/>
              </a:ext>
            </a:extLst>
          </p:cNvPr>
          <p:cNvCxnSpPr>
            <a:cxnSpLocks/>
          </p:cNvCxnSpPr>
          <p:nvPr/>
        </p:nvCxnSpPr>
        <p:spPr>
          <a:xfrm flipH="1">
            <a:off x="7327288" y="2299557"/>
            <a:ext cx="666109" cy="359404"/>
          </a:xfrm>
          <a:prstGeom prst="line">
            <a:avLst/>
          </a:prstGeom>
          <a:ln>
            <a:solidFill>
              <a:srgbClr val="5C2A7F"/>
            </a:solidFill>
            <a:prstDash val="lg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连接符 27">
            <a:extLst>
              <a:ext uri="{FF2B5EF4-FFF2-40B4-BE49-F238E27FC236}">
                <a16:creationId xmlns:a16="http://schemas.microsoft.com/office/drawing/2014/main" id="{A5F1A1E2-E2A2-8419-3E6D-9F20E4AEBBFA}"/>
              </a:ext>
            </a:extLst>
          </p:cNvPr>
          <p:cNvCxnSpPr>
            <a:cxnSpLocks/>
          </p:cNvCxnSpPr>
          <p:nvPr/>
        </p:nvCxnSpPr>
        <p:spPr>
          <a:xfrm>
            <a:off x="7998835" y="2299557"/>
            <a:ext cx="768" cy="385608"/>
          </a:xfrm>
          <a:prstGeom prst="line">
            <a:avLst/>
          </a:prstGeom>
          <a:ln>
            <a:solidFill>
              <a:srgbClr val="5C2A7F"/>
            </a:solidFill>
            <a:prstDash val="lgDash"/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线连接符 29">
            <a:extLst>
              <a:ext uri="{FF2B5EF4-FFF2-40B4-BE49-F238E27FC236}">
                <a16:creationId xmlns:a16="http://schemas.microsoft.com/office/drawing/2014/main" id="{43D30238-233E-B397-6819-8CAE5E3A3125}"/>
              </a:ext>
            </a:extLst>
          </p:cNvPr>
          <p:cNvCxnSpPr>
            <a:cxnSpLocks/>
          </p:cNvCxnSpPr>
          <p:nvPr/>
        </p:nvCxnSpPr>
        <p:spPr>
          <a:xfrm>
            <a:off x="7993397" y="2299557"/>
            <a:ext cx="700713" cy="385608"/>
          </a:xfrm>
          <a:prstGeom prst="line">
            <a:avLst/>
          </a:prstGeom>
          <a:ln>
            <a:solidFill>
              <a:srgbClr val="5C2A7F"/>
            </a:solidFill>
            <a:prstDash val="lgDash"/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: 圆角 116">
            <a:extLst>
              <a:ext uri="{FF2B5EF4-FFF2-40B4-BE49-F238E27FC236}">
                <a16:creationId xmlns:a16="http://schemas.microsoft.com/office/drawing/2014/main" id="{D5F44B1A-24AA-FD07-2D11-6AA943854BBB}"/>
              </a:ext>
            </a:extLst>
          </p:cNvPr>
          <p:cNvSpPr/>
          <p:nvPr/>
        </p:nvSpPr>
        <p:spPr>
          <a:xfrm>
            <a:off x="9049078" y="1977426"/>
            <a:ext cx="1137490" cy="243476"/>
          </a:xfrm>
          <a:prstGeom prst="roundRect">
            <a:avLst>
              <a:gd name="adj" fmla="val 0"/>
            </a:avLst>
          </a:prstGeom>
          <a:solidFill>
            <a:srgbClr val="5C2A7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731520"/>
            <a:r>
              <a:rPr lang="zh-CN" altLang="en-US" sz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综合团队</a:t>
            </a:r>
          </a:p>
        </p:txBody>
      </p:sp>
      <p:cxnSp>
        <p:nvCxnSpPr>
          <p:cNvPr id="35" name="直线连接符 34">
            <a:extLst>
              <a:ext uri="{FF2B5EF4-FFF2-40B4-BE49-F238E27FC236}">
                <a16:creationId xmlns:a16="http://schemas.microsoft.com/office/drawing/2014/main" id="{4B4BA891-773E-59E7-E5E7-819E9D90B19C}"/>
              </a:ext>
            </a:extLst>
          </p:cNvPr>
          <p:cNvCxnSpPr>
            <a:cxnSpLocks/>
          </p:cNvCxnSpPr>
          <p:nvPr/>
        </p:nvCxnSpPr>
        <p:spPr>
          <a:xfrm>
            <a:off x="9617823" y="1481570"/>
            <a:ext cx="0" cy="419636"/>
          </a:xfrm>
          <a:prstGeom prst="line">
            <a:avLst/>
          </a:prstGeom>
          <a:ln>
            <a:solidFill>
              <a:srgbClr val="5C2A7F"/>
            </a:solidFill>
            <a:prstDash val="lg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矩形: 圆角 116">
            <a:extLst>
              <a:ext uri="{FF2B5EF4-FFF2-40B4-BE49-F238E27FC236}">
                <a16:creationId xmlns:a16="http://schemas.microsoft.com/office/drawing/2014/main" id="{C7831597-DA66-092F-CDC6-4DBB9E9750C3}"/>
              </a:ext>
            </a:extLst>
          </p:cNvPr>
          <p:cNvSpPr/>
          <p:nvPr/>
        </p:nvSpPr>
        <p:spPr>
          <a:xfrm>
            <a:off x="10523455" y="1979820"/>
            <a:ext cx="1137490" cy="243476"/>
          </a:xfrm>
          <a:prstGeom prst="roundRect">
            <a:avLst>
              <a:gd name="adj" fmla="val 0"/>
            </a:avLst>
          </a:prstGeom>
          <a:solidFill>
            <a:srgbClr val="5C2A7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731520"/>
            <a:r>
              <a:rPr lang="zh-CN" altLang="en-US" sz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法诉团队</a:t>
            </a:r>
          </a:p>
        </p:txBody>
      </p:sp>
      <p:cxnSp>
        <p:nvCxnSpPr>
          <p:cNvPr id="46" name="直线连接符 45">
            <a:extLst>
              <a:ext uri="{FF2B5EF4-FFF2-40B4-BE49-F238E27FC236}">
                <a16:creationId xmlns:a16="http://schemas.microsoft.com/office/drawing/2014/main" id="{13843EDE-7140-9A03-5A60-5296589BEE5D}"/>
              </a:ext>
            </a:extLst>
          </p:cNvPr>
          <p:cNvCxnSpPr>
            <a:cxnSpLocks/>
          </p:cNvCxnSpPr>
          <p:nvPr/>
        </p:nvCxnSpPr>
        <p:spPr>
          <a:xfrm>
            <a:off x="9614590" y="1481570"/>
            <a:ext cx="1469416" cy="428436"/>
          </a:xfrm>
          <a:prstGeom prst="line">
            <a:avLst/>
          </a:prstGeom>
          <a:ln>
            <a:solidFill>
              <a:srgbClr val="5C2A7F"/>
            </a:solidFill>
            <a:prstDash val="lg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278FCE16-B590-6EBA-8E4D-F4AA253DC187}"/>
              </a:ext>
            </a:extLst>
          </p:cNvPr>
          <p:cNvSpPr txBox="1"/>
          <p:nvPr/>
        </p:nvSpPr>
        <p:spPr>
          <a:xfrm>
            <a:off x="957725" y="1625893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2800" b="1" dirty="0">
                <a:solidFill>
                  <a:srgbClr val="5C2A7F"/>
                </a:solidFill>
              </a:rPr>
              <a:t>之前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8EE1DDE-5FDE-5DFF-1C7A-CF62B8746A21}"/>
              </a:ext>
            </a:extLst>
          </p:cNvPr>
          <p:cNvSpPr txBox="1"/>
          <p:nvPr/>
        </p:nvSpPr>
        <p:spPr>
          <a:xfrm>
            <a:off x="4204173" y="1664816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rgbClr val="5C2A7F"/>
                </a:solidFill>
              </a:rPr>
              <a:t>VS</a:t>
            </a:r>
            <a:endParaRPr kumimoji="1" lang="zh-CN" altLang="en-US" b="1" dirty="0">
              <a:solidFill>
                <a:srgbClr val="5C2A7F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645E347-7113-F42B-4571-22D20163FAAF}"/>
              </a:ext>
            </a:extLst>
          </p:cNvPr>
          <p:cNvSpPr txBox="1"/>
          <p:nvPr/>
        </p:nvSpPr>
        <p:spPr>
          <a:xfrm>
            <a:off x="957725" y="3770681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2800" b="1" dirty="0">
                <a:solidFill>
                  <a:srgbClr val="5C2A7F"/>
                </a:solidFill>
              </a:rPr>
              <a:t>现在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E17849A-4E6B-657C-2E63-C362EA226319}"/>
              </a:ext>
            </a:extLst>
          </p:cNvPr>
          <p:cNvSpPr txBox="1"/>
          <p:nvPr/>
        </p:nvSpPr>
        <p:spPr>
          <a:xfrm>
            <a:off x="957725" y="5467513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2800" b="1" dirty="0">
                <a:solidFill>
                  <a:srgbClr val="5C2A7F"/>
                </a:solidFill>
              </a:rPr>
              <a:t>将来</a:t>
            </a:r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3268B65E-532D-5F76-EBEC-8181735C49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9101" y="3245685"/>
            <a:ext cx="1555018" cy="1555018"/>
          </a:xfrm>
          <a:prstGeom prst="rect">
            <a:avLst/>
          </a:prstGeom>
        </p:spPr>
      </p:pic>
      <p:pic>
        <p:nvPicPr>
          <p:cNvPr id="53" name="图片 52">
            <a:extLst>
              <a:ext uri="{FF2B5EF4-FFF2-40B4-BE49-F238E27FC236}">
                <a16:creationId xmlns:a16="http://schemas.microsoft.com/office/drawing/2014/main" id="{16636228-BFCF-5739-9884-F03DEBEEE3C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0084" y="2622104"/>
            <a:ext cx="2572815" cy="2572815"/>
          </a:xfrm>
          <a:prstGeom prst="rect">
            <a:avLst/>
          </a:prstGeom>
        </p:spPr>
      </p:pic>
      <p:sp>
        <p:nvSpPr>
          <p:cNvPr id="55" name="文本框 54">
            <a:extLst>
              <a:ext uri="{FF2B5EF4-FFF2-40B4-BE49-F238E27FC236}">
                <a16:creationId xmlns:a16="http://schemas.microsoft.com/office/drawing/2014/main" id="{C4D4C100-5C90-2376-BB42-0DA700A1C222}"/>
              </a:ext>
            </a:extLst>
          </p:cNvPr>
          <p:cNvSpPr txBox="1"/>
          <p:nvPr/>
        </p:nvSpPr>
        <p:spPr>
          <a:xfrm>
            <a:off x="4450394" y="3875998"/>
            <a:ext cx="13260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solidFill>
                  <a:srgbClr val="5C2A7F"/>
                </a:solidFill>
              </a:rPr>
              <a:t>互为</a:t>
            </a:r>
            <a:r>
              <a:rPr kumimoji="1" lang="en-US" altLang="zh-CN" sz="2000" b="1" dirty="0">
                <a:solidFill>
                  <a:srgbClr val="5C2A7F"/>
                </a:solidFill>
              </a:rPr>
              <a:t>AB</a:t>
            </a:r>
            <a:r>
              <a:rPr kumimoji="1" lang="zh-CN" altLang="en-US" sz="2000" b="1" dirty="0">
                <a:solidFill>
                  <a:srgbClr val="5C2A7F"/>
                </a:solidFill>
              </a:rPr>
              <a:t>岗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596EB1DD-2B70-9C5C-748F-84F255EF6676}"/>
              </a:ext>
            </a:extLst>
          </p:cNvPr>
          <p:cNvSpPr txBox="1"/>
          <p:nvPr/>
        </p:nvSpPr>
        <p:spPr>
          <a:xfrm>
            <a:off x="9559730" y="3875998"/>
            <a:ext cx="11993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solidFill>
                  <a:srgbClr val="5C2A7F"/>
                </a:solidFill>
              </a:rPr>
              <a:t>交叉稽核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8E0A11D4-EE8B-6888-22B7-9A8C38F5B158}"/>
              </a:ext>
            </a:extLst>
          </p:cNvPr>
          <p:cNvSpPr txBox="1"/>
          <p:nvPr/>
        </p:nvSpPr>
        <p:spPr>
          <a:xfrm>
            <a:off x="3055587" y="5805294"/>
            <a:ext cx="15953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rgbClr val="5C2A7F"/>
                </a:solidFill>
              </a:rPr>
              <a:t>审批、营销、催收联动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98BE4BBF-C8E5-CD50-BAE5-0286124AAB54}"/>
              </a:ext>
            </a:extLst>
          </p:cNvPr>
          <p:cNvSpPr txBox="1"/>
          <p:nvPr/>
        </p:nvSpPr>
        <p:spPr>
          <a:xfrm>
            <a:off x="3036351" y="6108535"/>
            <a:ext cx="1454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rgbClr val="5C2A7F"/>
                </a:solidFill>
              </a:rPr>
              <a:t>供应商外包管理体系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ABFC505C-9650-9ACD-A9B3-7296566580B9}"/>
              </a:ext>
            </a:extLst>
          </p:cNvPr>
          <p:cNvSpPr txBox="1"/>
          <p:nvPr/>
        </p:nvSpPr>
        <p:spPr>
          <a:xfrm>
            <a:off x="3288244" y="5502052"/>
            <a:ext cx="7136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100" dirty="0">
                <a:solidFill>
                  <a:srgbClr val="5C2A7F"/>
                </a:solidFill>
              </a:rPr>
              <a:t>AI</a:t>
            </a:r>
            <a:r>
              <a:rPr kumimoji="1" lang="zh-CN" altLang="en-US" sz="1100" dirty="0">
                <a:solidFill>
                  <a:srgbClr val="5C2A7F"/>
                </a:solidFill>
              </a:rPr>
              <a:t>催收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D5AADA8C-7139-3F33-2771-CB407C0E2BE0}"/>
              </a:ext>
            </a:extLst>
          </p:cNvPr>
          <p:cNvSpPr txBox="1"/>
          <p:nvPr/>
        </p:nvSpPr>
        <p:spPr>
          <a:xfrm>
            <a:off x="4477327" y="6104474"/>
            <a:ext cx="17363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rgbClr val="5C2A7F"/>
                </a:solidFill>
              </a:rPr>
              <a:t>催收工具包的拓展和运用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EDC1DDF4-2C38-51D2-2E77-66C1CB5B15D6}"/>
              </a:ext>
            </a:extLst>
          </p:cNvPr>
          <p:cNvSpPr txBox="1"/>
          <p:nvPr/>
        </p:nvSpPr>
        <p:spPr>
          <a:xfrm>
            <a:off x="4734770" y="5502052"/>
            <a:ext cx="13131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rgbClr val="5C2A7F"/>
                </a:solidFill>
              </a:rPr>
              <a:t>催收系统迭代优化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8D437C29-2D59-A3F3-4B33-5C7A9FF4B39C}"/>
              </a:ext>
            </a:extLst>
          </p:cNvPr>
          <p:cNvSpPr txBox="1"/>
          <p:nvPr/>
        </p:nvSpPr>
        <p:spPr>
          <a:xfrm>
            <a:off x="4759456" y="5805294"/>
            <a:ext cx="117211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rgbClr val="5C2A7F"/>
                </a:solidFill>
              </a:rPr>
              <a:t>客户分层的应用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E125B7A2-4C74-1B53-8334-32548ACAE7F2}"/>
              </a:ext>
            </a:extLst>
          </p:cNvPr>
          <p:cNvSpPr txBox="1"/>
          <p:nvPr/>
        </p:nvSpPr>
        <p:spPr>
          <a:xfrm>
            <a:off x="3291156" y="5042110"/>
            <a:ext cx="2159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b="1" dirty="0">
                <a:solidFill>
                  <a:srgbClr val="5C2A7F"/>
                </a:solidFill>
              </a:rPr>
              <a:t>每人深耕</a:t>
            </a:r>
            <a:r>
              <a:rPr kumimoji="1" lang="en-US" altLang="zh-CN" b="1" dirty="0">
                <a:solidFill>
                  <a:srgbClr val="5C2A7F"/>
                </a:solidFill>
              </a:rPr>
              <a:t>2</a:t>
            </a:r>
            <a:r>
              <a:rPr kumimoji="1" lang="zh-CN" altLang="en-US" b="1" dirty="0">
                <a:solidFill>
                  <a:srgbClr val="5C2A7F"/>
                </a:solidFill>
              </a:rPr>
              <a:t>个大项目</a:t>
            </a:r>
            <a:endParaRPr kumimoji="1" lang="en-US" altLang="zh-CN" b="1" dirty="0">
              <a:solidFill>
                <a:srgbClr val="5C2A7F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C54922D-1310-BF86-B994-2DFA2C439186}"/>
              </a:ext>
            </a:extLst>
          </p:cNvPr>
          <p:cNvSpPr txBox="1"/>
          <p:nvPr/>
        </p:nvSpPr>
        <p:spPr>
          <a:xfrm>
            <a:off x="8418112" y="5502052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b="1" dirty="0">
                <a:solidFill>
                  <a:srgbClr val="5C2A7F"/>
                </a:solidFill>
              </a:rPr>
              <a:t>部门内轮转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416E731-0664-C885-C2D7-ED490CD3FE8F}"/>
              </a:ext>
            </a:extLst>
          </p:cNvPr>
          <p:cNvSpPr txBox="1"/>
          <p:nvPr/>
        </p:nvSpPr>
        <p:spPr>
          <a:xfrm>
            <a:off x="8418112" y="5914798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b="1" dirty="0">
                <a:solidFill>
                  <a:srgbClr val="5C2A7F"/>
                </a:solidFill>
              </a:rPr>
              <a:t>部门间轮岗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B8E5FF4-8869-13F2-FD7B-5D2C5D15816F}"/>
              </a:ext>
            </a:extLst>
          </p:cNvPr>
          <p:cNvSpPr txBox="1"/>
          <p:nvPr/>
        </p:nvSpPr>
        <p:spPr>
          <a:xfrm>
            <a:off x="7416302" y="5014945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b="1" dirty="0">
                <a:solidFill>
                  <a:srgbClr val="5C2A7F"/>
                </a:solidFill>
              </a:rPr>
              <a:t>岗位轮转，培养复合型人才</a:t>
            </a:r>
            <a:endParaRPr kumimoji="1" lang="en-US" altLang="zh-CN" b="1" dirty="0">
              <a:solidFill>
                <a:srgbClr val="5C2A7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52891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AA29A-0B27-5FCC-5E09-C29802217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AutoShape 3">
            <a:extLst>
              <a:ext uri="{FF2B5EF4-FFF2-40B4-BE49-F238E27FC236}">
                <a16:creationId xmlns:a16="http://schemas.microsoft.com/office/drawing/2014/main" id="{B290BE8E-2FB2-8DF8-E79D-E2CE26C78851}"/>
              </a:ext>
            </a:extLst>
          </p:cNvPr>
          <p:cNvSpPr/>
          <p:nvPr/>
        </p:nvSpPr>
        <p:spPr>
          <a:xfrm>
            <a:off x="0" y="29464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 dirty="0">
                <a:solidFill>
                  <a:srgbClr val="5C2A7F"/>
                </a:solidFill>
                <a:latin typeface="Noto Sans SC"/>
                <a:ea typeface="Noto Sans SC"/>
                <a:cs typeface="Noto Sans SC"/>
                <a:sym typeface="Noto Sans SC"/>
              </a:rPr>
              <a:t>守风险，创利润，援前线！</a:t>
            </a:r>
            <a:endParaRPr lang="en-US" sz="1100" dirty="0">
              <a:solidFill>
                <a:srgbClr val="5C2A7F"/>
              </a:solidFill>
            </a:endParaRPr>
          </a:p>
        </p:txBody>
      </p:sp>
      <p:sp>
        <p:nvSpPr>
          <p:cNvPr id="27" name="Rectangle 6">
            <a:extLst>
              <a:ext uri="{FF2B5EF4-FFF2-40B4-BE49-F238E27FC236}">
                <a16:creationId xmlns:a16="http://schemas.microsoft.com/office/drawing/2014/main" id="{052AF4BD-DD6C-27FC-8DAB-7F5BF3A2B8BA}"/>
              </a:ext>
            </a:extLst>
          </p:cNvPr>
          <p:cNvSpPr txBox="1">
            <a:spLocks/>
          </p:cNvSpPr>
          <p:nvPr/>
        </p:nvSpPr>
        <p:spPr>
          <a:xfrm>
            <a:off x="442911" y="200959"/>
            <a:ext cx="7765421" cy="598487"/>
          </a:xfrm>
          <a:prstGeom prst="rect">
            <a:avLst/>
          </a:prstGeom>
          <a:noFill/>
          <a:ln w="12700">
            <a:noFill/>
            <a:miter/>
          </a:ln>
        </p:spPr>
        <p:txBody>
          <a:bodyPr vert="horz" wrap="square" lIns="45720" tIns="45720" rIns="45720" bIns="45720" anchor="ctr" anchorCtr="0"/>
          <a:lstStyle>
            <a:lvl1pPr marL="0" lvl="0" indent="0" algn="l" defTabSz="91440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zh-CN" sz="4400" b="0" i="0" u="none" baseline="0">
                <a:solidFill>
                  <a:srgbClr val="000000"/>
                </a:solidFill>
                <a:latin typeface="Arial"/>
                <a:ea typeface="Arial"/>
              </a:defRPr>
            </a:lvl1pPr>
            <a:lvl2pPr lvl="1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2pPr>
            <a:lvl3pPr lvl="2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3pPr>
            <a:lvl4pPr lvl="3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4pPr>
            <a:lvl5pPr lvl="4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5pPr>
            <a:lvl6pPr marL="457200" lvl="5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6pPr>
            <a:lvl7pPr marL="914400" lvl="6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7pPr>
            <a:lvl8pPr marL="1371600" lvl="7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8pPr>
            <a:lvl9pPr marL="1828800" lvl="8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9pPr>
          </a:lstStyle>
          <a:p>
            <a:r>
              <a:rPr lang="zh-CN" altLang="en-US" sz="2800" dirty="0">
                <a:solidFill>
                  <a:srgbClr val="6931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我们的价值与使命</a:t>
            </a:r>
          </a:p>
        </p:txBody>
      </p:sp>
    </p:spTree>
    <p:extLst>
      <p:ext uri="{BB962C8B-B14F-4D97-AF65-F5344CB8AC3E}">
        <p14:creationId xmlns:p14="http://schemas.microsoft.com/office/powerpoint/2010/main" val="35215254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/>
          </p:cNvSpPr>
          <p:nvPr>
            <p:ph type="title" idx="4294967295"/>
          </p:nvPr>
        </p:nvSpPr>
        <p:spPr>
          <a:xfrm>
            <a:off x="3882044" y="1892954"/>
            <a:ext cx="4078287" cy="995362"/>
          </a:xfrm>
          <a:prstGeom prst="rect">
            <a:avLst/>
          </a:prstGeom>
          <a:noFill/>
          <a:ln w="12700">
            <a:miter/>
          </a:ln>
        </p:spPr>
        <p:txBody>
          <a:bodyPr vert="horz" wrap="square" lIns="45720" tIns="45720" rIns="45720" bIns="45720" anchor="t" anchorCtr="0"/>
          <a:lstStyle>
            <a:lvl1pPr marL="0" lvl="0" indent="0" algn="l" defTabSz="91440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zh-CN" sz="4400" b="0" i="0" u="none" baseline="0">
                <a:solidFill>
                  <a:srgbClr val="000000"/>
                </a:solidFill>
                <a:latin typeface="Arial"/>
                <a:ea typeface="Arial"/>
              </a:defRPr>
            </a:lvl1pPr>
            <a:lvl2pPr lvl="1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2pPr>
            <a:lvl3pPr lvl="2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3pPr>
            <a:lvl4pPr lvl="3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4pPr>
            <a:lvl5pPr lvl="4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5pPr>
            <a:lvl6pPr marL="457200" lvl="5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6pPr>
            <a:lvl7pPr marL="914400" lvl="6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7pPr>
            <a:lvl8pPr marL="1371600" lvl="7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8pPr>
            <a:lvl9pPr marL="1828800" lvl="8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sz="4400">
                <a:solidFill>
                  <a:srgbClr val="000000"/>
                </a:solidFill>
                <a:latin typeface="Arial"/>
              </a:defRPr>
            </a:lvl9pPr>
          </a:lstStyle>
          <a:p>
            <a:pPr marL="0" lvl="0" indent="0" algn="ctr" defTabSz="876300"/>
            <a:r>
              <a:rPr lang="zh-CN" altLang="en-US" sz="6000" b="1" dirty="0">
                <a:solidFill>
                  <a:srgbClr val="FFFFFF"/>
                </a:solidFill>
                <a:latin typeface="微软雅黑"/>
                <a:ea typeface="微软雅黑"/>
              </a:rPr>
              <a:t>汇报结束</a:t>
            </a:r>
            <a:endParaRPr lang="zh-CN" sz="6000" b="1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pic>
        <p:nvPicPr>
          <p:cNvPr id="2" name="图片 1" descr="文本&#10;&#10;描述已自动生成">
            <a:extLst>
              <a:ext uri="{FF2B5EF4-FFF2-40B4-BE49-F238E27FC236}">
                <a16:creationId xmlns:a16="http://schemas.microsoft.com/office/drawing/2014/main" id="{23238ECA-44EF-5DE9-E34B-4CF7D3F4DD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027" y="5611161"/>
            <a:ext cx="2460361" cy="886689"/>
          </a:xfrm>
          <a:prstGeom prst="rect">
            <a:avLst/>
          </a:prstGeom>
        </p:spPr>
      </p:pic>
      <p:sp>
        <p:nvSpPr>
          <p:cNvPr id="5" name="Rectangle 6">
            <a:extLst>
              <a:ext uri="{FF2B5EF4-FFF2-40B4-BE49-F238E27FC236}">
                <a16:creationId xmlns:a16="http://schemas.microsoft.com/office/drawing/2014/main" id="{FD9B9F65-C444-4B35-A848-15C8CF04754D}"/>
              </a:ext>
            </a:extLst>
          </p:cNvPr>
          <p:cNvSpPr/>
          <p:nvPr/>
        </p:nvSpPr>
        <p:spPr>
          <a:xfrm>
            <a:off x="10172533" y="5761611"/>
            <a:ext cx="1756049" cy="585787"/>
          </a:xfrm>
          <a:prstGeom prst="rect">
            <a:avLst/>
          </a:prstGeom>
          <a:noFill/>
          <a:ln>
            <a:noFill/>
          </a:ln>
        </p:spPr>
        <p:txBody>
          <a:bodyPr lIns="92075" tIns="46038" rIns="92075" bIns="46038" anchor="ctr" anchorCtr="0"/>
          <a:lstStyle>
            <a:lvl1pPr marL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zh-CN" sz="1800" b="0" i="0" u="none" baseline="0">
                <a:solidFill>
                  <a:srgbClr val="000000"/>
                </a:solidFill>
                <a:latin typeface="Arial"/>
                <a:ea typeface="Arial"/>
              </a:defRPr>
            </a:lvl1pPr>
            <a:lvl2pPr marL="457200" lvl="1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zh-CN" sz="1800" b="0" i="0" u="none" baseline="0">
                <a:solidFill>
                  <a:srgbClr val="000000"/>
                </a:solidFill>
                <a:latin typeface="Arial"/>
                <a:ea typeface="Arial"/>
              </a:defRPr>
            </a:lvl2pPr>
            <a:lvl3pPr marL="914400" lvl="2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zh-CN" sz="1800" b="0" i="0" u="none" baseline="0">
                <a:solidFill>
                  <a:srgbClr val="000000"/>
                </a:solidFill>
                <a:latin typeface="Arial"/>
                <a:ea typeface="Arial"/>
              </a:defRPr>
            </a:lvl3pPr>
            <a:lvl4pPr marL="1371600" lvl="3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zh-CN" sz="1800" b="0" i="0" u="none" baseline="0">
                <a:solidFill>
                  <a:srgbClr val="000000"/>
                </a:solidFill>
                <a:latin typeface="Arial"/>
                <a:ea typeface="Arial"/>
              </a:defRPr>
            </a:lvl4pPr>
            <a:lvl5pPr marL="1828800" lvl="4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zh-CN" sz="1800" b="0" i="0" u="none" baseline="0">
                <a:solidFill>
                  <a:srgbClr val="000000"/>
                </a:solidFill>
                <a:latin typeface="Arial"/>
                <a:ea typeface="Arial"/>
              </a:defRPr>
            </a:lvl5pPr>
          </a:lstStyle>
          <a:p>
            <a:pPr marL="0" lvl="0" indent="0">
              <a:spcBef>
                <a:spcPts val="1200"/>
              </a:spcBef>
            </a:pPr>
            <a:r>
              <a:rPr lang="en-US" altLang="zh-CN" sz="2000" b="1" dirty="0">
                <a:latin typeface="+mn-ea"/>
                <a:ea typeface="+mn-ea"/>
              </a:rPr>
              <a:t>2023</a:t>
            </a:r>
            <a:r>
              <a:rPr lang="zh-CN" altLang="en-US" sz="2000" b="1" dirty="0">
                <a:latin typeface="+mn-ea"/>
                <a:ea typeface="+mn-ea"/>
              </a:rPr>
              <a:t>年</a:t>
            </a:r>
            <a:r>
              <a:rPr lang="en-US" altLang="zh-CN" sz="2000" b="1" dirty="0">
                <a:latin typeface="+mn-ea"/>
                <a:ea typeface="+mn-ea"/>
              </a:rPr>
              <a:t>X</a:t>
            </a:r>
            <a:r>
              <a:rPr lang="zh-CN" altLang="en-US" sz="2000" b="1" dirty="0">
                <a:latin typeface="+mn-ea"/>
                <a:ea typeface="+mn-ea"/>
              </a:rPr>
              <a:t>月</a:t>
            </a:r>
            <a:endParaRPr lang="zh-CN" sz="2000" b="1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000FF"/>
      </a:hlink>
      <a:folHlink>
        <a:srgbClr val="FF00FF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9840</TotalTime>
  <Words>3345</Words>
  <Application>Microsoft Macintosh PowerPoint</Application>
  <PresentationFormat>宽屏</PresentationFormat>
  <Paragraphs>1940</Paragraphs>
  <Slides>15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8" baseType="lpstr">
      <vt:lpstr>黑体</vt:lpstr>
      <vt:lpstr>宋体</vt:lpstr>
      <vt:lpstr>微软雅黑</vt:lpstr>
      <vt:lpstr>微软雅黑</vt:lpstr>
      <vt:lpstr>FZYaYiHei GB18030L2 R</vt:lpstr>
      <vt:lpstr>Noto Sans SC</vt:lpstr>
      <vt:lpstr>OPPOSans B</vt:lpstr>
      <vt:lpstr>OPPOSans H</vt:lpstr>
      <vt:lpstr>OPPOSans L</vt:lpstr>
      <vt:lpstr>OPPOSans M</vt:lpstr>
      <vt:lpstr>Arial</vt:lpstr>
      <vt:lpstr>Calibri</vt:lpstr>
      <vt:lpstr>Office 主题​​</vt:lpstr>
      <vt:lpstr>东正汽车金融催收业务工作汇报</vt:lpstr>
      <vt:lpstr>PowerPoint 演示文稿</vt:lpstr>
      <vt:lpstr>不良率的压降——从1.7%到0.9%</vt:lpstr>
      <vt:lpstr>东正催收的历史演变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汇报结束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东正金融月度工作汇报</dc:title>
  <dc:creator>Administrator</dc:creator>
  <cp:lastModifiedBy>Alan Li</cp:lastModifiedBy>
  <cp:revision>78</cp:revision>
  <cp:lastPrinted>2023-01-20T03:31:09Z</cp:lastPrinted>
  <dcterms:modified xsi:type="dcterms:W3CDTF">2026-06-09T08:29:04Z</dcterms:modified>
</cp:coreProperties>
</file>